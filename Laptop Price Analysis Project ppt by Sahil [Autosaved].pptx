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315" r:id="rId8"/>
    <p:sldId id="316" r:id="rId9"/>
    <p:sldId id="262" r:id="rId10"/>
    <p:sldId id="263" r:id="rId11"/>
    <p:sldId id="268" r:id="rId12"/>
    <p:sldId id="269" r:id="rId13"/>
    <p:sldId id="270" r:id="rId14"/>
    <p:sldId id="271" r:id="rId15"/>
    <p:sldId id="282" r:id="rId16"/>
    <p:sldId id="281" r:id="rId17"/>
    <p:sldId id="274" r:id="rId18"/>
    <p:sldId id="275" r:id="rId19"/>
    <p:sldId id="276" r:id="rId20"/>
    <p:sldId id="277" r:id="rId21"/>
    <p:sldId id="278" r:id="rId22"/>
    <p:sldId id="279" r:id="rId23"/>
    <p:sldId id="306" r:id="rId24"/>
    <p:sldId id="307" r:id="rId25"/>
    <p:sldId id="283"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5" r:id="rId45"/>
    <p:sldId id="304" r:id="rId46"/>
    <p:sldId id="310" r:id="rId47"/>
    <p:sldId id="311" r:id="rId48"/>
    <p:sldId id="312" r:id="rId49"/>
    <p:sldId id="313" r:id="rId50"/>
    <p:sldId id="314"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60"/>
  </p:normalViewPr>
  <p:slideViewPr>
    <p:cSldViewPr snapToGrid="0">
      <p:cViewPr varScale="1">
        <p:scale>
          <a:sx n="59" d="100"/>
          <a:sy n="59" d="100"/>
        </p:scale>
        <p:origin x="96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1D7FEE-6AAD-42FB-BB59-3990BE8E72A0}"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70F656-8639-44B8-906B-76347D7053F5}" type="slidenum">
              <a:rPr lang="en-IN" smtClean="0"/>
              <a:t>‹#›</a:t>
            </a:fld>
            <a:endParaRPr lang="en-IN"/>
          </a:p>
        </p:txBody>
      </p:sp>
    </p:spTree>
    <p:extLst>
      <p:ext uri="{BB962C8B-B14F-4D97-AF65-F5344CB8AC3E}">
        <p14:creationId xmlns:p14="http://schemas.microsoft.com/office/powerpoint/2010/main" val="3499960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1D7FEE-6AAD-42FB-BB59-3990BE8E72A0}"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70F656-8639-44B8-906B-76347D7053F5}" type="slidenum">
              <a:rPr lang="en-IN" smtClean="0"/>
              <a:t>‹#›</a:t>
            </a:fld>
            <a:endParaRPr lang="en-IN"/>
          </a:p>
        </p:txBody>
      </p:sp>
    </p:spTree>
    <p:extLst>
      <p:ext uri="{BB962C8B-B14F-4D97-AF65-F5344CB8AC3E}">
        <p14:creationId xmlns:p14="http://schemas.microsoft.com/office/powerpoint/2010/main" val="422527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1D7FEE-6AAD-42FB-BB59-3990BE8E72A0}"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70F656-8639-44B8-906B-76347D7053F5}" type="slidenum">
              <a:rPr lang="en-IN" smtClean="0"/>
              <a:t>‹#›</a:t>
            </a:fld>
            <a:endParaRPr lang="en-IN"/>
          </a:p>
        </p:txBody>
      </p:sp>
    </p:spTree>
    <p:extLst>
      <p:ext uri="{BB962C8B-B14F-4D97-AF65-F5344CB8AC3E}">
        <p14:creationId xmlns:p14="http://schemas.microsoft.com/office/powerpoint/2010/main" val="3950287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1D7FEE-6AAD-42FB-BB59-3990BE8E72A0}" type="datetimeFigureOut">
              <a:rPr lang="en-IN" smtClean="0"/>
              <a:t>01-11-2025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70F656-8639-44B8-906B-76347D7053F5}" type="slidenum">
              <a:rPr lang="en-IN" smtClean="0"/>
              <a:t>‹#›</a:t>
            </a:fld>
            <a:endParaRPr lang="en-IN"/>
          </a:p>
        </p:txBody>
      </p:sp>
    </p:spTree>
    <p:extLst>
      <p:ext uri="{BB962C8B-B14F-4D97-AF65-F5344CB8AC3E}">
        <p14:creationId xmlns:p14="http://schemas.microsoft.com/office/powerpoint/2010/main" val="3881211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1D7FEE-6AAD-42FB-BB59-3990BE8E72A0}" type="datetimeFigureOut">
              <a:rPr lang="en-IN" smtClean="0"/>
              <a:t>01-11-2025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570F656-8639-44B8-906B-76347D7053F5}" type="slidenum">
              <a:rPr lang="en-IN" smtClean="0"/>
              <a:t>‹#›</a:t>
            </a:fld>
            <a:endParaRPr lang="en-IN"/>
          </a:p>
        </p:txBody>
      </p:sp>
    </p:spTree>
    <p:extLst>
      <p:ext uri="{BB962C8B-B14F-4D97-AF65-F5344CB8AC3E}">
        <p14:creationId xmlns:p14="http://schemas.microsoft.com/office/powerpoint/2010/main" val="4072482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1D7FEE-6AAD-42FB-BB59-3990BE8E72A0}" type="datetimeFigureOut">
              <a:rPr lang="en-IN" smtClean="0"/>
              <a:t>01-11-2025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570F656-8639-44B8-906B-76347D7053F5}" type="slidenum">
              <a:rPr lang="en-IN" smtClean="0"/>
              <a:t>‹#›</a:t>
            </a:fld>
            <a:endParaRPr lang="en-IN"/>
          </a:p>
        </p:txBody>
      </p:sp>
    </p:spTree>
    <p:extLst>
      <p:ext uri="{BB962C8B-B14F-4D97-AF65-F5344CB8AC3E}">
        <p14:creationId xmlns:p14="http://schemas.microsoft.com/office/powerpoint/2010/main" val="2081058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1D7FEE-6AAD-42FB-BB59-3990BE8E72A0}" type="datetimeFigureOut">
              <a:rPr lang="en-IN" smtClean="0"/>
              <a:t>01-11-2025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570F656-8639-44B8-906B-76347D7053F5}" type="slidenum">
              <a:rPr lang="en-IN" smtClean="0"/>
              <a:t>‹#›</a:t>
            </a:fld>
            <a:endParaRPr lang="en-IN"/>
          </a:p>
        </p:txBody>
      </p:sp>
    </p:spTree>
    <p:extLst>
      <p:ext uri="{BB962C8B-B14F-4D97-AF65-F5344CB8AC3E}">
        <p14:creationId xmlns:p14="http://schemas.microsoft.com/office/powerpoint/2010/main" val="1132562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1D7FEE-6AAD-42FB-BB59-3990BE8E72A0}" type="datetimeFigureOut">
              <a:rPr lang="en-IN" smtClean="0"/>
              <a:t>01-11-2025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70F656-8639-44B8-906B-76347D7053F5}" type="slidenum">
              <a:rPr lang="en-IN" smtClean="0"/>
              <a:t>‹#›</a:t>
            </a:fld>
            <a:endParaRPr lang="en-IN"/>
          </a:p>
        </p:txBody>
      </p:sp>
    </p:spTree>
    <p:extLst>
      <p:ext uri="{BB962C8B-B14F-4D97-AF65-F5344CB8AC3E}">
        <p14:creationId xmlns:p14="http://schemas.microsoft.com/office/powerpoint/2010/main" val="3754168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1D7FEE-6AAD-42FB-BB59-3990BE8E72A0}" type="datetimeFigureOut">
              <a:rPr lang="en-IN" smtClean="0"/>
              <a:t>01-11-2025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70F656-8639-44B8-906B-76347D7053F5}" type="slidenum">
              <a:rPr lang="en-IN" smtClean="0"/>
              <a:t>‹#›</a:t>
            </a:fld>
            <a:endParaRPr lang="en-IN"/>
          </a:p>
        </p:txBody>
      </p:sp>
    </p:spTree>
    <p:extLst>
      <p:ext uri="{BB962C8B-B14F-4D97-AF65-F5344CB8AC3E}">
        <p14:creationId xmlns:p14="http://schemas.microsoft.com/office/powerpoint/2010/main" val="2062690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1D7FEE-6AAD-42FB-BB59-3990BE8E72A0}"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70F656-8639-44B8-906B-76347D7053F5}" type="slidenum">
              <a:rPr lang="en-IN" smtClean="0"/>
              <a:t>‹#›</a:t>
            </a:fld>
            <a:endParaRPr lang="en-IN"/>
          </a:p>
        </p:txBody>
      </p:sp>
    </p:spTree>
    <p:extLst>
      <p:ext uri="{BB962C8B-B14F-4D97-AF65-F5344CB8AC3E}">
        <p14:creationId xmlns:p14="http://schemas.microsoft.com/office/powerpoint/2010/main" val="1256694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1D7FEE-6AAD-42FB-BB59-3990BE8E72A0}" type="datetimeFigureOut">
              <a:rPr lang="en-IN" smtClean="0"/>
              <a:t>01-11-2025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70F656-8639-44B8-906B-76347D7053F5}" type="slidenum">
              <a:rPr lang="en-IN" smtClean="0"/>
              <a:t>‹#›</a:t>
            </a:fld>
            <a:endParaRPr lang="en-IN"/>
          </a:p>
        </p:txBody>
      </p:sp>
    </p:spTree>
    <p:extLst>
      <p:ext uri="{BB962C8B-B14F-4D97-AF65-F5344CB8AC3E}">
        <p14:creationId xmlns:p14="http://schemas.microsoft.com/office/powerpoint/2010/main" val="190831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1D7FEE-6AAD-42FB-BB59-3990BE8E72A0}" type="datetimeFigureOut">
              <a:rPr lang="en-IN" smtClean="0"/>
              <a:t>01-11-2025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70F656-8639-44B8-906B-76347D7053F5}" type="slidenum">
              <a:rPr lang="en-IN" smtClean="0"/>
              <a:t>‹#›</a:t>
            </a:fld>
            <a:endParaRPr lang="en-IN"/>
          </a:p>
        </p:txBody>
      </p:sp>
    </p:spTree>
    <p:extLst>
      <p:ext uri="{BB962C8B-B14F-4D97-AF65-F5344CB8AC3E}">
        <p14:creationId xmlns:p14="http://schemas.microsoft.com/office/powerpoint/2010/main" val="374441877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B8F55-0A19-81B0-9854-D668F0BA937B}"/>
              </a:ext>
            </a:extLst>
          </p:cNvPr>
          <p:cNvSpPr>
            <a:spLocks noGrp="1"/>
          </p:cNvSpPr>
          <p:nvPr>
            <p:ph type="ctrTitle"/>
          </p:nvPr>
        </p:nvSpPr>
        <p:spPr>
          <a:xfrm>
            <a:off x="152400" y="783771"/>
            <a:ext cx="11800113" cy="1632858"/>
          </a:xfrm>
        </p:spPr>
        <p:txBody>
          <a:bodyPr>
            <a:normAutofit fontScale="90000"/>
          </a:bodyPr>
          <a:lstStyle/>
          <a:p>
            <a:r>
              <a:rPr lang="en-US" sz="7200" b="1" dirty="0">
                <a:solidFill>
                  <a:srgbClr val="00B050"/>
                </a:solidFill>
                <a:latin typeface="+mn-lt"/>
              </a:rPr>
              <a:t>Laptop Price Analysis</a:t>
            </a:r>
            <a:br>
              <a:rPr lang="en-US" sz="7200" b="1" dirty="0">
                <a:solidFill>
                  <a:srgbClr val="00B050"/>
                </a:solidFill>
                <a:latin typeface="+mn-lt"/>
              </a:rPr>
            </a:br>
            <a:r>
              <a:rPr lang="en-US" sz="7200" b="1" dirty="0">
                <a:solidFill>
                  <a:srgbClr val="00B050"/>
                </a:solidFill>
                <a:latin typeface="+mn-lt"/>
              </a:rPr>
              <a:t>Using Python</a:t>
            </a:r>
            <a:endParaRPr lang="en-IN" sz="7200" b="1" dirty="0">
              <a:solidFill>
                <a:srgbClr val="00B050"/>
              </a:solidFill>
              <a:latin typeface="+mn-lt"/>
            </a:endParaRPr>
          </a:p>
        </p:txBody>
      </p:sp>
      <p:sp>
        <p:nvSpPr>
          <p:cNvPr id="3" name="Subtitle 2">
            <a:extLst>
              <a:ext uri="{FF2B5EF4-FFF2-40B4-BE49-F238E27FC236}">
                <a16:creationId xmlns:a16="http://schemas.microsoft.com/office/drawing/2014/main" id="{D6AAD59D-DDE7-AF4F-610F-AEAC23D39B80}"/>
              </a:ext>
            </a:extLst>
          </p:cNvPr>
          <p:cNvSpPr>
            <a:spLocks noGrp="1"/>
          </p:cNvSpPr>
          <p:nvPr>
            <p:ph type="subTitle" idx="1"/>
          </p:nvPr>
        </p:nvSpPr>
        <p:spPr>
          <a:xfrm>
            <a:off x="7151914" y="3406096"/>
            <a:ext cx="4343399" cy="1436914"/>
          </a:xfrm>
        </p:spPr>
        <p:txBody>
          <a:bodyPr>
            <a:normAutofit/>
          </a:bodyPr>
          <a:lstStyle/>
          <a:p>
            <a:r>
              <a:rPr lang="en-US" sz="6000" b="1" dirty="0">
                <a:solidFill>
                  <a:srgbClr val="00B050"/>
                </a:solidFill>
              </a:rPr>
              <a:t>By Sahil</a:t>
            </a:r>
            <a:endParaRPr lang="en-IN" sz="6000" b="1" dirty="0">
              <a:solidFill>
                <a:srgbClr val="00B050"/>
              </a:solidFill>
            </a:endParaRPr>
          </a:p>
        </p:txBody>
      </p:sp>
    </p:spTree>
    <p:extLst>
      <p:ext uri="{BB962C8B-B14F-4D97-AF65-F5344CB8AC3E}">
        <p14:creationId xmlns:p14="http://schemas.microsoft.com/office/powerpoint/2010/main" val="502630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8BD6B-1D2C-EE0B-040F-B67881210074}"/>
              </a:ext>
            </a:extLst>
          </p:cNvPr>
          <p:cNvSpPr>
            <a:spLocks noGrp="1"/>
          </p:cNvSpPr>
          <p:nvPr>
            <p:ph type="title"/>
          </p:nvPr>
        </p:nvSpPr>
        <p:spPr>
          <a:xfrm>
            <a:off x="620486" y="365126"/>
            <a:ext cx="10733314" cy="854074"/>
          </a:xfrm>
        </p:spPr>
        <p:txBody>
          <a:bodyPr/>
          <a:lstStyle/>
          <a:p>
            <a:r>
              <a:rPr lang="en-US" b="1" dirty="0">
                <a:solidFill>
                  <a:srgbClr val="00B050"/>
                </a:solidFill>
                <a:latin typeface="+mn-lt"/>
              </a:rPr>
              <a:t>Introduction :</a:t>
            </a:r>
            <a:endParaRPr lang="en-IN" b="1" dirty="0">
              <a:solidFill>
                <a:srgbClr val="00B050"/>
              </a:solidFill>
              <a:latin typeface="+mn-lt"/>
            </a:endParaRPr>
          </a:p>
        </p:txBody>
      </p:sp>
      <p:sp>
        <p:nvSpPr>
          <p:cNvPr id="3" name="Content Placeholder 2">
            <a:extLst>
              <a:ext uri="{FF2B5EF4-FFF2-40B4-BE49-F238E27FC236}">
                <a16:creationId xmlns:a16="http://schemas.microsoft.com/office/drawing/2014/main" id="{951DC742-84D5-0502-8925-CFD65DE021BB}"/>
              </a:ext>
            </a:extLst>
          </p:cNvPr>
          <p:cNvSpPr>
            <a:spLocks noGrp="1"/>
          </p:cNvSpPr>
          <p:nvPr>
            <p:ph idx="1"/>
          </p:nvPr>
        </p:nvSpPr>
        <p:spPr>
          <a:xfrm>
            <a:off x="402771" y="1796143"/>
            <a:ext cx="11266715" cy="4811486"/>
          </a:xfrm>
        </p:spPr>
        <p:txBody>
          <a:bodyPr>
            <a:normAutofit lnSpcReduction="10000"/>
          </a:bodyPr>
          <a:lstStyle/>
          <a:p>
            <a:r>
              <a:rPr lang="en-US" dirty="0">
                <a:solidFill>
                  <a:srgbClr val="00B0F0"/>
                </a:solidFill>
                <a:latin typeface="Comic Sans MS" panose="030F0702030302020204" pitchFamily="66" charset="0"/>
              </a:rPr>
              <a:t>This dataset contains detailed specifications of various laptop models from different companies, including hardware and software configurations such as screen size, RAM, storage types, operating system, processor details, graphics units, and more. </a:t>
            </a:r>
          </a:p>
          <a:p>
            <a:endParaRPr lang="en-US" dirty="0">
              <a:solidFill>
                <a:srgbClr val="00B0F0"/>
              </a:solidFill>
              <a:latin typeface="Comic Sans MS" panose="030F0702030302020204" pitchFamily="66" charset="0"/>
            </a:endParaRPr>
          </a:p>
          <a:p>
            <a:r>
              <a:rPr lang="en-US" dirty="0">
                <a:solidFill>
                  <a:srgbClr val="00B0F0"/>
                </a:solidFill>
                <a:latin typeface="Comic Sans MS" panose="030F0702030302020204" pitchFamily="66" charset="0"/>
              </a:rPr>
              <a:t>Each laptop entry is associated with its price in euros, making it ideal for analyzing how different features influence pricing. </a:t>
            </a:r>
          </a:p>
          <a:p>
            <a:endParaRPr lang="en-US" dirty="0">
              <a:solidFill>
                <a:srgbClr val="00B0F0"/>
              </a:solidFill>
              <a:latin typeface="Comic Sans MS" panose="030F0702030302020204" pitchFamily="66" charset="0"/>
            </a:endParaRPr>
          </a:p>
          <a:p>
            <a:r>
              <a:rPr lang="en-US" dirty="0">
                <a:solidFill>
                  <a:srgbClr val="00B0F0"/>
                </a:solidFill>
                <a:latin typeface="Comic Sans MS" panose="030F0702030302020204" pitchFamily="66" charset="0"/>
              </a:rPr>
              <a:t>By exploring this data, we can gain insights into market trends, consumer preferences, and the value contribution of each laptop component.</a:t>
            </a:r>
          </a:p>
          <a:p>
            <a:endParaRPr lang="en-IN" dirty="0">
              <a:solidFill>
                <a:srgbClr val="00B0F0"/>
              </a:solidFill>
              <a:latin typeface="Comic Sans MS" panose="030F0702030302020204" pitchFamily="66" charset="0"/>
            </a:endParaRPr>
          </a:p>
        </p:txBody>
      </p:sp>
    </p:spTree>
    <p:extLst>
      <p:ext uri="{BB962C8B-B14F-4D97-AF65-F5344CB8AC3E}">
        <p14:creationId xmlns:p14="http://schemas.microsoft.com/office/powerpoint/2010/main" val="3035822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EB6A4-7B16-77F2-D26B-5693D633247B}"/>
              </a:ext>
            </a:extLst>
          </p:cNvPr>
          <p:cNvSpPr>
            <a:spLocks noGrp="1"/>
          </p:cNvSpPr>
          <p:nvPr>
            <p:ph type="title"/>
          </p:nvPr>
        </p:nvSpPr>
        <p:spPr>
          <a:xfrm>
            <a:off x="381000" y="365126"/>
            <a:ext cx="10972800" cy="629646"/>
          </a:xfrm>
        </p:spPr>
        <p:txBody>
          <a:bodyPr>
            <a:normAutofit fontScale="90000"/>
          </a:bodyPr>
          <a:lstStyle/>
          <a:p>
            <a:r>
              <a:rPr lang="en-US" b="1" dirty="0">
                <a:solidFill>
                  <a:srgbClr val="00B050"/>
                </a:solidFill>
                <a:latin typeface="+mn-lt"/>
              </a:rPr>
              <a:t>OBJECTIVE:</a:t>
            </a:r>
            <a:endParaRPr lang="en-IN" b="1" dirty="0">
              <a:solidFill>
                <a:srgbClr val="00B050"/>
              </a:solidFill>
              <a:latin typeface="+mn-lt"/>
            </a:endParaRPr>
          </a:p>
        </p:txBody>
      </p:sp>
      <p:sp>
        <p:nvSpPr>
          <p:cNvPr id="5" name="Rectangle 2">
            <a:extLst>
              <a:ext uri="{FF2B5EF4-FFF2-40B4-BE49-F238E27FC236}">
                <a16:creationId xmlns:a16="http://schemas.microsoft.com/office/drawing/2014/main" id="{4313C1E8-221D-70A9-F271-AC9835454B59}"/>
              </a:ext>
            </a:extLst>
          </p:cNvPr>
          <p:cNvSpPr>
            <a:spLocks noGrp="1" noChangeArrowheads="1"/>
          </p:cNvSpPr>
          <p:nvPr>
            <p:ph idx="1"/>
          </p:nvPr>
        </p:nvSpPr>
        <p:spPr bwMode="auto">
          <a:xfrm>
            <a:off x="299357" y="1511359"/>
            <a:ext cx="1164227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B0F0"/>
                </a:solidFill>
                <a:effectLst/>
                <a:latin typeface="Comic Sans MS" panose="030F0702030302020204" pitchFamily="66" charset="0"/>
              </a:rPr>
              <a:t>To analyze the impact of technical specifications (e.g., RAM, CPU, GPU, storage type) on laptop prices.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rgbClr val="00B0F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B0F0"/>
                </a:solidFill>
                <a:effectLst/>
                <a:latin typeface="Comic Sans MS" panose="030F0702030302020204" pitchFamily="66" charset="0"/>
              </a:rPr>
              <a:t>To identify which features most significantly drive up the cost of laptops.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rgbClr val="00B0F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B0F0"/>
                </a:solidFill>
                <a:effectLst/>
                <a:latin typeface="Comic Sans MS" panose="030F0702030302020204" pitchFamily="66" charset="0"/>
              </a:rPr>
              <a:t>To compare pricing trends across different brands and laptop types.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rgbClr val="00B0F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B0F0"/>
                </a:solidFill>
                <a:effectLst/>
                <a:latin typeface="Comic Sans MS" panose="030F0702030302020204" pitchFamily="66" charset="0"/>
              </a:rPr>
              <a:t>To build predictive models that estimate laptop prices based on their configurations.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rgbClr val="00B0F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rgbClr val="00B0F0"/>
                </a:solidFill>
                <a:effectLst/>
                <a:latin typeface="Comic Sans MS" panose="030F0702030302020204" pitchFamily="66" charset="0"/>
              </a:rPr>
              <a:t>To assist consumers and manufacturers in making data-driven decisions related to pricing and product design.</a:t>
            </a:r>
          </a:p>
        </p:txBody>
      </p:sp>
    </p:spTree>
    <p:extLst>
      <p:ext uri="{BB962C8B-B14F-4D97-AF65-F5344CB8AC3E}">
        <p14:creationId xmlns:p14="http://schemas.microsoft.com/office/powerpoint/2010/main" val="3792421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0637E-0A47-C563-90F1-21EC410BD479}"/>
              </a:ext>
            </a:extLst>
          </p:cNvPr>
          <p:cNvSpPr>
            <a:spLocks noGrp="1"/>
          </p:cNvSpPr>
          <p:nvPr>
            <p:ph type="title"/>
          </p:nvPr>
        </p:nvSpPr>
        <p:spPr>
          <a:xfrm>
            <a:off x="522514" y="365125"/>
            <a:ext cx="10831286" cy="864961"/>
          </a:xfrm>
        </p:spPr>
        <p:txBody>
          <a:bodyPr/>
          <a:lstStyle/>
          <a:p>
            <a:r>
              <a:rPr lang="en-US" b="1" dirty="0">
                <a:solidFill>
                  <a:srgbClr val="00B050"/>
                </a:solidFill>
                <a:latin typeface="+mn-lt"/>
              </a:rPr>
              <a:t>PREPROCESSING STEPS:</a:t>
            </a:r>
            <a:endParaRPr lang="en-IN" b="1" dirty="0">
              <a:solidFill>
                <a:srgbClr val="00B050"/>
              </a:solidFill>
              <a:latin typeface="+mn-lt"/>
            </a:endParaRPr>
          </a:p>
        </p:txBody>
      </p:sp>
      <p:sp>
        <p:nvSpPr>
          <p:cNvPr id="3" name="Content Placeholder 2">
            <a:extLst>
              <a:ext uri="{FF2B5EF4-FFF2-40B4-BE49-F238E27FC236}">
                <a16:creationId xmlns:a16="http://schemas.microsoft.com/office/drawing/2014/main" id="{BF90C67A-FFA3-737F-A13E-C5C4A79475AF}"/>
              </a:ext>
            </a:extLst>
          </p:cNvPr>
          <p:cNvSpPr>
            <a:spLocks noGrp="1"/>
          </p:cNvSpPr>
          <p:nvPr>
            <p:ph idx="1"/>
          </p:nvPr>
        </p:nvSpPr>
        <p:spPr>
          <a:xfrm>
            <a:off x="522514" y="1545771"/>
            <a:ext cx="10831286" cy="4278086"/>
          </a:xfrm>
        </p:spPr>
        <p:txBody>
          <a:bodyPr>
            <a:normAutofit/>
          </a:bodyPr>
          <a:lstStyle/>
          <a:p>
            <a:r>
              <a:rPr lang="en-US" sz="3200" dirty="0">
                <a:solidFill>
                  <a:srgbClr val="00B0F0"/>
                </a:solidFill>
                <a:latin typeface="Comic Sans MS" panose="030F0702030302020204" pitchFamily="66" charset="0"/>
              </a:rPr>
              <a:t>1. Reading and Loading Dataset.</a:t>
            </a:r>
          </a:p>
          <a:p>
            <a:r>
              <a:rPr lang="en-US" sz="3200" dirty="0">
                <a:solidFill>
                  <a:srgbClr val="00B0F0"/>
                </a:solidFill>
                <a:latin typeface="Comic Sans MS" panose="030F0702030302020204" pitchFamily="66" charset="0"/>
              </a:rPr>
              <a:t>2.Data shape.</a:t>
            </a:r>
          </a:p>
          <a:p>
            <a:r>
              <a:rPr lang="en-US" sz="3200" dirty="0">
                <a:solidFill>
                  <a:srgbClr val="00B0F0"/>
                </a:solidFill>
                <a:latin typeface="Comic Sans MS" panose="030F0702030302020204" pitchFamily="66" charset="0"/>
              </a:rPr>
              <a:t>3.Columns Overview.</a:t>
            </a:r>
          </a:p>
          <a:p>
            <a:r>
              <a:rPr lang="en-US" sz="3200" dirty="0">
                <a:solidFill>
                  <a:srgbClr val="00B0F0"/>
                </a:solidFill>
                <a:latin typeface="Comic Sans MS" panose="030F0702030302020204" pitchFamily="66" charset="0"/>
              </a:rPr>
              <a:t>4.Drop Duplicates.</a:t>
            </a:r>
          </a:p>
          <a:p>
            <a:r>
              <a:rPr lang="en-US" sz="3200" dirty="0">
                <a:solidFill>
                  <a:srgbClr val="00B0F0"/>
                </a:solidFill>
                <a:latin typeface="Comic Sans MS" panose="030F0702030302020204" pitchFamily="66" charset="0"/>
              </a:rPr>
              <a:t>5.Handling Null values.</a:t>
            </a:r>
          </a:p>
          <a:p>
            <a:r>
              <a:rPr lang="en-US" sz="3200" dirty="0">
                <a:solidFill>
                  <a:srgbClr val="00B0F0"/>
                </a:solidFill>
                <a:latin typeface="Comic Sans MS" panose="030F0702030302020204" pitchFamily="66" charset="0"/>
              </a:rPr>
              <a:t>6.Datatypes Conversion.</a:t>
            </a:r>
          </a:p>
          <a:p>
            <a:r>
              <a:rPr lang="en-US" sz="3200" dirty="0">
                <a:solidFill>
                  <a:srgbClr val="00B0F0"/>
                </a:solidFill>
                <a:latin typeface="Comic Sans MS" panose="030F0702030302020204" pitchFamily="66" charset="0"/>
              </a:rPr>
              <a:t>7.Understanding Data.</a:t>
            </a:r>
            <a:endParaRPr lang="en-IN" sz="3200" dirty="0">
              <a:solidFill>
                <a:srgbClr val="00B0F0"/>
              </a:solidFill>
              <a:latin typeface="Comic Sans MS" panose="030F0702030302020204" pitchFamily="66" charset="0"/>
            </a:endParaRPr>
          </a:p>
        </p:txBody>
      </p:sp>
    </p:spTree>
    <p:extLst>
      <p:ext uri="{BB962C8B-B14F-4D97-AF65-F5344CB8AC3E}">
        <p14:creationId xmlns:p14="http://schemas.microsoft.com/office/powerpoint/2010/main" val="1840201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52746-F090-FC6A-942E-8F29D14D2ADC}"/>
              </a:ext>
            </a:extLst>
          </p:cNvPr>
          <p:cNvSpPr>
            <a:spLocks noGrp="1"/>
          </p:cNvSpPr>
          <p:nvPr>
            <p:ph type="title"/>
          </p:nvPr>
        </p:nvSpPr>
        <p:spPr>
          <a:xfrm>
            <a:off x="326572" y="195943"/>
            <a:ext cx="4757058" cy="576943"/>
          </a:xfrm>
        </p:spPr>
        <p:txBody>
          <a:bodyPr>
            <a:normAutofit fontScale="90000"/>
          </a:bodyPr>
          <a:lstStyle/>
          <a:p>
            <a:r>
              <a:rPr lang="en-US" b="1" dirty="0">
                <a:solidFill>
                  <a:srgbClr val="00B050"/>
                </a:solidFill>
                <a:latin typeface="+mn-lt"/>
              </a:rPr>
              <a:t>Columns Overview:</a:t>
            </a:r>
            <a:endParaRPr lang="en-IN" b="1" dirty="0">
              <a:solidFill>
                <a:srgbClr val="00B050"/>
              </a:solidFill>
              <a:latin typeface="+mn-lt"/>
            </a:endParaRPr>
          </a:p>
        </p:txBody>
      </p:sp>
      <p:graphicFrame>
        <p:nvGraphicFramePr>
          <p:cNvPr id="4" name="Content Placeholder 3">
            <a:extLst>
              <a:ext uri="{FF2B5EF4-FFF2-40B4-BE49-F238E27FC236}">
                <a16:creationId xmlns:a16="http://schemas.microsoft.com/office/drawing/2014/main" id="{671A8BB6-4EAC-7B11-7861-4414F1D78557}"/>
              </a:ext>
            </a:extLst>
          </p:cNvPr>
          <p:cNvGraphicFramePr>
            <a:graphicFrameLocks noGrp="1"/>
          </p:cNvGraphicFramePr>
          <p:nvPr>
            <p:ph idx="1"/>
            <p:extLst>
              <p:ext uri="{D42A27DB-BD31-4B8C-83A1-F6EECF244321}">
                <p14:modId xmlns:p14="http://schemas.microsoft.com/office/powerpoint/2010/main" val="1667934854"/>
              </p:ext>
            </p:extLst>
          </p:nvPr>
        </p:nvGraphicFramePr>
        <p:xfrm>
          <a:off x="228600" y="957943"/>
          <a:ext cx="11495314" cy="5843146"/>
        </p:xfrm>
        <a:graphic>
          <a:graphicData uri="http://schemas.openxmlformats.org/drawingml/2006/table">
            <a:tbl>
              <a:tblPr>
                <a:tableStyleId>{616DA210-FB5B-4158-B5E0-FEB733F419BA}</a:tableStyleId>
              </a:tblPr>
              <a:tblGrid>
                <a:gridCol w="2904523">
                  <a:extLst>
                    <a:ext uri="{9D8B030D-6E8A-4147-A177-3AD203B41FA5}">
                      <a16:colId xmlns:a16="http://schemas.microsoft.com/office/drawing/2014/main" val="2510437263"/>
                    </a:ext>
                  </a:extLst>
                </a:gridCol>
                <a:gridCol w="8590791">
                  <a:extLst>
                    <a:ext uri="{9D8B030D-6E8A-4147-A177-3AD203B41FA5}">
                      <a16:colId xmlns:a16="http://schemas.microsoft.com/office/drawing/2014/main" val="2430880322"/>
                    </a:ext>
                  </a:extLst>
                </a:gridCol>
              </a:tblGrid>
              <a:tr h="400289">
                <a:tc>
                  <a:txBody>
                    <a:bodyPr/>
                    <a:lstStyle/>
                    <a:p>
                      <a:r>
                        <a:rPr lang="en-IN" sz="1500" b="1">
                          <a:solidFill>
                            <a:srgbClr val="00B050"/>
                          </a:solidFill>
                          <a:latin typeface="Comic Sans MS" panose="030F0702030302020204" pitchFamily="66" charset="0"/>
                        </a:rPr>
                        <a:t>Column Name</a:t>
                      </a:r>
                      <a:endParaRPr lang="en-IN" sz="1500">
                        <a:solidFill>
                          <a:srgbClr val="00B050"/>
                        </a:solidFill>
                        <a:latin typeface="Comic Sans MS" panose="030F0702030302020204" pitchFamily="66" charset="0"/>
                      </a:endParaRPr>
                    </a:p>
                  </a:txBody>
                  <a:tcPr marL="76339" marR="76339" marT="38170" marB="38170" anchor="ctr"/>
                </a:tc>
                <a:tc>
                  <a:txBody>
                    <a:bodyPr/>
                    <a:lstStyle/>
                    <a:p>
                      <a:r>
                        <a:rPr lang="en-IN" sz="1500" b="1" dirty="0">
                          <a:solidFill>
                            <a:srgbClr val="00B0F0"/>
                          </a:solidFill>
                          <a:latin typeface="Comic Sans MS" panose="030F0702030302020204" pitchFamily="66" charset="0"/>
                        </a:rPr>
                        <a:t>Description</a:t>
                      </a:r>
                      <a:endParaRPr lang="en-IN" sz="1500" dirty="0">
                        <a:solidFill>
                          <a:srgbClr val="00B0F0"/>
                        </a:solidFill>
                        <a:latin typeface="Comic Sans MS" panose="030F0702030302020204" pitchFamily="66" charset="0"/>
                      </a:endParaRPr>
                    </a:p>
                  </a:txBody>
                  <a:tcPr marL="76339" marR="76339" marT="38170" marB="38170" anchor="ctr"/>
                </a:tc>
                <a:extLst>
                  <a:ext uri="{0D108BD9-81ED-4DB2-BD59-A6C34878D82A}">
                    <a16:rowId xmlns:a16="http://schemas.microsoft.com/office/drawing/2014/main" val="2595991704"/>
                  </a:ext>
                </a:extLst>
              </a:tr>
              <a:tr h="700505">
                <a:tc>
                  <a:txBody>
                    <a:bodyPr/>
                    <a:lstStyle/>
                    <a:p>
                      <a:r>
                        <a:rPr lang="en-IN" sz="1500" b="1" dirty="0">
                          <a:solidFill>
                            <a:srgbClr val="00B050"/>
                          </a:solidFill>
                          <a:latin typeface="Comic Sans MS" panose="030F0702030302020204" pitchFamily="66" charset="0"/>
                        </a:rPr>
                        <a:t>Company</a:t>
                      </a:r>
                      <a:endParaRPr lang="en-IN" sz="1500" dirty="0">
                        <a:solidFill>
                          <a:srgbClr val="00B050"/>
                        </a:solidFill>
                        <a:latin typeface="Comic Sans MS" panose="030F0702030302020204" pitchFamily="66" charset="0"/>
                      </a:endParaRPr>
                    </a:p>
                  </a:txBody>
                  <a:tcPr marL="76339" marR="76339" marT="38170" marB="38170" anchor="ctr"/>
                </a:tc>
                <a:tc>
                  <a:txBody>
                    <a:bodyPr/>
                    <a:lstStyle/>
                    <a:p>
                      <a:r>
                        <a:rPr lang="en-US" sz="1500" dirty="0">
                          <a:solidFill>
                            <a:srgbClr val="00B0F0"/>
                          </a:solidFill>
                          <a:latin typeface="Comic Sans MS" panose="030F0702030302020204" pitchFamily="66" charset="0"/>
                        </a:rPr>
                        <a:t>Brand or manufacturer of the laptop (e.g., Dell, HP, Apple)</a:t>
                      </a:r>
                    </a:p>
                  </a:txBody>
                  <a:tcPr marL="76339" marR="76339" marT="38170" marB="38170" anchor="ctr"/>
                </a:tc>
                <a:extLst>
                  <a:ext uri="{0D108BD9-81ED-4DB2-BD59-A6C34878D82A}">
                    <a16:rowId xmlns:a16="http://schemas.microsoft.com/office/drawing/2014/main" val="3561001625"/>
                  </a:ext>
                </a:extLst>
              </a:tr>
              <a:tr h="400289">
                <a:tc>
                  <a:txBody>
                    <a:bodyPr/>
                    <a:lstStyle/>
                    <a:p>
                      <a:r>
                        <a:rPr lang="en-IN" sz="1500" b="1">
                          <a:solidFill>
                            <a:srgbClr val="00B050"/>
                          </a:solidFill>
                          <a:latin typeface="Comic Sans MS" panose="030F0702030302020204" pitchFamily="66" charset="0"/>
                        </a:rPr>
                        <a:t>Product</a:t>
                      </a:r>
                      <a:endParaRPr lang="en-IN" sz="1500">
                        <a:solidFill>
                          <a:srgbClr val="00B050"/>
                        </a:solidFill>
                        <a:latin typeface="Comic Sans MS" panose="030F0702030302020204" pitchFamily="66" charset="0"/>
                      </a:endParaRPr>
                    </a:p>
                  </a:txBody>
                  <a:tcPr marL="76339" marR="76339" marT="38170" marB="38170" anchor="ctr"/>
                </a:tc>
                <a:tc>
                  <a:txBody>
                    <a:bodyPr/>
                    <a:lstStyle/>
                    <a:p>
                      <a:r>
                        <a:rPr lang="en-US" sz="1500">
                          <a:solidFill>
                            <a:srgbClr val="00B0F0"/>
                          </a:solidFill>
                          <a:latin typeface="Comic Sans MS" panose="030F0702030302020204" pitchFamily="66" charset="0"/>
                        </a:rPr>
                        <a:t>Specific model name or identifier of the laptop</a:t>
                      </a:r>
                    </a:p>
                  </a:txBody>
                  <a:tcPr marL="76339" marR="76339" marT="38170" marB="38170" anchor="ctr"/>
                </a:tc>
                <a:extLst>
                  <a:ext uri="{0D108BD9-81ED-4DB2-BD59-A6C34878D82A}">
                    <a16:rowId xmlns:a16="http://schemas.microsoft.com/office/drawing/2014/main" val="3181171091"/>
                  </a:ext>
                </a:extLst>
              </a:tr>
              <a:tr h="400289">
                <a:tc>
                  <a:txBody>
                    <a:bodyPr/>
                    <a:lstStyle/>
                    <a:p>
                      <a:r>
                        <a:rPr lang="en-IN" sz="1500" b="1">
                          <a:solidFill>
                            <a:srgbClr val="00B050"/>
                          </a:solidFill>
                          <a:latin typeface="Comic Sans MS" panose="030F0702030302020204" pitchFamily="66" charset="0"/>
                        </a:rPr>
                        <a:t>TypeName</a:t>
                      </a:r>
                      <a:endParaRPr lang="en-IN" sz="1500">
                        <a:solidFill>
                          <a:srgbClr val="00B050"/>
                        </a:solidFill>
                        <a:latin typeface="Comic Sans MS" panose="030F0702030302020204" pitchFamily="66" charset="0"/>
                      </a:endParaRPr>
                    </a:p>
                  </a:txBody>
                  <a:tcPr marL="76339" marR="76339" marT="38170" marB="38170" anchor="ctr"/>
                </a:tc>
                <a:tc>
                  <a:txBody>
                    <a:bodyPr/>
                    <a:lstStyle/>
                    <a:p>
                      <a:r>
                        <a:rPr lang="en-US" sz="1500">
                          <a:solidFill>
                            <a:srgbClr val="00B0F0"/>
                          </a:solidFill>
                          <a:latin typeface="Comic Sans MS" panose="030F0702030302020204" pitchFamily="66" charset="0"/>
                        </a:rPr>
                        <a:t>Type of laptop (e.g., Ultrabook, Notebook, Gaming)</a:t>
                      </a:r>
                    </a:p>
                  </a:txBody>
                  <a:tcPr marL="76339" marR="76339" marT="38170" marB="38170" anchor="ctr"/>
                </a:tc>
                <a:extLst>
                  <a:ext uri="{0D108BD9-81ED-4DB2-BD59-A6C34878D82A}">
                    <a16:rowId xmlns:a16="http://schemas.microsoft.com/office/drawing/2014/main" val="1730865844"/>
                  </a:ext>
                </a:extLst>
              </a:tr>
              <a:tr h="400289">
                <a:tc>
                  <a:txBody>
                    <a:bodyPr/>
                    <a:lstStyle/>
                    <a:p>
                      <a:r>
                        <a:rPr lang="en-IN" sz="1500" b="1">
                          <a:solidFill>
                            <a:srgbClr val="00B050"/>
                          </a:solidFill>
                          <a:latin typeface="Comic Sans MS" panose="030F0702030302020204" pitchFamily="66" charset="0"/>
                        </a:rPr>
                        <a:t>Inches</a:t>
                      </a:r>
                      <a:endParaRPr lang="en-IN" sz="1500">
                        <a:solidFill>
                          <a:srgbClr val="00B050"/>
                        </a:solidFill>
                        <a:latin typeface="Comic Sans MS" panose="030F0702030302020204" pitchFamily="66" charset="0"/>
                      </a:endParaRPr>
                    </a:p>
                  </a:txBody>
                  <a:tcPr marL="76339" marR="76339" marT="38170" marB="38170" anchor="ctr"/>
                </a:tc>
                <a:tc>
                  <a:txBody>
                    <a:bodyPr/>
                    <a:lstStyle/>
                    <a:p>
                      <a:r>
                        <a:rPr lang="en-IN" sz="1500">
                          <a:solidFill>
                            <a:srgbClr val="00B0F0"/>
                          </a:solidFill>
                          <a:latin typeface="Comic Sans MS" panose="030F0702030302020204" pitchFamily="66" charset="0"/>
                        </a:rPr>
                        <a:t>Screen size in inches</a:t>
                      </a:r>
                    </a:p>
                  </a:txBody>
                  <a:tcPr marL="76339" marR="76339" marT="38170" marB="38170" anchor="ctr"/>
                </a:tc>
                <a:extLst>
                  <a:ext uri="{0D108BD9-81ED-4DB2-BD59-A6C34878D82A}">
                    <a16:rowId xmlns:a16="http://schemas.microsoft.com/office/drawing/2014/main" val="3731775419"/>
                  </a:ext>
                </a:extLst>
              </a:tr>
              <a:tr h="400289">
                <a:tc>
                  <a:txBody>
                    <a:bodyPr/>
                    <a:lstStyle/>
                    <a:p>
                      <a:r>
                        <a:rPr lang="en-IN" sz="1500" b="1">
                          <a:solidFill>
                            <a:srgbClr val="00B050"/>
                          </a:solidFill>
                          <a:latin typeface="Comic Sans MS" panose="030F0702030302020204" pitchFamily="66" charset="0"/>
                        </a:rPr>
                        <a:t>Ram</a:t>
                      </a:r>
                      <a:endParaRPr lang="en-IN" sz="1500">
                        <a:solidFill>
                          <a:srgbClr val="00B050"/>
                        </a:solidFill>
                        <a:latin typeface="Comic Sans MS" panose="030F0702030302020204" pitchFamily="66" charset="0"/>
                      </a:endParaRPr>
                    </a:p>
                  </a:txBody>
                  <a:tcPr marL="76339" marR="76339" marT="38170" marB="38170" anchor="ctr"/>
                </a:tc>
                <a:tc>
                  <a:txBody>
                    <a:bodyPr/>
                    <a:lstStyle/>
                    <a:p>
                      <a:r>
                        <a:rPr lang="en-US" sz="1500">
                          <a:solidFill>
                            <a:srgbClr val="00B0F0"/>
                          </a:solidFill>
                          <a:latin typeface="Comic Sans MS" panose="030F0702030302020204" pitchFamily="66" charset="0"/>
                        </a:rPr>
                        <a:t>Amount of RAM (in GB)</a:t>
                      </a:r>
                    </a:p>
                  </a:txBody>
                  <a:tcPr marL="76339" marR="76339" marT="38170" marB="38170" anchor="ctr"/>
                </a:tc>
                <a:extLst>
                  <a:ext uri="{0D108BD9-81ED-4DB2-BD59-A6C34878D82A}">
                    <a16:rowId xmlns:a16="http://schemas.microsoft.com/office/drawing/2014/main" val="2431652364"/>
                  </a:ext>
                </a:extLst>
              </a:tr>
              <a:tr h="700505">
                <a:tc>
                  <a:txBody>
                    <a:bodyPr/>
                    <a:lstStyle/>
                    <a:p>
                      <a:r>
                        <a:rPr lang="en-IN" sz="1500" b="1">
                          <a:solidFill>
                            <a:srgbClr val="00B050"/>
                          </a:solidFill>
                          <a:latin typeface="Comic Sans MS" panose="030F0702030302020204" pitchFamily="66" charset="0"/>
                        </a:rPr>
                        <a:t>OS</a:t>
                      </a:r>
                      <a:endParaRPr lang="en-IN" sz="1500">
                        <a:solidFill>
                          <a:srgbClr val="00B050"/>
                        </a:solidFill>
                        <a:latin typeface="Comic Sans MS" panose="030F0702030302020204" pitchFamily="66" charset="0"/>
                      </a:endParaRPr>
                    </a:p>
                  </a:txBody>
                  <a:tcPr marL="76339" marR="76339" marT="38170" marB="38170" anchor="ctr"/>
                </a:tc>
                <a:tc>
                  <a:txBody>
                    <a:bodyPr/>
                    <a:lstStyle/>
                    <a:p>
                      <a:r>
                        <a:rPr lang="en-US" sz="1500">
                          <a:solidFill>
                            <a:srgbClr val="00B0F0"/>
                          </a:solidFill>
                          <a:latin typeface="Comic Sans MS" panose="030F0702030302020204" pitchFamily="66" charset="0"/>
                        </a:rPr>
                        <a:t>Operating System installed (e.g., Windows, macOS, Linux)</a:t>
                      </a:r>
                    </a:p>
                  </a:txBody>
                  <a:tcPr marL="76339" marR="76339" marT="38170" marB="38170" anchor="ctr"/>
                </a:tc>
                <a:extLst>
                  <a:ext uri="{0D108BD9-81ED-4DB2-BD59-A6C34878D82A}">
                    <a16:rowId xmlns:a16="http://schemas.microsoft.com/office/drawing/2014/main" val="1974668378"/>
                  </a:ext>
                </a:extLst>
              </a:tr>
              <a:tr h="400289">
                <a:tc>
                  <a:txBody>
                    <a:bodyPr/>
                    <a:lstStyle/>
                    <a:p>
                      <a:r>
                        <a:rPr lang="en-IN" sz="1500" b="1">
                          <a:solidFill>
                            <a:srgbClr val="00B050"/>
                          </a:solidFill>
                          <a:latin typeface="Comic Sans MS" panose="030F0702030302020204" pitchFamily="66" charset="0"/>
                        </a:rPr>
                        <a:t>Weight</a:t>
                      </a:r>
                      <a:endParaRPr lang="en-IN" sz="1500">
                        <a:solidFill>
                          <a:srgbClr val="00B050"/>
                        </a:solidFill>
                        <a:latin typeface="Comic Sans MS" panose="030F0702030302020204" pitchFamily="66" charset="0"/>
                      </a:endParaRPr>
                    </a:p>
                  </a:txBody>
                  <a:tcPr marL="76339" marR="76339" marT="38170" marB="38170" anchor="ctr"/>
                </a:tc>
                <a:tc>
                  <a:txBody>
                    <a:bodyPr/>
                    <a:lstStyle/>
                    <a:p>
                      <a:r>
                        <a:rPr lang="en-US" sz="1500">
                          <a:solidFill>
                            <a:srgbClr val="00B0F0"/>
                          </a:solidFill>
                          <a:latin typeface="Comic Sans MS" panose="030F0702030302020204" pitchFamily="66" charset="0"/>
                        </a:rPr>
                        <a:t>Weight of the laptop (typically in kilograms)</a:t>
                      </a:r>
                    </a:p>
                  </a:txBody>
                  <a:tcPr marL="76339" marR="76339" marT="38170" marB="38170" anchor="ctr"/>
                </a:tc>
                <a:extLst>
                  <a:ext uri="{0D108BD9-81ED-4DB2-BD59-A6C34878D82A}">
                    <a16:rowId xmlns:a16="http://schemas.microsoft.com/office/drawing/2014/main" val="3714116133"/>
                  </a:ext>
                </a:extLst>
              </a:tr>
              <a:tr h="400289">
                <a:tc>
                  <a:txBody>
                    <a:bodyPr/>
                    <a:lstStyle/>
                    <a:p>
                      <a:r>
                        <a:rPr lang="en-IN" sz="1500" b="1">
                          <a:solidFill>
                            <a:srgbClr val="00B050"/>
                          </a:solidFill>
                          <a:latin typeface="Comic Sans MS" panose="030F0702030302020204" pitchFamily="66" charset="0"/>
                        </a:rPr>
                        <a:t>Price_euros</a:t>
                      </a:r>
                      <a:endParaRPr lang="en-IN" sz="1500">
                        <a:solidFill>
                          <a:srgbClr val="00B050"/>
                        </a:solidFill>
                        <a:latin typeface="Comic Sans MS" panose="030F0702030302020204" pitchFamily="66" charset="0"/>
                      </a:endParaRPr>
                    </a:p>
                  </a:txBody>
                  <a:tcPr marL="76339" marR="76339" marT="38170" marB="38170" anchor="ctr"/>
                </a:tc>
                <a:tc>
                  <a:txBody>
                    <a:bodyPr/>
                    <a:lstStyle/>
                    <a:p>
                      <a:r>
                        <a:rPr lang="en-US" sz="1500">
                          <a:solidFill>
                            <a:srgbClr val="00B0F0"/>
                          </a:solidFill>
                          <a:latin typeface="Comic Sans MS" panose="030F0702030302020204" pitchFamily="66" charset="0"/>
                        </a:rPr>
                        <a:t>Price of the laptop in Euros</a:t>
                      </a:r>
                    </a:p>
                  </a:txBody>
                  <a:tcPr marL="76339" marR="76339" marT="38170" marB="38170" anchor="ctr"/>
                </a:tc>
                <a:extLst>
                  <a:ext uri="{0D108BD9-81ED-4DB2-BD59-A6C34878D82A}">
                    <a16:rowId xmlns:a16="http://schemas.microsoft.com/office/drawing/2014/main" val="2474193360"/>
                  </a:ext>
                </a:extLst>
              </a:tr>
              <a:tr h="700505">
                <a:tc>
                  <a:txBody>
                    <a:bodyPr/>
                    <a:lstStyle/>
                    <a:p>
                      <a:r>
                        <a:rPr lang="en-IN" sz="1500" b="1">
                          <a:solidFill>
                            <a:srgbClr val="00B050"/>
                          </a:solidFill>
                          <a:latin typeface="Comic Sans MS" panose="030F0702030302020204" pitchFamily="66" charset="0"/>
                        </a:rPr>
                        <a:t>Screen</a:t>
                      </a:r>
                      <a:endParaRPr lang="en-IN" sz="1500">
                        <a:solidFill>
                          <a:srgbClr val="00B050"/>
                        </a:solidFill>
                        <a:latin typeface="Comic Sans MS" panose="030F0702030302020204" pitchFamily="66" charset="0"/>
                      </a:endParaRPr>
                    </a:p>
                  </a:txBody>
                  <a:tcPr marL="76339" marR="76339" marT="38170" marB="38170" anchor="ctr"/>
                </a:tc>
                <a:tc>
                  <a:txBody>
                    <a:bodyPr/>
                    <a:lstStyle/>
                    <a:p>
                      <a:r>
                        <a:rPr lang="en-US" sz="1500">
                          <a:solidFill>
                            <a:srgbClr val="00B0F0"/>
                          </a:solidFill>
                          <a:latin typeface="Comic Sans MS" panose="030F0702030302020204" pitchFamily="66" charset="0"/>
                        </a:rPr>
                        <a:t>Description of screen (resolution and technology details)</a:t>
                      </a:r>
                    </a:p>
                  </a:txBody>
                  <a:tcPr marL="76339" marR="76339" marT="38170" marB="38170" anchor="ctr"/>
                </a:tc>
                <a:extLst>
                  <a:ext uri="{0D108BD9-81ED-4DB2-BD59-A6C34878D82A}">
                    <a16:rowId xmlns:a16="http://schemas.microsoft.com/office/drawing/2014/main" val="2967864261"/>
                  </a:ext>
                </a:extLst>
              </a:tr>
              <a:tr h="539319">
                <a:tc>
                  <a:txBody>
                    <a:bodyPr/>
                    <a:lstStyle/>
                    <a:p>
                      <a:r>
                        <a:rPr lang="en-IN" sz="1500" b="1">
                          <a:solidFill>
                            <a:srgbClr val="00B050"/>
                          </a:solidFill>
                          <a:latin typeface="Comic Sans MS" panose="030F0702030302020204" pitchFamily="66" charset="0"/>
                        </a:rPr>
                        <a:t>ScreenW</a:t>
                      </a:r>
                      <a:endParaRPr lang="en-IN" sz="1500">
                        <a:solidFill>
                          <a:srgbClr val="00B050"/>
                        </a:solidFill>
                        <a:latin typeface="Comic Sans MS" panose="030F0702030302020204" pitchFamily="66" charset="0"/>
                      </a:endParaRPr>
                    </a:p>
                  </a:txBody>
                  <a:tcPr marL="76339" marR="76339" marT="38170" marB="38170" anchor="ctr"/>
                </a:tc>
                <a:tc>
                  <a:txBody>
                    <a:bodyPr/>
                    <a:lstStyle/>
                    <a:p>
                      <a:r>
                        <a:rPr lang="en-IN" sz="1500">
                          <a:solidFill>
                            <a:srgbClr val="00B0F0"/>
                          </a:solidFill>
                          <a:latin typeface="Comic Sans MS" panose="030F0702030302020204" pitchFamily="66" charset="0"/>
                        </a:rPr>
                        <a:t>Screen width in pixels</a:t>
                      </a:r>
                    </a:p>
                  </a:txBody>
                  <a:tcPr marL="76339" marR="76339" marT="38170" marB="38170" anchor="ctr"/>
                </a:tc>
                <a:extLst>
                  <a:ext uri="{0D108BD9-81ED-4DB2-BD59-A6C34878D82A}">
                    <a16:rowId xmlns:a16="http://schemas.microsoft.com/office/drawing/2014/main" val="1550329101"/>
                  </a:ext>
                </a:extLst>
              </a:tr>
              <a:tr h="400289">
                <a:tc>
                  <a:txBody>
                    <a:bodyPr/>
                    <a:lstStyle/>
                    <a:p>
                      <a:r>
                        <a:rPr lang="en-IN" sz="1500" b="1" dirty="0" err="1">
                          <a:solidFill>
                            <a:srgbClr val="00B050"/>
                          </a:solidFill>
                          <a:latin typeface="Comic Sans MS" panose="030F0702030302020204" pitchFamily="66" charset="0"/>
                        </a:rPr>
                        <a:t>ScreenH</a:t>
                      </a:r>
                      <a:endParaRPr lang="en-IN" sz="1500" dirty="0">
                        <a:solidFill>
                          <a:srgbClr val="00B050"/>
                        </a:solidFill>
                        <a:latin typeface="Comic Sans MS" panose="030F0702030302020204" pitchFamily="66" charset="0"/>
                      </a:endParaRPr>
                    </a:p>
                  </a:txBody>
                  <a:tcPr marL="76339" marR="76339" marT="38170" marB="38170" anchor="ctr"/>
                </a:tc>
                <a:tc>
                  <a:txBody>
                    <a:bodyPr/>
                    <a:lstStyle/>
                    <a:p>
                      <a:r>
                        <a:rPr lang="en-IN" sz="1500" dirty="0">
                          <a:solidFill>
                            <a:srgbClr val="00B0F0"/>
                          </a:solidFill>
                          <a:latin typeface="Comic Sans MS" panose="030F0702030302020204" pitchFamily="66" charset="0"/>
                        </a:rPr>
                        <a:t>Screen height in pixels</a:t>
                      </a:r>
                    </a:p>
                  </a:txBody>
                  <a:tcPr marL="76339" marR="76339" marT="38170" marB="38170" anchor="ctr"/>
                </a:tc>
                <a:extLst>
                  <a:ext uri="{0D108BD9-81ED-4DB2-BD59-A6C34878D82A}">
                    <a16:rowId xmlns:a16="http://schemas.microsoft.com/office/drawing/2014/main" val="2467747700"/>
                  </a:ext>
                </a:extLst>
              </a:tr>
            </a:tbl>
          </a:graphicData>
        </a:graphic>
      </p:graphicFrame>
    </p:spTree>
    <p:extLst>
      <p:ext uri="{BB962C8B-B14F-4D97-AF65-F5344CB8AC3E}">
        <p14:creationId xmlns:p14="http://schemas.microsoft.com/office/powerpoint/2010/main" val="1863280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75255-B46C-BC38-9368-274F6A5C33E1}"/>
              </a:ext>
            </a:extLst>
          </p:cNvPr>
          <p:cNvSpPr>
            <a:spLocks noGrp="1"/>
          </p:cNvSpPr>
          <p:nvPr>
            <p:ph type="title"/>
          </p:nvPr>
        </p:nvSpPr>
        <p:spPr>
          <a:xfrm>
            <a:off x="217714" y="228602"/>
            <a:ext cx="4865915" cy="337455"/>
          </a:xfrm>
        </p:spPr>
        <p:txBody>
          <a:bodyPr>
            <a:normAutofit fontScale="90000"/>
          </a:bodyPr>
          <a:lstStyle/>
          <a:p>
            <a:r>
              <a:rPr lang="en-US" b="1" dirty="0">
                <a:solidFill>
                  <a:srgbClr val="00B050"/>
                </a:solidFill>
                <a:latin typeface="+mn-lt"/>
              </a:rPr>
              <a:t>Columns Overview:</a:t>
            </a:r>
            <a:endParaRPr lang="en-IN" b="1" dirty="0">
              <a:solidFill>
                <a:srgbClr val="00B050"/>
              </a:solidFill>
              <a:latin typeface="+mn-lt"/>
            </a:endParaRPr>
          </a:p>
        </p:txBody>
      </p:sp>
      <p:graphicFrame>
        <p:nvGraphicFramePr>
          <p:cNvPr id="4" name="Content Placeholder 3">
            <a:extLst>
              <a:ext uri="{FF2B5EF4-FFF2-40B4-BE49-F238E27FC236}">
                <a16:creationId xmlns:a16="http://schemas.microsoft.com/office/drawing/2014/main" id="{18E263DD-2E27-D717-B7A9-1DECA8AA7CF5}"/>
              </a:ext>
            </a:extLst>
          </p:cNvPr>
          <p:cNvGraphicFramePr>
            <a:graphicFrameLocks noGrp="1"/>
          </p:cNvGraphicFramePr>
          <p:nvPr>
            <p:ph idx="1"/>
            <p:extLst>
              <p:ext uri="{D42A27DB-BD31-4B8C-83A1-F6EECF244321}">
                <p14:modId xmlns:p14="http://schemas.microsoft.com/office/powerpoint/2010/main" val="1248857360"/>
              </p:ext>
            </p:extLst>
          </p:nvPr>
        </p:nvGraphicFramePr>
        <p:xfrm>
          <a:off x="190500" y="702130"/>
          <a:ext cx="11783786" cy="6242679"/>
        </p:xfrm>
        <a:graphic>
          <a:graphicData uri="http://schemas.openxmlformats.org/drawingml/2006/table">
            <a:tbl>
              <a:tblPr>
                <a:tableStyleId>{616DA210-FB5B-4158-B5E0-FEB733F419BA}</a:tableStyleId>
              </a:tblPr>
              <a:tblGrid>
                <a:gridCol w="3777343">
                  <a:extLst>
                    <a:ext uri="{9D8B030D-6E8A-4147-A177-3AD203B41FA5}">
                      <a16:colId xmlns:a16="http://schemas.microsoft.com/office/drawing/2014/main" val="3964383178"/>
                    </a:ext>
                  </a:extLst>
                </a:gridCol>
                <a:gridCol w="8006443">
                  <a:extLst>
                    <a:ext uri="{9D8B030D-6E8A-4147-A177-3AD203B41FA5}">
                      <a16:colId xmlns:a16="http://schemas.microsoft.com/office/drawing/2014/main" val="2548682394"/>
                    </a:ext>
                  </a:extLst>
                </a:gridCol>
              </a:tblGrid>
              <a:tr h="381381">
                <a:tc>
                  <a:txBody>
                    <a:bodyPr/>
                    <a:lstStyle/>
                    <a:p>
                      <a:r>
                        <a:rPr lang="en-IN" sz="1600" b="1">
                          <a:solidFill>
                            <a:srgbClr val="00B050"/>
                          </a:solidFill>
                          <a:latin typeface="Comic Sans MS" panose="030F0702030302020204" pitchFamily="66" charset="0"/>
                        </a:rPr>
                        <a:t>Column Name</a:t>
                      </a:r>
                      <a:endParaRPr lang="en-IN" sz="1600">
                        <a:solidFill>
                          <a:srgbClr val="00B050"/>
                        </a:solidFill>
                        <a:latin typeface="Comic Sans MS" panose="030F0702030302020204" pitchFamily="66" charset="0"/>
                      </a:endParaRPr>
                    </a:p>
                  </a:txBody>
                  <a:tcPr marL="81806" marR="81806" marT="40903" marB="40903" anchor="ctr"/>
                </a:tc>
                <a:tc>
                  <a:txBody>
                    <a:bodyPr/>
                    <a:lstStyle/>
                    <a:p>
                      <a:r>
                        <a:rPr lang="en-IN" sz="1600" b="1">
                          <a:solidFill>
                            <a:srgbClr val="00B0F0"/>
                          </a:solidFill>
                          <a:latin typeface="Comic Sans MS" panose="030F0702030302020204" pitchFamily="66" charset="0"/>
                        </a:rPr>
                        <a:t>Description</a:t>
                      </a:r>
                      <a:endParaRPr lang="en-IN" sz="1600">
                        <a:solidFill>
                          <a:srgbClr val="00B0F0"/>
                        </a:solidFill>
                        <a:latin typeface="Comic Sans MS" panose="030F0702030302020204" pitchFamily="66" charset="0"/>
                      </a:endParaRPr>
                    </a:p>
                  </a:txBody>
                  <a:tcPr marL="81806" marR="81806" marT="40903" marB="40903" anchor="ctr"/>
                </a:tc>
                <a:extLst>
                  <a:ext uri="{0D108BD9-81ED-4DB2-BD59-A6C34878D82A}">
                    <a16:rowId xmlns:a16="http://schemas.microsoft.com/office/drawing/2014/main" val="889549616"/>
                  </a:ext>
                </a:extLst>
              </a:tr>
              <a:tr h="667419">
                <a:tc>
                  <a:txBody>
                    <a:bodyPr/>
                    <a:lstStyle/>
                    <a:p>
                      <a:r>
                        <a:rPr lang="en-IN" sz="1600" b="1">
                          <a:solidFill>
                            <a:srgbClr val="00B050"/>
                          </a:solidFill>
                          <a:latin typeface="Comic Sans MS" panose="030F0702030302020204" pitchFamily="66" charset="0"/>
                        </a:rPr>
                        <a:t>Touchscreen</a:t>
                      </a:r>
                      <a:endParaRPr lang="en-IN" sz="1600">
                        <a:solidFill>
                          <a:srgbClr val="00B050"/>
                        </a:solidFill>
                        <a:latin typeface="Comic Sans MS" panose="030F0702030302020204" pitchFamily="66" charset="0"/>
                      </a:endParaRPr>
                    </a:p>
                  </a:txBody>
                  <a:tcPr marL="81806" marR="81806" marT="40903" marB="40903" anchor="ctr"/>
                </a:tc>
                <a:tc>
                  <a:txBody>
                    <a:bodyPr/>
                    <a:lstStyle/>
                    <a:p>
                      <a:r>
                        <a:rPr lang="en-US" sz="1600">
                          <a:solidFill>
                            <a:srgbClr val="00B0F0"/>
                          </a:solidFill>
                          <a:latin typeface="Comic Sans MS" panose="030F0702030302020204" pitchFamily="66" charset="0"/>
                        </a:rPr>
                        <a:t>Indicates whether the laptop has a touchscreen (Yes/No or True/False)</a:t>
                      </a:r>
                    </a:p>
                  </a:txBody>
                  <a:tcPr marL="81806" marR="81806" marT="40903" marB="40903" anchor="ctr"/>
                </a:tc>
                <a:extLst>
                  <a:ext uri="{0D108BD9-81ED-4DB2-BD59-A6C34878D82A}">
                    <a16:rowId xmlns:a16="http://schemas.microsoft.com/office/drawing/2014/main" val="3738677456"/>
                  </a:ext>
                </a:extLst>
              </a:tr>
              <a:tr h="667419">
                <a:tc>
                  <a:txBody>
                    <a:bodyPr/>
                    <a:lstStyle/>
                    <a:p>
                      <a:r>
                        <a:rPr lang="en-IN" sz="1600" b="1">
                          <a:solidFill>
                            <a:srgbClr val="00B050"/>
                          </a:solidFill>
                          <a:latin typeface="Comic Sans MS" panose="030F0702030302020204" pitchFamily="66" charset="0"/>
                        </a:rPr>
                        <a:t>IPSpanel</a:t>
                      </a:r>
                      <a:endParaRPr lang="en-IN" sz="1600">
                        <a:solidFill>
                          <a:srgbClr val="00B050"/>
                        </a:solidFill>
                        <a:latin typeface="Comic Sans MS" panose="030F0702030302020204" pitchFamily="66" charset="0"/>
                      </a:endParaRPr>
                    </a:p>
                  </a:txBody>
                  <a:tcPr marL="81806" marR="81806" marT="40903" marB="40903" anchor="ctr"/>
                </a:tc>
                <a:tc>
                  <a:txBody>
                    <a:bodyPr/>
                    <a:lstStyle/>
                    <a:p>
                      <a:r>
                        <a:rPr lang="en-US" sz="1600">
                          <a:solidFill>
                            <a:srgbClr val="00B0F0"/>
                          </a:solidFill>
                          <a:latin typeface="Comic Sans MS" panose="030F0702030302020204" pitchFamily="66" charset="0"/>
                        </a:rPr>
                        <a:t>Indicates whether the laptop screen uses IPS panel technology</a:t>
                      </a:r>
                    </a:p>
                  </a:txBody>
                  <a:tcPr marL="81806" marR="81806" marT="40903" marB="40903" anchor="ctr"/>
                </a:tc>
                <a:extLst>
                  <a:ext uri="{0D108BD9-81ED-4DB2-BD59-A6C34878D82A}">
                    <a16:rowId xmlns:a16="http://schemas.microsoft.com/office/drawing/2014/main" val="2389618303"/>
                  </a:ext>
                </a:extLst>
              </a:tr>
              <a:tr h="667419">
                <a:tc>
                  <a:txBody>
                    <a:bodyPr/>
                    <a:lstStyle/>
                    <a:p>
                      <a:r>
                        <a:rPr lang="en-IN" sz="1600" b="1">
                          <a:solidFill>
                            <a:srgbClr val="00B050"/>
                          </a:solidFill>
                          <a:latin typeface="Comic Sans MS" panose="030F0702030302020204" pitchFamily="66" charset="0"/>
                        </a:rPr>
                        <a:t>RetinaDisplay</a:t>
                      </a:r>
                      <a:endParaRPr lang="en-IN" sz="1600">
                        <a:solidFill>
                          <a:srgbClr val="00B050"/>
                        </a:solidFill>
                        <a:latin typeface="Comic Sans MS" panose="030F0702030302020204" pitchFamily="66" charset="0"/>
                      </a:endParaRPr>
                    </a:p>
                  </a:txBody>
                  <a:tcPr marL="81806" marR="81806" marT="40903" marB="40903" anchor="ctr"/>
                </a:tc>
                <a:tc>
                  <a:txBody>
                    <a:bodyPr/>
                    <a:lstStyle/>
                    <a:p>
                      <a:r>
                        <a:rPr lang="en-US" sz="1600">
                          <a:solidFill>
                            <a:srgbClr val="00B0F0"/>
                          </a:solidFill>
                          <a:latin typeface="Comic Sans MS" panose="030F0702030302020204" pitchFamily="66" charset="0"/>
                        </a:rPr>
                        <a:t>Indicates whether the laptop has a Retina Display (typically for Apple devices)</a:t>
                      </a:r>
                    </a:p>
                  </a:txBody>
                  <a:tcPr marL="81806" marR="81806" marT="40903" marB="40903" anchor="ctr"/>
                </a:tc>
                <a:extLst>
                  <a:ext uri="{0D108BD9-81ED-4DB2-BD59-A6C34878D82A}">
                    <a16:rowId xmlns:a16="http://schemas.microsoft.com/office/drawing/2014/main" val="793768738"/>
                  </a:ext>
                </a:extLst>
              </a:tr>
              <a:tr h="381381">
                <a:tc>
                  <a:txBody>
                    <a:bodyPr/>
                    <a:lstStyle/>
                    <a:p>
                      <a:r>
                        <a:rPr lang="en-IN" sz="1600" b="1">
                          <a:solidFill>
                            <a:srgbClr val="00B050"/>
                          </a:solidFill>
                          <a:latin typeface="Comic Sans MS" panose="030F0702030302020204" pitchFamily="66" charset="0"/>
                        </a:rPr>
                        <a:t>CPU_company</a:t>
                      </a:r>
                      <a:endParaRPr lang="en-IN" sz="1600">
                        <a:solidFill>
                          <a:srgbClr val="00B050"/>
                        </a:solidFill>
                        <a:latin typeface="Comic Sans MS" panose="030F0702030302020204" pitchFamily="66" charset="0"/>
                      </a:endParaRPr>
                    </a:p>
                  </a:txBody>
                  <a:tcPr marL="81806" marR="81806" marT="40903" marB="40903" anchor="ctr"/>
                </a:tc>
                <a:tc>
                  <a:txBody>
                    <a:bodyPr/>
                    <a:lstStyle/>
                    <a:p>
                      <a:r>
                        <a:rPr lang="en-US" sz="1600">
                          <a:solidFill>
                            <a:srgbClr val="00B0F0"/>
                          </a:solidFill>
                          <a:latin typeface="Comic Sans MS" panose="030F0702030302020204" pitchFamily="66" charset="0"/>
                        </a:rPr>
                        <a:t>Manufacturer of the processor (e.g., Intel, AMD)</a:t>
                      </a:r>
                    </a:p>
                  </a:txBody>
                  <a:tcPr marL="81806" marR="81806" marT="40903" marB="40903" anchor="ctr"/>
                </a:tc>
                <a:extLst>
                  <a:ext uri="{0D108BD9-81ED-4DB2-BD59-A6C34878D82A}">
                    <a16:rowId xmlns:a16="http://schemas.microsoft.com/office/drawing/2014/main" val="2649939727"/>
                  </a:ext>
                </a:extLst>
              </a:tr>
              <a:tr h="381381">
                <a:tc>
                  <a:txBody>
                    <a:bodyPr/>
                    <a:lstStyle/>
                    <a:p>
                      <a:r>
                        <a:rPr lang="en-IN" sz="1600" b="1">
                          <a:solidFill>
                            <a:srgbClr val="00B050"/>
                          </a:solidFill>
                          <a:latin typeface="Comic Sans MS" panose="030F0702030302020204" pitchFamily="66" charset="0"/>
                        </a:rPr>
                        <a:t>CPU_freq</a:t>
                      </a:r>
                      <a:endParaRPr lang="en-IN" sz="1600">
                        <a:solidFill>
                          <a:srgbClr val="00B050"/>
                        </a:solidFill>
                        <a:latin typeface="Comic Sans MS" panose="030F0702030302020204" pitchFamily="66" charset="0"/>
                      </a:endParaRPr>
                    </a:p>
                  </a:txBody>
                  <a:tcPr marL="81806" marR="81806" marT="40903" marB="40903" anchor="ctr"/>
                </a:tc>
                <a:tc>
                  <a:txBody>
                    <a:bodyPr/>
                    <a:lstStyle/>
                    <a:p>
                      <a:r>
                        <a:rPr lang="en-US" sz="1600">
                          <a:solidFill>
                            <a:srgbClr val="00B0F0"/>
                          </a:solidFill>
                          <a:latin typeface="Comic Sans MS" panose="030F0702030302020204" pitchFamily="66" charset="0"/>
                        </a:rPr>
                        <a:t>Base frequency of the CPU (in GHz)</a:t>
                      </a:r>
                    </a:p>
                  </a:txBody>
                  <a:tcPr marL="81806" marR="81806" marT="40903" marB="40903" anchor="ctr"/>
                </a:tc>
                <a:extLst>
                  <a:ext uri="{0D108BD9-81ED-4DB2-BD59-A6C34878D82A}">
                    <a16:rowId xmlns:a16="http://schemas.microsoft.com/office/drawing/2014/main" val="3310809427"/>
                  </a:ext>
                </a:extLst>
              </a:tr>
              <a:tr h="381381">
                <a:tc>
                  <a:txBody>
                    <a:bodyPr/>
                    <a:lstStyle/>
                    <a:p>
                      <a:r>
                        <a:rPr lang="en-IN" sz="1600" b="1">
                          <a:solidFill>
                            <a:srgbClr val="00B050"/>
                          </a:solidFill>
                          <a:latin typeface="Comic Sans MS" panose="030F0702030302020204" pitchFamily="66" charset="0"/>
                        </a:rPr>
                        <a:t>CPU_model</a:t>
                      </a:r>
                      <a:endParaRPr lang="en-IN" sz="1600">
                        <a:solidFill>
                          <a:srgbClr val="00B050"/>
                        </a:solidFill>
                        <a:latin typeface="Comic Sans MS" panose="030F0702030302020204" pitchFamily="66" charset="0"/>
                      </a:endParaRPr>
                    </a:p>
                  </a:txBody>
                  <a:tcPr marL="81806" marR="81806" marT="40903" marB="40903" anchor="ctr"/>
                </a:tc>
                <a:tc>
                  <a:txBody>
                    <a:bodyPr/>
                    <a:lstStyle/>
                    <a:p>
                      <a:r>
                        <a:rPr lang="en-US" sz="1600">
                          <a:solidFill>
                            <a:srgbClr val="00B0F0"/>
                          </a:solidFill>
                          <a:latin typeface="Comic Sans MS" panose="030F0702030302020204" pitchFamily="66" charset="0"/>
                        </a:rPr>
                        <a:t>Model name or number of the CPU (e.g., i5-8250U)</a:t>
                      </a:r>
                    </a:p>
                  </a:txBody>
                  <a:tcPr marL="81806" marR="81806" marT="40903" marB="40903" anchor="ctr"/>
                </a:tc>
                <a:extLst>
                  <a:ext uri="{0D108BD9-81ED-4DB2-BD59-A6C34878D82A}">
                    <a16:rowId xmlns:a16="http://schemas.microsoft.com/office/drawing/2014/main" val="297866783"/>
                  </a:ext>
                </a:extLst>
              </a:tr>
              <a:tr h="381381">
                <a:tc>
                  <a:txBody>
                    <a:bodyPr/>
                    <a:lstStyle/>
                    <a:p>
                      <a:r>
                        <a:rPr lang="en-IN" sz="1600" b="1">
                          <a:solidFill>
                            <a:srgbClr val="00B050"/>
                          </a:solidFill>
                          <a:latin typeface="Comic Sans MS" panose="030F0702030302020204" pitchFamily="66" charset="0"/>
                        </a:rPr>
                        <a:t>PrimaryStorage</a:t>
                      </a:r>
                      <a:endParaRPr lang="en-IN" sz="1600">
                        <a:solidFill>
                          <a:srgbClr val="00B050"/>
                        </a:solidFill>
                        <a:latin typeface="Comic Sans MS" panose="030F0702030302020204" pitchFamily="66" charset="0"/>
                      </a:endParaRPr>
                    </a:p>
                  </a:txBody>
                  <a:tcPr marL="81806" marR="81806" marT="40903" marB="40903" anchor="ctr"/>
                </a:tc>
                <a:tc>
                  <a:txBody>
                    <a:bodyPr/>
                    <a:lstStyle/>
                    <a:p>
                      <a:r>
                        <a:rPr lang="en-US" sz="1600">
                          <a:solidFill>
                            <a:srgbClr val="00B0F0"/>
                          </a:solidFill>
                          <a:latin typeface="Comic Sans MS" panose="030F0702030302020204" pitchFamily="66" charset="0"/>
                        </a:rPr>
                        <a:t>Size of the primary storage drive (in GB)</a:t>
                      </a:r>
                    </a:p>
                  </a:txBody>
                  <a:tcPr marL="81806" marR="81806" marT="40903" marB="40903" anchor="ctr"/>
                </a:tc>
                <a:extLst>
                  <a:ext uri="{0D108BD9-81ED-4DB2-BD59-A6C34878D82A}">
                    <a16:rowId xmlns:a16="http://schemas.microsoft.com/office/drawing/2014/main" val="573121764"/>
                  </a:ext>
                </a:extLst>
              </a:tr>
              <a:tr h="381381">
                <a:tc>
                  <a:txBody>
                    <a:bodyPr/>
                    <a:lstStyle/>
                    <a:p>
                      <a:r>
                        <a:rPr lang="en-IN" sz="1600" b="1">
                          <a:solidFill>
                            <a:srgbClr val="00B050"/>
                          </a:solidFill>
                          <a:latin typeface="Comic Sans MS" panose="030F0702030302020204" pitchFamily="66" charset="0"/>
                        </a:rPr>
                        <a:t>SecondaryStorage</a:t>
                      </a:r>
                      <a:endParaRPr lang="en-IN" sz="1600">
                        <a:solidFill>
                          <a:srgbClr val="00B050"/>
                        </a:solidFill>
                        <a:latin typeface="Comic Sans MS" panose="030F0702030302020204" pitchFamily="66" charset="0"/>
                      </a:endParaRPr>
                    </a:p>
                  </a:txBody>
                  <a:tcPr marL="81806" marR="81806" marT="40903" marB="40903" anchor="ctr"/>
                </a:tc>
                <a:tc>
                  <a:txBody>
                    <a:bodyPr/>
                    <a:lstStyle/>
                    <a:p>
                      <a:r>
                        <a:rPr lang="en-US" sz="1600">
                          <a:solidFill>
                            <a:srgbClr val="00B0F0"/>
                          </a:solidFill>
                          <a:latin typeface="Comic Sans MS" panose="030F0702030302020204" pitchFamily="66" charset="0"/>
                        </a:rPr>
                        <a:t>Size of the secondary storage drive (in GB), if available</a:t>
                      </a:r>
                    </a:p>
                  </a:txBody>
                  <a:tcPr marL="81806" marR="81806" marT="40903" marB="40903" anchor="ctr"/>
                </a:tc>
                <a:extLst>
                  <a:ext uri="{0D108BD9-81ED-4DB2-BD59-A6C34878D82A}">
                    <a16:rowId xmlns:a16="http://schemas.microsoft.com/office/drawing/2014/main" val="2500145289"/>
                  </a:ext>
                </a:extLst>
              </a:tr>
              <a:tr h="381381">
                <a:tc>
                  <a:txBody>
                    <a:bodyPr/>
                    <a:lstStyle/>
                    <a:p>
                      <a:r>
                        <a:rPr lang="en-IN" sz="1600" b="1" dirty="0" err="1">
                          <a:solidFill>
                            <a:srgbClr val="00B050"/>
                          </a:solidFill>
                          <a:latin typeface="Comic Sans MS" panose="030F0702030302020204" pitchFamily="66" charset="0"/>
                        </a:rPr>
                        <a:t>PrimaryStorageType</a:t>
                      </a:r>
                      <a:endParaRPr lang="en-IN" sz="1600" dirty="0">
                        <a:solidFill>
                          <a:srgbClr val="00B050"/>
                        </a:solidFill>
                        <a:latin typeface="Comic Sans MS" panose="030F0702030302020204" pitchFamily="66" charset="0"/>
                      </a:endParaRPr>
                    </a:p>
                  </a:txBody>
                  <a:tcPr marL="81806" marR="81806" marT="40903" marB="40903" anchor="ctr"/>
                </a:tc>
                <a:tc>
                  <a:txBody>
                    <a:bodyPr/>
                    <a:lstStyle/>
                    <a:p>
                      <a:r>
                        <a:rPr lang="en-US" sz="1600">
                          <a:solidFill>
                            <a:srgbClr val="00B0F0"/>
                          </a:solidFill>
                          <a:latin typeface="Comic Sans MS" panose="030F0702030302020204" pitchFamily="66" charset="0"/>
                        </a:rPr>
                        <a:t>Type of primary storage (e.g., SSD, HDD)</a:t>
                      </a:r>
                    </a:p>
                  </a:txBody>
                  <a:tcPr marL="81806" marR="81806" marT="40903" marB="40903" anchor="ctr"/>
                </a:tc>
                <a:extLst>
                  <a:ext uri="{0D108BD9-81ED-4DB2-BD59-A6C34878D82A}">
                    <a16:rowId xmlns:a16="http://schemas.microsoft.com/office/drawing/2014/main" val="2439281262"/>
                  </a:ext>
                </a:extLst>
              </a:tr>
              <a:tr h="381381">
                <a:tc>
                  <a:txBody>
                    <a:bodyPr/>
                    <a:lstStyle/>
                    <a:p>
                      <a:r>
                        <a:rPr lang="en-IN" sz="1600" b="1">
                          <a:solidFill>
                            <a:srgbClr val="00B050"/>
                          </a:solidFill>
                          <a:latin typeface="Comic Sans MS" panose="030F0702030302020204" pitchFamily="66" charset="0"/>
                        </a:rPr>
                        <a:t>SecondaryStorageType</a:t>
                      </a:r>
                      <a:endParaRPr lang="en-IN" sz="1600">
                        <a:solidFill>
                          <a:srgbClr val="00B050"/>
                        </a:solidFill>
                        <a:latin typeface="Comic Sans MS" panose="030F0702030302020204" pitchFamily="66" charset="0"/>
                      </a:endParaRPr>
                    </a:p>
                  </a:txBody>
                  <a:tcPr marL="81806" marR="81806" marT="40903" marB="40903" anchor="ctr"/>
                </a:tc>
                <a:tc>
                  <a:txBody>
                    <a:bodyPr/>
                    <a:lstStyle/>
                    <a:p>
                      <a:r>
                        <a:rPr lang="en-US" sz="1600">
                          <a:solidFill>
                            <a:srgbClr val="00B0F0"/>
                          </a:solidFill>
                          <a:latin typeface="Comic Sans MS" panose="030F0702030302020204" pitchFamily="66" charset="0"/>
                        </a:rPr>
                        <a:t>Type of secondary storage (e.g., SSD, HDD)</a:t>
                      </a:r>
                    </a:p>
                  </a:txBody>
                  <a:tcPr marL="81806" marR="81806" marT="40903" marB="40903" anchor="ctr"/>
                </a:tc>
                <a:extLst>
                  <a:ext uri="{0D108BD9-81ED-4DB2-BD59-A6C34878D82A}">
                    <a16:rowId xmlns:a16="http://schemas.microsoft.com/office/drawing/2014/main" val="3809900034"/>
                  </a:ext>
                </a:extLst>
              </a:tr>
              <a:tr h="846752">
                <a:tc>
                  <a:txBody>
                    <a:bodyPr/>
                    <a:lstStyle/>
                    <a:p>
                      <a:r>
                        <a:rPr lang="en-IN" sz="1600" b="1">
                          <a:solidFill>
                            <a:srgbClr val="00B050"/>
                          </a:solidFill>
                          <a:latin typeface="Comic Sans MS" panose="030F0702030302020204" pitchFamily="66" charset="0"/>
                        </a:rPr>
                        <a:t>GPU_company</a:t>
                      </a:r>
                      <a:endParaRPr lang="en-IN" sz="1600">
                        <a:solidFill>
                          <a:srgbClr val="00B050"/>
                        </a:solidFill>
                        <a:latin typeface="Comic Sans MS" panose="030F0702030302020204" pitchFamily="66" charset="0"/>
                      </a:endParaRPr>
                    </a:p>
                  </a:txBody>
                  <a:tcPr marL="81806" marR="81806" marT="40903" marB="40903" anchor="ctr"/>
                </a:tc>
                <a:tc>
                  <a:txBody>
                    <a:bodyPr/>
                    <a:lstStyle/>
                    <a:p>
                      <a:r>
                        <a:rPr lang="en-US" sz="1600">
                          <a:solidFill>
                            <a:srgbClr val="00B0F0"/>
                          </a:solidFill>
                          <a:latin typeface="Comic Sans MS" panose="030F0702030302020204" pitchFamily="66" charset="0"/>
                        </a:rPr>
                        <a:t>Manufacturer of the Graphics Processing Unit (e.g., NVIDIA, Intel)</a:t>
                      </a:r>
                    </a:p>
                  </a:txBody>
                  <a:tcPr marL="81806" marR="81806" marT="40903" marB="40903" anchor="ctr"/>
                </a:tc>
                <a:extLst>
                  <a:ext uri="{0D108BD9-81ED-4DB2-BD59-A6C34878D82A}">
                    <a16:rowId xmlns:a16="http://schemas.microsoft.com/office/drawing/2014/main" val="3979665897"/>
                  </a:ext>
                </a:extLst>
              </a:tr>
              <a:tr h="342622">
                <a:tc>
                  <a:txBody>
                    <a:bodyPr/>
                    <a:lstStyle/>
                    <a:p>
                      <a:r>
                        <a:rPr lang="en-IN" sz="1600" b="1" dirty="0" err="1">
                          <a:solidFill>
                            <a:srgbClr val="00B050"/>
                          </a:solidFill>
                          <a:latin typeface="Comic Sans MS" panose="030F0702030302020204" pitchFamily="66" charset="0"/>
                        </a:rPr>
                        <a:t>GPU_model</a:t>
                      </a:r>
                      <a:endParaRPr lang="en-IN" sz="1600" dirty="0">
                        <a:solidFill>
                          <a:srgbClr val="00B050"/>
                        </a:solidFill>
                        <a:latin typeface="Comic Sans MS" panose="030F0702030302020204" pitchFamily="66" charset="0"/>
                      </a:endParaRPr>
                    </a:p>
                  </a:txBody>
                  <a:tcPr marL="81806" marR="81806" marT="40903" marB="40903" anchor="ctr"/>
                </a:tc>
                <a:tc>
                  <a:txBody>
                    <a:bodyPr/>
                    <a:lstStyle/>
                    <a:p>
                      <a:r>
                        <a:rPr lang="en-US" sz="1600" dirty="0">
                          <a:solidFill>
                            <a:srgbClr val="00B0F0"/>
                          </a:solidFill>
                          <a:latin typeface="Comic Sans MS" panose="030F0702030302020204" pitchFamily="66" charset="0"/>
                        </a:rPr>
                        <a:t>Model name or number of the GPU</a:t>
                      </a:r>
                    </a:p>
                  </a:txBody>
                  <a:tcPr marL="81806" marR="81806" marT="40903" marB="40903" anchor="ctr"/>
                </a:tc>
                <a:extLst>
                  <a:ext uri="{0D108BD9-81ED-4DB2-BD59-A6C34878D82A}">
                    <a16:rowId xmlns:a16="http://schemas.microsoft.com/office/drawing/2014/main" val="3627963246"/>
                  </a:ext>
                </a:extLst>
              </a:tr>
            </a:tbl>
          </a:graphicData>
        </a:graphic>
      </p:graphicFrame>
    </p:spTree>
    <p:extLst>
      <p:ext uri="{BB962C8B-B14F-4D97-AF65-F5344CB8AC3E}">
        <p14:creationId xmlns:p14="http://schemas.microsoft.com/office/powerpoint/2010/main" val="4088826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DD2D3-6983-D0E3-EB05-F0C6E657EC63}"/>
              </a:ext>
            </a:extLst>
          </p:cNvPr>
          <p:cNvSpPr>
            <a:spLocks noGrp="1"/>
          </p:cNvSpPr>
          <p:nvPr>
            <p:ph type="title"/>
          </p:nvPr>
        </p:nvSpPr>
        <p:spPr>
          <a:xfrm>
            <a:off x="0" y="141514"/>
            <a:ext cx="4767944" cy="539523"/>
          </a:xfrm>
        </p:spPr>
        <p:txBody>
          <a:bodyPr>
            <a:noAutofit/>
          </a:bodyPr>
          <a:lstStyle/>
          <a:p>
            <a:r>
              <a:rPr lang="en-US" sz="4000" b="1" dirty="0">
                <a:solidFill>
                  <a:srgbClr val="00B050"/>
                </a:solidFill>
              </a:rPr>
              <a:t>   Analysis Questions:</a:t>
            </a:r>
            <a:endParaRPr lang="en-IN" sz="4000" b="1" dirty="0">
              <a:solidFill>
                <a:srgbClr val="00B050"/>
              </a:solidFill>
            </a:endParaRPr>
          </a:p>
        </p:txBody>
      </p:sp>
      <p:sp>
        <p:nvSpPr>
          <p:cNvPr id="3" name="Content Placeholder 2">
            <a:extLst>
              <a:ext uri="{FF2B5EF4-FFF2-40B4-BE49-F238E27FC236}">
                <a16:creationId xmlns:a16="http://schemas.microsoft.com/office/drawing/2014/main" id="{DA31A5C2-2F87-2022-1F91-EE97B11E20D7}"/>
              </a:ext>
            </a:extLst>
          </p:cNvPr>
          <p:cNvSpPr>
            <a:spLocks noGrp="1"/>
          </p:cNvSpPr>
          <p:nvPr>
            <p:ph sz="half" idx="1"/>
          </p:nvPr>
        </p:nvSpPr>
        <p:spPr>
          <a:xfrm>
            <a:off x="163286" y="1001486"/>
            <a:ext cx="5856514" cy="5584372"/>
          </a:xfrm>
        </p:spPr>
        <p:txBody>
          <a:bodyPr>
            <a:normAutofit fontScale="85000" lnSpcReduction="20000"/>
          </a:bodyPr>
          <a:lstStyle/>
          <a:p>
            <a:r>
              <a:rPr lang="en-US" b="1" dirty="0">
                <a:solidFill>
                  <a:srgbClr val="00B050"/>
                </a:solidFill>
              </a:rPr>
              <a:t>Descriptive Analysis</a:t>
            </a:r>
          </a:p>
          <a:p>
            <a:r>
              <a:rPr lang="en-US" dirty="0">
                <a:solidFill>
                  <a:srgbClr val="00B050"/>
                </a:solidFill>
              </a:rPr>
              <a:t>(Summarizes counts, frequencies, and basic characteristics of the data)</a:t>
            </a:r>
          </a:p>
          <a:p>
            <a:pPr marL="514350" indent="-514350">
              <a:buFont typeface="+mj-lt"/>
              <a:buAutoNum type="arabicPeriod"/>
            </a:pPr>
            <a:r>
              <a:rPr lang="en-US" sz="2600" dirty="0"/>
              <a:t>Top 10 Best-Selling Laptop Brands</a:t>
            </a:r>
          </a:p>
          <a:p>
            <a:pPr marL="514350" indent="-514350">
              <a:buFont typeface="+mj-lt"/>
              <a:buAutoNum type="arabicPeriod"/>
            </a:pPr>
            <a:r>
              <a:rPr lang="en-US" sz="2600" dirty="0"/>
              <a:t>Highest-Selling Product per Company</a:t>
            </a:r>
          </a:p>
          <a:p>
            <a:pPr marL="514350" indent="-514350">
              <a:buFont typeface="+mj-lt"/>
              <a:buAutoNum type="arabicPeriod"/>
            </a:pPr>
            <a:r>
              <a:rPr lang="en-US" sz="2600" dirty="0"/>
              <a:t>Most Popular Product Type by Company</a:t>
            </a:r>
          </a:p>
          <a:p>
            <a:pPr marL="514350" indent="-514350">
              <a:buFont typeface="+mj-lt"/>
              <a:buAutoNum type="arabicPeriod"/>
            </a:pPr>
            <a:r>
              <a:rPr lang="en-US" sz="2600" dirty="0"/>
              <a:t>Most Frequently Used RAM Configuration</a:t>
            </a:r>
          </a:p>
          <a:p>
            <a:pPr marL="514350" indent="-514350">
              <a:buFont typeface="+mj-lt"/>
              <a:buAutoNum type="arabicPeriod"/>
            </a:pPr>
            <a:r>
              <a:rPr lang="en-US" sz="2600" dirty="0"/>
              <a:t>Operating System Distribution Across Companies</a:t>
            </a:r>
          </a:p>
          <a:p>
            <a:pPr marL="514350" indent="-514350">
              <a:buFont typeface="+mj-lt"/>
              <a:buAutoNum type="arabicPeriod"/>
            </a:pPr>
            <a:r>
              <a:rPr lang="en-US" sz="2600" dirty="0"/>
              <a:t>GPU Company Market Distribution</a:t>
            </a:r>
          </a:p>
          <a:p>
            <a:pPr marL="514350" indent="-514350">
              <a:buFont typeface="+mj-lt"/>
              <a:buAutoNum type="arabicPeriod"/>
            </a:pPr>
            <a:r>
              <a:rPr lang="en-US" sz="2600" dirty="0"/>
              <a:t>Top Laptop Manufacturers by Screen Type</a:t>
            </a:r>
          </a:p>
          <a:p>
            <a:pPr marL="514350" indent="-514350">
              <a:buFont typeface="+mj-lt"/>
              <a:buAutoNum type="arabicPeriod"/>
            </a:pPr>
            <a:r>
              <a:rPr lang="en-US" sz="2600" dirty="0"/>
              <a:t>Distribution of CPU Manufacturers</a:t>
            </a:r>
          </a:p>
          <a:p>
            <a:pPr marL="514350" indent="-514350">
              <a:buFont typeface="+mj-lt"/>
              <a:buAutoNum type="arabicPeriod"/>
            </a:pPr>
            <a:r>
              <a:rPr lang="en-US" sz="2600" dirty="0"/>
              <a:t>Distribution of Primary Storage Types</a:t>
            </a:r>
          </a:p>
          <a:p>
            <a:pPr marL="514350" indent="-514350">
              <a:buFont typeface="+mj-lt"/>
              <a:buAutoNum type="arabicPeriod"/>
            </a:pPr>
            <a:r>
              <a:rPr lang="en-US" sz="2600" dirty="0"/>
              <a:t>Distribution of Secondary Storage Types</a:t>
            </a:r>
          </a:p>
          <a:p>
            <a:pPr marL="514350" indent="-514350">
              <a:buFont typeface="+mj-lt"/>
              <a:buAutoNum type="arabicPeriod"/>
            </a:pPr>
            <a:r>
              <a:rPr lang="en-US" sz="2600" dirty="0"/>
              <a:t>Most Common GPU Models by Company</a:t>
            </a:r>
          </a:p>
          <a:p>
            <a:pPr marL="514350" indent="-514350">
              <a:buFont typeface="+mj-lt"/>
              <a:buAutoNum type="arabicPeriod"/>
            </a:pPr>
            <a:r>
              <a:rPr lang="en-US" sz="2600" dirty="0"/>
              <a:t>Segment Analysis</a:t>
            </a:r>
          </a:p>
          <a:p>
            <a:endParaRPr lang="en-IN" dirty="0"/>
          </a:p>
        </p:txBody>
      </p:sp>
      <p:sp>
        <p:nvSpPr>
          <p:cNvPr id="4" name="Content Placeholder 3">
            <a:extLst>
              <a:ext uri="{FF2B5EF4-FFF2-40B4-BE49-F238E27FC236}">
                <a16:creationId xmlns:a16="http://schemas.microsoft.com/office/drawing/2014/main" id="{454E6D9A-39CE-AD80-BD6D-B617B7A11CA1}"/>
              </a:ext>
            </a:extLst>
          </p:cNvPr>
          <p:cNvSpPr>
            <a:spLocks noGrp="1"/>
          </p:cNvSpPr>
          <p:nvPr>
            <p:ph sz="half" idx="2"/>
          </p:nvPr>
        </p:nvSpPr>
        <p:spPr>
          <a:xfrm>
            <a:off x="6302828" y="250372"/>
            <a:ext cx="5725886" cy="6607628"/>
          </a:xfrm>
        </p:spPr>
        <p:txBody>
          <a:bodyPr>
            <a:normAutofit fontScale="85000" lnSpcReduction="20000"/>
          </a:bodyPr>
          <a:lstStyle/>
          <a:p>
            <a:r>
              <a:rPr lang="en-US" b="1" dirty="0">
                <a:solidFill>
                  <a:srgbClr val="00B050"/>
                </a:solidFill>
              </a:rPr>
              <a:t>2.Distribution &amp; Category-Wise Analysis</a:t>
            </a:r>
          </a:p>
          <a:p>
            <a:r>
              <a:rPr lang="en-US" dirty="0">
                <a:solidFill>
                  <a:srgbClr val="00B050"/>
                </a:solidFill>
              </a:rPr>
              <a:t>(Examines averages, medians, and price trends across categories)</a:t>
            </a:r>
          </a:p>
          <a:p>
            <a:pPr marL="514350" indent="-514350">
              <a:buFont typeface="+mj-lt"/>
              <a:buAutoNum type="arabicPeriod"/>
            </a:pPr>
            <a:r>
              <a:rPr lang="en-US" sz="2600" dirty="0"/>
              <a:t>Market Share by Price Category Across Companies</a:t>
            </a:r>
          </a:p>
          <a:p>
            <a:pPr marL="514350" indent="-514350">
              <a:buFont typeface="+mj-lt"/>
              <a:buAutoNum type="arabicPeriod"/>
            </a:pPr>
            <a:r>
              <a:rPr lang="en-US" sz="2600" dirty="0"/>
              <a:t>Average Laptop Price Across CPU Frequency Ranges</a:t>
            </a:r>
          </a:p>
          <a:p>
            <a:pPr marL="514350" indent="-514350">
              <a:buFont typeface="+mj-lt"/>
              <a:buAutoNum type="arabicPeriod"/>
            </a:pPr>
            <a:r>
              <a:rPr lang="en-US" sz="2600" dirty="0"/>
              <a:t>Median Laptop Price by Weight Category</a:t>
            </a:r>
          </a:p>
          <a:p>
            <a:pPr marL="514350" indent="-514350">
              <a:buFont typeface="+mj-lt"/>
              <a:buAutoNum type="arabicPeriod"/>
            </a:pPr>
            <a:r>
              <a:rPr lang="en-US" sz="2600" dirty="0"/>
              <a:t>Average Laptop Price by RAM Capacity</a:t>
            </a:r>
          </a:p>
          <a:p>
            <a:pPr marL="514350" indent="-514350">
              <a:buFont typeface="+mj-lt"/>
              <a:buAutoNum type="arabicPeriod"/>
            </a:pPr>
            <a:r>
              <a:rPr lang="en-US" sz="2600" dirty="0"/>
              <a:t>Average Laptop Price by Operating System</a:t>
            </a:r>
          </a:p>
          <a:p>
            <a:pPr marL="514350" indent="-514350">
              <a:buFont typeface="+mj-lt"/>
              <a:buAutoNum type="arabicPeriod"/>
            </a:pPr>
            <a:r>
              <a:rPr lang="en-US" sz="2600" dirty="0"/>
              <a:t>Average Laptop Price by GPU Manufacturer</a:t>
            </a:r>
          </a:p>
          <a:p>
            <a:pPr marL="514350" indent="-514350">
              <a:buFont typeface="+mj-lt"/>
              <a:buAutoNum type="arabicPeriod"/>
            </a:pPr>
            <a:r>
              <a:rPr lang="en-US" sz="2600" dirty="0"/>
              <a:t>Average Laptop Price by Screen Type</a:t>
            </a:r>
          </a:p>
          <a:p>
            <a:pPr marL="514350" indent="-514350">
              <a:buFont typeface="+mj-lt"/>
              <a:buAutoNum type="arabicPeriod"/>
            </a:pPr>
            <a:r>
              <a:rPr lang="en-US" sz="2600" dirty="0"/>
              <a:t>Average Laptop Price by CPU Manufacturer</a:t>
            </a:r>
          </a:p>
          <a:p>
            <a:pPr marL="514350" indent="-514350">
              <a:buFont typeface="+mj-lt"/>
              <a:buAutoNum type="arabicPeriod"/>
            </a:pPr>
            <a:r>
              <a:rPr lang="en-US" sz="2600" dirty="0"/>
              <a:t>Laptop Price Trends by Primary Storage Capacity</a:t>
            </a:r>
          </a:p>
          <a:p>
            <a:pPr marL="514350" indent="-514350">
              <a:buFont typeface="+mj-lt"/>
              <a:buAutoNum type="arabicPeriod"/>
            </a:pPr>
            <a:r>
              <a:rPr lang="en-US" sz="2600" dirty="0"/>
              <a:t>Laptop Price Trends by Secondary Storage Capacity</a:t>
            </a:r>
          </a:p>
          <a:p>
            <a:pPr marL="514350" indent="-514350">
              <a:buFont typeface="+mj-lt"/>
              <a:buAutoNum type="arabicPeriod"/>
            </a:pPr>
            <a:r>
              <a:rPr lang="en-US" sz="2600" dirty="0"/>
              <a:t>Average Laptop Price by Primary Storage Size</a:t>
            </a:r>
          </a:p>
          <a:p>
            <a:pPr marL="514350" indent="-514350">
              <a:buFont typeface="+mj-lt"/>
              <a:buAutoNum type="arabicPeriod"/>
            </a:pPr>
            <a:r>
              <a:rPr lang="en-US" sz="2600" dirty="0"/>
              <a:t>GPU Company Market Share Overview</a:t>
            </a:r>
          </a:p>
          <a:p>
            <a:endParaRPr lang="en-IN" dirty="0"/>
          </a:p>
        </p:txBody>
      </p:sp>
    </p:spTree>
    <p:extLst>
      <p:ext uri="{BB962C8B-B14F-4D97-AF65-F5344CB8AC3E}">
        <p14:creationId xmlns:p14="http://schemas.microsoft.com/office/powerpoint/2010/main" val="2460228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45A17-2AD4-4B42-0BDA-CBD21A1B44BF}"/>
              </a:ext>
            </a:extLst>
          </p:cNvPr>
          <p:cNvSpPr>
            <a:spLocks noGrp="1"/>
          </p:cNvSpPr>
          <p:nvPr>
            <p:ph type="title"/>
          </p:nvPr>
        </p:nvSpPr>
        <p:spPr>
          <a:xfrm>
            <a:off x="152399" y="87087"/>
            <a:ext cx="11941629" cy="816427"/>
          </a:xfrm>
        </p:spPr>
        <p:txBody>
          <a:bodyPr/>
          <a:lstStyle/>
          <a:p>
            <a:r>
              <a:rPr lang="en-US" b="1" dirty="0">
                <a:solidFill>
                  <a:srgbClr val="00B050"/>
                </a:solidFill>
              </a:rPr>
              <a:t>Analysis Question:</a:t>
            </a:r>
            <a:endParaRPr lang="en-IN" b="1" dirty="0">
              <a:solidFill>
                <a:srgbClr val="00B050"/>
              </a:solidFill>
            </a:endParaRPr>
          </a:p>
        </p:txBody>
      </p:sp>
      <p:sp>
        <p:nvSpPr>
          <p:cNvPr id="3" name="Content Placeholder 2">
            <a:extLst>
              <a:ext uri="{FF2B5EF4-FFF2-40B4-BE49-F238E27FC236}">
                <a16:creationId xmlns:a16="http://schemas.microsoft.com/office/drawing/2014/main" id="{E1B5343E-5AFD-F7F0-C339-E2E44F4E5DE5}"/>
              </a:ext>
            </a:extLst>
          </p:cNvPr>
          <p:cNvSpPr>
            <a:spLocks noGrp="1"/>
          </p:cNvSpPr>
          <p:nvPr>
            <p:ph sz="half" idx="1"/>
          </p:nvPr>
        </p:nvSpPr>
        <p:spPr>
          <a:xfrm>
            <a:off x="228599" y="1110343"/>
            <a:ext cx="5867401" cy="5508171"/>
          </a:xfrm>
        </p:spPr>
        <p:txBody>
          <a:bodyPr/>
          <a:lstStyle/>
          <a:p>
            <a:r>
              <a:rPr lang="en-US" b="1" dirty="0">
                <a:solidFill>
                  <a:srgbClr val="00B050"/>
                </a:solidFill>
              </a:rPr>
              <a:t>Comparative / Ranking Analysis</a:t>
            </a:r>
          </a:p>
          <a:p>
            <a:r>
              <a:rPr lang="en-US" dirty="0">
                <a:solidFill>
                  <a:srgbClr val="00B050"/>
                </a:solidFill>
              </a:rPr>
              <a:t>(Compares and ranks entities based on top, bottom, or extreme values)</a:t>
            </a:r>
          </a:p>
          <a:p>
            <a:pPr marL="457200" indent="-457200">
              <a:buFont typeface="+mj-lt"/>
              <a:buAutoNum type="arabicPeriod"/>
            </a:pPr>
            <a:r>
              <a:rPr lang="en-US" sz="2400" dirty="0"/>
              <a:t>Top 10 Most Expensive Laptops Overall</a:t>
            </a:r>
          </a:p>
          <a:p>
            <a:pPr marL="457200" indent="-457200">
              <a:buFont typeface="+mj-lt"/>
              <a:buAutoNum type="arabicPeriod"/>
            </a:pPr>
            <a:r>
              <a:rPr lang="en-US" sz="2400" dirty="0"/>
              <a:t>Top 10 Most Affordable Laptops Overall</a:t>
            </a:r>
          </a:p>
          <a:p>
            <a:pPr marL="457200" indent="-457200">
              <a:buFont typeface="+mj-lt"/>
              <a:buAutoNum type="arabicPeriod"/>
            </a:pPr>
            <a:r>
              <a:rPr lang="en-US" sz="2400" dirty="0"/>
              <a:t>Most Premium Laptop per Company</a:t>
            </a:r>
          </a:p>
          <a:p>
            <a:pPr marL="457200" indent="-457200">
              <a:buFont typeface="+mj-lt"/>
              <a:buAutoNum type="arabicPeriod"/>
            </a:pPr>
            <a:r>
              <a:rPr lang="en-US" sz="2400" dirty="0"/>
              <a:t>Least Expensive Laptop per Company</a:t>
            </a:r>
          </a:p>
          <a:p>
            <a:pPr marL="457200" indent="-457200">
              <a:buFont typeface="+mj-lt"/>
              <a:buAutoNum type="arabicPeriod"/>
            </a:pPr>
            <a:r>
              <a:rPr lang="en-US" sz="2400" dirty="0"/>
              <a:t>Top 5 Companies Generating the Highest Revenue</a:t>
            </a:r>
          </a:p>
          <a:p>
            <a:endParaRPr lang="en-IN" dirty="0"/>
          </a:p>
        </p:txBody>
      </p:sp>
      <p:sp>
        <p:nvSpPr>
          <p:cNvPr id="4" name="Content Placeholder 3">
            <a:extLst>
              <a:ext uri="{FF2B5EF4-FFF2-40B4-BE49-F238E27FC236}">
                <a16:creationId xmlns:a16="http://schemas.microsoft.com/office/drawing/2014/main" id="{3E7B9E9A-936A-6B98-DE71-8F7CA7B479D0}"/>
              </a:ext>
            </a:extLst>
          </p:cNvPr>
          <p:cNvSpPr>
            <a:spLocks noGrp="1"/>
          </p:cNvSpPr>
          <p:nvPr>
            <p:ph sz="half" idx="2"/>
          </p:nvPr>
        </p:nvSpPr>
        <p:spPr>
          <a:xfrm>
            <a:off x="6553200" y="903514"/>
            <a:ext cx="5486400" cy="5421085"/>
          </a:xfrm>
        </p:spPr>
        <p:txBody>
          <a:bodyPr/>
          <a:lstStyle/>
          <a:p>
            <a:r>
              <a:rPr lang="en-US" b="1" dirty="0">
                <a:solidFill>
                  <a:srgbClr val="00B050"/>
                </a:solidFill>
              </a:rPr>
              <a:t>Correlation &amp; Relationship Analysis</a:t>
            </a:r>
          </a:p>
          <a:p>
            <a:r>
              <a:rPr lang="en-US" dirty="0">
                <a:solidFill>
                  <a:srgbClr val="00B050"/>
                </a:solidFill>
              </a:rPr>
              <a:t>(Finds relationships between numerical variables)</a:t>
            </a:r>
          </a:p>
          <a:p>
            <a:pPr marL="514350" indent="-514350">
              <a:buFont typeface="+mj-lt"/>
              <a:buAutoNum type="arabicPeriod"/>
            </a:pPr>
            <a:r>
              <a:rPr lang="en-US" dirty="0"/>
              <a:t>Relationship Between Laptop Weight and Price</a:t>
            </a:r>
          </a:p>
          <a:p>
            <a:pPr marL="514350" indent="-514350">
              <a:buFont typeface="+mj-lt"/>
              <a:buAutoNum type="arabicPeriod"/>
            </a:pPr>
            <a:r>
              <a:rPr lang="en-US" dirty="0"/>
              <a:t>Correlation Matrix of Numerical Features</a:t>
            </a:r>
          </a:p>
          <a:p>
            <a:endParaRPr lang="en-IN" dirty="0"/>
          </a:p>
        </p:txBody>
      </p:sp>
    </p:spTree>
    <p:extLst>
      <p:ext uri="{BB962C8B-B14F-4D97-AF65-F5344CB8AC3E}">
        <p14:creationId xmlns:p14="http://schemas.microsoft.com/office/powerpoint/2010/main" val="1635489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59E1A-77C8-9EBB-5BB5-4C3B10BDAA5A}"/>
              </a:ext>
            </a:extLst>
          </p:cNvPr>
          <p:cNvSpPr>
            <a:spLocks noGrp="1"/>
          </p:cNvSpPr>
          <p:nvPr>
            <p:ph type="title"/>
          </p:nvPr>
        </p:nvSpPr>
        <p:spPr>
          <a:xfrm>
            <a:off x="1839686" y="1099457"/>
            <a:ext cx="9024257" cy="1545772"/>
          </a:xfrm>
        </p:spPr>
        <p:txBody>
          <a:bodyPr>
            <a:normAutofit/>
          </a:bodyPr>
          <a:lstStyle/>
          <a:p>
            <a:r>
              <a:rPr lang="en-US" sz="6000" b="1" dirty="0">
                <a:solidFill>
                  <a:srgbClr val="FF0000"/>
                </a:solidFill>
                <a:latin typeface="+mn-lt"/>
              </a:rPr>
              <a:t>Exploratory Data Analysis</a:t>
            </a:r>
            <a:endParaRPr lang="en-IN" sz="6000" b="1" dirty="0">
              <a:solidFill>
                <a:srgbClr val="FF0000"/>
              </a:solidFill>
              <a:latin typeface="+mn-lt"/>
            </a:endParaRPr>
          </a:p>
        </p:txBody>
      </p:sp>
      <p:sp>
        <p:nvSpPr>
          <p:cNvPr id="3" name="Content Placeholder 2">
            <a:extLst>
              <a:ext uri="{FF2B5EF4-FFF2-40B4-BE49-F238E27FC236}">
                <a16:creationId xmlns:a16="http://schemas.microsoft.com/office/drawing/2014/main" id="{2858F7C0-966D-3192-3A82-D9238021F9D1}"/>
              </a:ext>
            </a:extLst>
          </p:cNvPr>
          <p:cNvSpPr>
            <a:spLocks noGrp="1"/>
          </p:cNvSpPr>
          <p:nvPr>
            <p:ph idx="1"/>
          </p:nvPr>
        </p:nvSpPr>
        <p:spPr>
          <a:xfrm>
            <a:off x="7620000" y="3701144"/>
            <a:ext cx="3352800" cy="968828"/>
          </a:xfrm>
        </p:spPr>
        <p:txBody>
          <a:bodyPr>
            <a:normAutofit/>
          </a:bodyPr>
          <a:lstStyle/>
          <a:p>
            <a:r>
              <a:rPr lang="en-US" sz="6000" b="1" dirty="0">
                <a:solidFill>
                  <a:srgbClr val="FFFF00"/>
                </a:solidFill>
              </a:rPr>
              <a:t>BY Sahil</a:t>
            </a:r>
            <a:endParaRPr lang="en-IN" sz="6000" b="1" dirty="0">
              <a:solidFill>
                <a:srgbClr val="FFFF00"/>
              </a:solidFill>
            </a:endParaRPr>
          </a:p>
        </p:txBody>
      </p:sp>
    </p:spTree>
    <p:extLst>
      <p:ext uri="{BB962C8B-B14F-4D97-AF65-F5344CB8AC3E}">
        <p14:creationId xmlns:p14="http://schemas.microsoft.com/office/powerpoint/2010/main" val="3387517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FA40B-AC8E-50A9-5476-C1FFC8A0B216}"/>
              </a:ext>
            </a:extLst>
          </p:cNvPr>
          <p:cNvSpPr>
            <a:spLocks noGrp="1"/>
          </p:cNvSpPr>
          <p:nvPr>
            <p:ph type="title"/>
          </p:nvPr>
        </p:nvSpPr>
        <p:spPr>
          <a:xfrm>
            <a:off x="141514" y="185058"/>
            <a:ext cx="11734799" cy="925285"/>
          </a:xfrm>
        </p:spPr>
        <p:txBody>
          <a:bodyPr/>
          <a:lstStyle/>
          <a:p>
            <a:r>
              <a:rPr lang="en-US" b="1" dirty="0">
                <a:solidFill>
                  <a:srgbClr val="00B050"/>
                </a:solidFill>
                <a:latin typeface="+mn-lt"/>
              </a:rPr>
              <a:t>1.Top 10 Most Selling Laptop Brand</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189072B5-6E77-A13A-E277-B927B6A29EAA}"/>
              </a:ext>
            </a:extLst>
          </p:cNvPr>
          <p:cNvPicPr>
            <a:picLocks noGrp="1" noChangeAspect="1"/>
          </p:cNvPicPr>
          <p:nvPr>
            <p:ph sz="half" idx="1"/>
          </p:nvPr>
        </p:nvPicPr>
        <p:blipFill>
          <a:blip r:embed="rId2"/>
          <a:stretch>
            <a:fillRect/>
          </a:stretch>
        </p:blipFill>
        <p:spPr>
          <a:xfrm>
            <a:off x="141514" y="1317171"/>
            <a:ext cx="6792686" cy="5453743"/>
          </a:xfrm>
        </p:spPr>
      </p:pic>
      <p:sp>
        <p:nvSpPr>
          <p:cNvPr id="4" name="Content Placeholder 3">
            <a:extLst>
              <a:ext uri="{FF2B5EF4-FFF2-40B4-BE49-F238E27FC236}">
                <a16:creationId xmlns:a16="http://schemas.microsoft.com/office/drawing/2014/main" id="{3C7DC8C0-259F-5D0F-F6C2-6C09812D96E3}"/>
              </a:ext>
            </a:extLst>
          </p:cNvPr>
          <p:cNvSpPr>
            <a:spLocks noGrp="1"/>
          </p:cNvSpPr>
          <p:nvPr>
            <p:ph sz="half" idx="2"/>
          </p:nvPr>
        </p:nvSpPr>
        <p:spPr>
          <a:xfrm>
            <a:off x="7097486" y="1317171"/>
            <a:ext cx="4953000" cy="5355770"/>
          </a:xfrm>
        </p:spPr>
        <p:txBody>
          <a:bodyPr>
            <a:normAutofit lnSpcReduction="10000"/>
          </a:bodyPr>
          <a:lstStyle/>
          <a:p>
            <a:r>
              <a:rPr lang="en-US" sz="2400" b="1" dirty="0">
                <a:solidFill>
                  <a:srgbClr val="00B0F0"/>
                </a:solidFill>
                <a:latin typeface="Comic Sans MS" panose="030F0702030302020204" pitchFamily="66" charset="0"/>
              </a:rPr>
              <a:t>INSIGHT</a:t>
            </a:r>
            <a:r>
              <a:rPr lang="en-US" sz="2400" dirty="0">
                <a:solidFill>
                  <a:srgbClr val="00B0F0"/>
                </a:solidFill>
                <a:latin typeface="Comic Sans MS" panose="030F0702030302020204" pitchFamily="66" charset="0"/>
              </a:rPr>
              <a:t>:</a:t>
            </a:r>
          </a:p>
          <a:p>
            <a:endParaRPr lang="en-US" sz="2400" dirty="0">
              <a:solidFill>
                <a:srgbClr val="00B0F0"/>
              </a:solidFill>
              <a:latin typeface="Comic Sans MS" panose="030F0702030302020204" pitchFamily="66" charset="0"/>
            </a:endParaRPr>
          </a:p>
          <a:p>
            <a:r>
              <a:rPr lang="en-US" sz="2400" dirty="0">
                <a:solidFill>
                  <a:srgbClr val="00B0F0"/>
                </a:solidFill>
                <a:latin typeface="Comic Sans MS" panose="030F0702030302020204" pitchFamily="66" charset="0"/>
              </a:rPr>
              <a:t> Dell leads the market with 291 units sold, closely followed by Lenovo with 289 units. </a:t>
            </a:r>
          </a:p>
          <a:p>
            <a:endParaRPr lang="en-US" sz="2400" dirty="0">
              <a:solidFill>
                <a:srgbClr val="00B0F0"/>
              </a:solidFill>
              <a:latin typeface="Comic Sans MS" panose="030F0702030302020204" pitchFamily="66" charset="0"/>
            </a:endParaRPr>
          </a:p>
          <a:p>
            <a:r>
              <a:rPr lang="en-US" sz="2400" dirty="0">
                <a:solidFill>
                  <a:srgbClr val="00B0F0"/>
                </a:solidFill>
                <a:latin typeface="Comic Sans MS" panose="030F0702030302020204" pitchFamily="66" charset="0"/>
              </a:rPr>
              <a:t>HP also maintains a strong presence with 268 units. </a:t>
            </a:r>
          </a:p>
          <a:p>
            <a:endParaRPr lang="en-US" sz="2400" dirty="0">
              <a:solidFill>
                <a:srgbClr val="00B0F0"/>
              </a:solidFill>
              <a:latin typeface="Comic Sans MS" panose="030F0702030302020204" pitchFamily="66" charset="0"/>
            </a:endParaRPr>
          </a:p>
          <a:p>
            <a:r>
              <a:rPr lang="en-US" sz="2400" dirty="0">
                <a:solidFill>
                  <a:srgbClr val="00B0F0"/>
                </a:solidFill>
                <a:latin typeface="Comic Sans MS" panose="030F0702030302020204" pitchFamily="66" charset="0"/>
              </a:rPr>
              <a:t>This data indicates that Dell, Lenovo, and HP dominate the market, potentially due to brand reputation, product availability, and consumer preferences.</a:t>
            </a:r>
            <a:endParaRPr lang="en-IN" sz="2400" dirty="0">
              <a:solidFill>
                <a:srgbClr val="00B0F0"/>
              </a:solidFill>
              <a:latin typeface="Comic Sans MS" panose="030F0702030302020204" pitchFamily="66" charset="0"/>
            </a:endParaRPr>
          </a:p>
        </p:txBody>
      </p:sp>
    </p:spTree>
    <p:extLst>
      <p:ext uri="{BB962C8B-B14F-4D97-AF65-F5344CB8AC3E}">
        <p14:creationId xmlns:p14="http://schemas.microsoft.com/office/powerpoint/2010/main" val="79658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073EB-439F-1512-6478-46B9D8E9C9BE}"/>
              </a:ext>
            </a:extLst>
          </p:cNvPr>
          <p:cNvSpPr>
            <a:spLocks noGrp="1"/>
          </p:cNvSpPr>
          <p:nvPr>
            <p:ph type="title"/>
          </p:nvPr>
        </p:nvSpPr>
        <p:spPr>
          <a:xfrm>
            <a:off x="108857" y="130630"/>
            <a:ext cx="11353799" cy="751114"/>
          </a:xfrm>
        </p:spPr>
        <p:txBody>
          <a:bodyPr>
            <a:normAutofit/>
          </a:bodyPr>
          <a:lstStyle/>
          <a:p>
            <a:r>
              <a:rPr lang="en-US" b="1" dirty="0">
                <a:solidFill>
                  <a:srgbClr val="00B050"/>
                </a:solidFill>
                <a:latin typeface="+mn-lt"/>
              </a:rPr>
              <a:t>2.Most Selling Product of Each Company</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F89CA734-8E1C-268B-4F90-BA8F47F176BC}"/>
              </a:ext>
            </a:extLst>
          </p:cNvPr>
          <p:cNvPicPr>
            <a:picLocks noGrp="1" noChangeAspect="1"/>
          </p:cNvPicPr>
          <p:nvPr>
            <p:ph sz="half" idx="1"/>
          </p:nvPr>
        </p:nvPicPr>
        <p:blipFill>
          <a:blip r:embed="rId2"/>
          <a:stretch>
            <a:fillRect/>
          </a:stretch>
        </p:blipFill>
        <p:spPr>
          <a:xfrm>
            <a:off x="185057" y="1001486"/>
            <a:ext cx="6716485" cy="5725884"/>
          </a:xfrm>
        </p:spPr>
      </p:pic>
      <p:sp>
        <p:nvSpPr>
          <p:cNvPr id="4" name="Content Placeholder 3">
            <a:extLst>
              <a:ext uri="{FF2B5EF4-FFF2-40B4-BE49-F238E27FC236}">
                <a16:creationId xmlns:a16="http://schemas.microsoft.com/office/drawing/2014/main" id="{3236950F-A6FD-4912-C64F-6EC34544E779}"/>
              </a:ext>
            </a:extLst>
          </p:cNvPr>
          <p:cNvSpPr>
            <a:spLocks noGrp="1"/>
          </p:cNvSpPr>
          <p:nvPr>
            <p:ph sz="half" idx="2"/>
          </p:nvPr>
        </p:nvSpPr>
        <p:spPr>
          <a:xfrm>
            <a:off x="7402286" y="881744"/>
            <a:ext cx="4680857" cy="5845626"/>
          </a:xfrm>
        </p:spPr>
        <p:txBody>
          <a:bodyPr>
            <a:noAutofit/>
          </a:bodyPr>
          <a:lstStyle/>
          <a:p>
            <a:r>
              <a:rPr lang="en-US" sz="1600" dirty="0">
                <a:solidFill>
                  <a:srgbClr val="00B050"/>
                </a:solidFill>
                <a:latin typeface="Comic Sans MS" panose="030F0702030302020204" pitchFamily="66" charset="0"/>
              </a:rPr>
              <a:t>INSIGHT:</a:t>
            </a:r>
          </a:p>
          <a:p>
            <a:pPr marL="0" indent="0">
              <a:buNone/>
            </a:pPr>
            <a:r>
              <a:rPr lang="en-US" sz="1600" dirty="0">
                <a:solidFill>
                  <a:srgbClr val="00B0F0"/>
                </a:solidFill>
                <a:latin typeface="Comic Sans MS" panose="030F0702030302020204" pitchFamily="66" charset="0"/>
              </a:rPr>
              <a:t>THE CHART REPRESENT THE MOST SELLING LAPTOP PRODUCT FROM EACH COMPANY:</a:t>
            </a:r>
          </a:p>
          <a:p>
            <a:pPr marL="0" indent="0">
              <a:buNone/>
            </a:pPr>
            <a:r>
              <a:rPr lang="en-US" sz="1600" dirty="0">
                <a:solidFill>
                  <a:srgbClr val="00B050"/>
                </a:solidFill>
                <a:latin typeface="Comic Sans MS" panose="030F0702030302020204" pitchFamily="66" charset="0"/>
              </a:rPr>
              <a:t>DELL XPS 13 </a:t>
            </a:r>
            <a:r>
              <a:rPr lang="en-US" sz="1600" dirty="0">
                <a:solidFill>
                  <a:srgbClr val="00B0F0"/>
                </a:solidFill>
                <a:latin typeface="Comic Sans MS" panose="030F0702030302020204" pitchFamily="66" charset="0"/>
              </a:rPr>
              <a:t>IS THE MOST SELLING PRODUCT FOLLOWED BY</a:t>
            </a:r>
            <a:r>
              <a:rPr lang="en-US" sz="1600" dirty="0">
                <a:solidFill>
                  <a:srgbClr val="00B050"/>
                </a:solidFill>
                <a:latin typeface="Comic Sans MS" panose="030F0702030302020204" pitchFamily="66" charset="0"/>
              </a:rPr>
              <a:t> HP 250 G6 </a:t>
            </a:r>
            <a:r>
              <a:rPr lang="en-US" sz="1600" dirty="0">
                <a:solidFill>
                  <a:srgbClr val="00B0F0"/>
                </a:solidFill>
                <a:latin typeface="Comic Sans MS" panose="030F0702030302020204" pitchFamily="66" charset="0"/>
              </a:rPr>
              <a:t>, </a:t>
            </a:r>
            <a:r>
              <a:rPr lang="en-US" sz="1600" dirty="0">
                <a:solidFill>
                  <a:srgbClr val="00B050"/>
                </a:solidFill>
                <a:latin typeface="Comic Sans MS" panose="030F0702030302020204" pitchFamily="66" charset="0"/>
              </a:rPr>
              <a:t>LENOVO'S LEGION Y520-15IKBN AND TOSHIBA'S</a:t>
            </a:r>
            <a:r>
              <a:rPr lang="en-US" sz="1600" dirty="0">
                <a:solidFill>
                  <a:srgbClr val="00B0F0"/>
                </a:solidFill>
                <a:latin typeface="Comic Sans MS" panose="030F0702030302020204" pitchFamily="66" charset="0"/>
              </a:rPr>
              <a:t> SATELLITE PRO ALSO HAVE NOTABLE SALES, WITH 19 AND 13 UNITS RESPECTIVELY.</a:t>
            </a:r>
          </a:p>
          <a:p>
            <a:pPr marL="0" indent="0">
              <a:buNone/>
            </a:pPr>
            <a:r>
              <a:rPr lang="en-US" sz="1600" dirty="0">
                <a:solidFill>
                  <a:srgbClr val="00B050"/>
                </a:solidFill>
                <a:latin typeface="Comic Sans MS" panose="030F0702030302020204" pitchFamily="66" charset="0"/>
              </a:rPr>
              <a:t>Reason why these products are top selling: </a:t>
            </a:r>
          </a:p>
          <a:p>
            <a:r>
              <a:rPr lang="en-US" sz="1600" dirty="0">
                <a:solidFill>
                  <a:srgbClr val="00B0F0"/>
                </a:solidFill>
                <a:latin typeface="Comic Sans MS" panose="030F0702030302020204" pitchFamily="66" charset="0"/>
              </a:rPr>
              <a:t>1. Premium Build Quality.</a:t>
            </a:r>
          </a:p>
          <a:p>
            <a:r>
              <a:rPr lang="en-US" sz="1600" dirty="0">
                <a:solidFill>
                  <a:srgbClr val="00B0F0"/>
                </a:solidFill>
                <a:latin typeface="Comic Sans MS" panose="030F0702030302020204" pitchFamily="66" charset="0"/>
              </a:rPr>
              <a:t> 2. Top-Tier Display.  </a:t>
            </a:r>
          </a:p>
          <a:p>
            <a:r>
              <a:rPr lang="en-US" sz="1600" dirty="0">
                <a:solidFill>
                  <a:srgbClr val="00B0F0"/>
                </a:solidFill>
                <a:latin typeface="Comic Sans MS" panose="030F0702030302020204" pitchFamily="66" charset="0"/>
              </a:rPr>
              <a:t>3. Performance vs Portability Balance.  </a:t>
            </a:r>
          </a:p>
          <a:p>
            <a:r>
              <a:rPr lang="en-US" sz="1600" dirty="0">
                <a:solidFill>
                  <a:srgbClr val="00B0F0"/>
                </a:solidFill>
                <a:latin typeface="Comic Sans MS" panose="030F0702030302020204" pitchFamily="66" charset="0"/>
              </a:rPr>
              <a:t>4. Battery Life.  </a:t>
            </a:r>
          </a:p>
          <a:p>
            <a:r>
              <a:rPr lang="en-US" sz="1600" dirty="0">
                <a:solidFill>
                  <a:srgbClr val="00B0F0"/>
                </a:solidFill>
                <a:latin typeface="Comic Sans MS" panose="030F0702030302020204" pitchFamily="66" charset="0"/>
              </a:rPr>
              <a:t>5. Brand Trust and Support. </a:t>
            </a:r>
          </a:p>
          <a:p>
            <a:r>
              <a:rPr lang="en-US" sz="1600" dirty="0">
                <a:solidFill>
                  <a:srgbClr val="00B0F0"/>
                </a:solidFill>
                <a:latin typeface="Comic Sans MS" panose="030F0702030302020204" pitchFamily="66" charset="0"/>
              </a:rPr>
              <a:t> 6. Consistent Positive Reviews</a:t>
            </a:r>
          </a:p>
          <a:p>
            <a:r>
              <a:rPr lang="en-US" sz="1600" dirty="0">
                <a:solidFill>
                  <a:srgbClr val="00B0F0"/>
                </a:solidFill>
                <a:latin typeface="Comic Sans MS" panose="030F0702030302020204" pitchFamily="66" charset="0"/>
              </a:rPr>
              <a:t>.7. Appeals to Target Users.</a:t>
            </a:r>
          </a:p>
          <a:p>
            <a:r>
              <a:rPr lang="en-US" sz="1600" dirty="0">
                <a:solidFill>
                  <a:srgbClr val="00B0F0"/>
                </a:solidFill>
                <a:latin typeface="Comic Sans MS" panose="030F0702030302020204" pitchFamily="66" charset="0"/>
              </a:rPr>
              <a:t> 8. Smart Product Refreshes.</a:t>
            </a:r>
            <a:endParaRPr lang="en-IN" sz="1600" dirty="0">
              <a:solidFill>
                <a:srgbClr val="00B0F0"/>
              </a:solidFill>
              <a:latin typeface="Comic Sans MS" panose="030F0702030302020204" pitchFamily="66" charset="0"/>
            </a:endParaRPr>
          </a:p>
        </p:txBody>
      </p:sp>
    </p:spTree>
    <p:extLst>
      <p:ext uri="{BB962C8B-B14F-4D97-AF65-F5344CB8AC3E}">
        <p14:creationId xmlns:p14="http://schemas.microsoft.com/office/powerpoint/2010/main" val="2758177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BCB95-A555-BAB9-875C-D8976A29C2B3}"/>
              </a:ext>
            </a:extLst>
          </p:cNvPr>
          <p:cNvSpPr>
            <a:spLocks noGrp="1"/>
          </p:cNvSpPr>
          <p:nvPr>
            <p:ph type="title"/>
          </p:nvPr>
        </p:nvSpPr>
        <p:spPr>
          <a:xfrm>
            <a:off x="185057" y="141514"/>
            <a:ext cx="11636829" cy="903515"/>
          </a:xfrm>
        </p:spPr>
        <p:txBody>
          <a:bodyPr/>
          <a:lstStyle/>
          <a:p>
            <a:r>
              <a:rPr lang="en-US" b="1" dirty="0">
                <a:solidFill>
                  <a:srgbClr val="00B050"/>
                </a:solidFill>
                <a:latin typeface="+mn-lt"/>
              </a:rPr>
              <a:t>3.Most Selling TypeName Per Company</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F59D6010-8E99-EB00-218C-547CBEF93E59}"/>
              </a:ext>
            </a:extLst>
          </p:cNvPr>
          <p:cNvPicPr>
            <a:picLocks noGrp="1" noChangeAspect="1"/>
          </p:cNvPicPr>
          <p:nvPr>
            <p:ph sz="half" idx="1"/>
          </p:nvPr>
        </p:nvPicPr>
        <p:blipFill>
          <a:blip r:embed="rId2"/>
          <a:stretch>
            <a:fillRect/>
          </a:stretch>
        </p:blipFill>
        <p:spPr>
          <a:xfrm>
            <a:off x="108857" y="1045028"/>
            <a:ext cx="7554686" cy="5671458"/>
          </a:xfrm>
        </p:spPr>
      </p:pic>
      <p:sp>
        <p:nvSpPr>
          <p:cNvPr id="4" name="Content Placeholder 3">
            <a:extLst>
              <a:ext uri="{FF2B5EF4-FFF2-40B4-BE49-F238E27FC236}">
                <a16:creationId xmlns:a16="http://schemas.microsoft.com/office/drawing/2014/main" id="{1F5329B2-C92F-3295-4796-45DBC802C681}"/>
              </a:ext>
            </a:extLst>
          </p:cNvPr>
          <p:cNvSpPr>
            <a:spLocks noGrp="1"/>
          </p:cNvSpPr>
          <p:nvPr>
            <p:ph sz="half" idx="2"/>
          </p:nvPr>
        </p:nvSpPr>
        <p:spPr>
          <a:xfrm>
            <a:off x="7815943" y="1045028"/>
            <a:ext cx="4267200" cy="5671458"/>
          </a:xfrm>
        </p:spPr>
        <p:txBody>
          <a:bodyPr>
            <a:noAutofit/>
          </a:bodyPr>
          <a:lstStyle/>
          <a:p>
            <a:r>
              <a:rPr lang="en-US" sz="1600" dirty="0">
                <a:solidFill>
                  <a:srgbClr val="00B0F0"/>
                </a:solidFill>
                <a:latin typeface="Comic Sans MS" panose="030F0702030302020204" pitchFamily="66" charset="0"/>
              </a:rPr>
              <a:t>The most sold laptop </a:t>
            </a:r>
            <a:r>
              <a:rPr lang="en-US" sz="1600" b="1" dirty="0">
                <a:solidFill>
                  <a:srgbClr val="00B050"/>
                </a:solidFill>
                <a:latin typeface="Comic Sans MS" panose="030F0702030302020204" pitchFamily="66" charset="0"/>
              </a:rPr>
              <a:t>TypeName</a:t>
            </a:r>
            <a:r>
              <a:rPr lang="en-US" sz="1600" dirty="0">
                <a:solidFill>
                  <a:srgbClr val="00B050"/>
                </a:solidFill>
                <a:latin typeface="Comic Sans MS" panose="030F0702030302020204" pitchFamily="66" charset="0"/>
              </a:rPr>
              <a:t> is </a:t>
            </a:r>
            <a:r>
              <a:rPr lang="en-US" sz="1600" b="1" dirty="0">
                <a:solidFill>
                  <a:srgbClr val="00B050"/>
                </a:solidFill>
                <a:latin typeface="Comic Sans MS" panose="030F0702030302020204" pitchFamily="66" charset="0"/>
              </a:rPr>
              <a:t>Notebook</a:t>
            </a:r>
            <a:r>
              <a:rPr lang="en-US" sz="1600" dirty="0">
                <a:solidFill>
                  <a:srgbClr val="00B050"/>
                </a:solidFill>
                <a:latin typeface="Comic Sans MS" panose="030F0702030302020204" pitchFamily="66" charset="0"/>
              </a:rPr>
              <a:t>, followed by </a:t>
            </a:r>
            <a:r>
              <a:rPr lang="en-US" sz="1600" b="1" dirty="0">
                <a:solidFill>
                  <a:srgbClr val="00B050"/>
                </a:solidFill>
                <a:latin typeface="Comic Sans MS" panose="030F0702030302020204" pitchFamily="66" charset="0"/>
              </a:rPr>
              <a:t>Ultrabook</a:t>
            </a:r>
            <a:r>
              <a:rPr lang="en-US" sz="1600" dirty="0">
                <a:solidFill>
                  <a:srgbClr val="00B050"/>
                </a:solidFill>
                <a:latin typeface="Comic Sans MS" panose="030F0702030302020204" pitchFamily="66" charset="0"/>
              </a:rPr>
              <a:t> and </a:t>
            </a:r>
            <a:r>
              <a:rPr lang="en-US" sz="1600" b="1" dirty="0">
                <a:solidFill>
                  <a:srgbClr val="00B050"/>
                </a:solidFill>
                <a:latin typeface="Comic Sans MS" panose="030F0702030302020204" pitchFamily="66" charset="0"/>
              </a:rPr>
              <a:t>Gaming</a:t>
            </a:r>
            <a:r>
              <a:rPr lang="en-US" sz="1600" dirty="0">
                <a:solidFill>
                  <a:srgbClr val="00B0F0"/>
                </a:solidFill>
                <a:latin typeface="Comic Sans MS" panose="030F0702030302020204" pitchFamily="66" charset="0"/>
              </a:rPr>
              <a:t> laptops.</a:t>
            </a:r>
          </a:p>
          <a:p>
            <a:r>
              <a:rPr lang="en-US" sz="1600" b="1" dirty="0">
                <a:solidFill>
                  <a:srgbClr val="00B050"/>
                </a:solidFill>
                <a:latin typeface="Comic Sans MS" panose="030F0702030302020204" pitchFamily="66" charset="0"/>
              </a:rPr>
              <a:t>Notebook</a:t>
            </a:r>
            <a:r>
              <a:rPr lang="en-US" sz="1600" dirty="0">
                <a:solidFill>
                  <a:srgbClr val="00B0F0"/>
                </a:solidFill>
                <a:latin typeface="Comic Sans MS" panose="030F0702030302020204" pitchFamily="66" charset="0"/>
              </a:rPr>
              <a:t> dominance is led by brands like </a:t>
            </a:r>
            <a:r>
              <a:rPr lang="en-US" sz="1600" b="1" dirty="0">
                <a:solidFill>
                  <a:srgbClr val="00B050"/>
                </a:solidFill>
                <a:latin typeface="Comic Sans MS" panose="030F0702030302020204" pitchFamily="66" charset="0"/>
              </a:rPr>
              <a:t>HP</a:t>
            </a:r>
            <a:r>
              <a:rPr lang="en-US" sz="1600" dirty="0">
                <a:solidFill>
                  <a:srgbClr val="00B050"/>
                </a:solidFill>
                <a:latin typeface="Comic Sans MS" panose="030F0702030302020204" pitchFamily="66" charset="0"/>
              </a:rPr>
              <a:t>, </a:t>
            </a:r>
            <a:r>
              <a:rPr lang="en-US" sz="1600" b="1" dirty="0">
                <a:solidFill>
                  <a:srgbClr val="00B050"/>
                </a:solidFill>
                <a:latin typeface="Comic Sans MS" panose="030F0702030302020204" pitchFamily="66" charset="0"/>
              </a:rPr>
              <a:t>Lenovo</a:t>
            </a:r>
            <a:r>
              <a:rPr lang="en-US" sz="1600" dirty="0">
                <a:solidFill>
                  <a:srgbClr val="00B050"/>
                </a:solidFill>
                <a:latin typeface="Comic Sans MS" panose="030F0702030302020204" pitchFamily="66" charset="0"/>
              </a:rPr>
              <a:t>, and </a:t>
            </a:r>
            <a:r>
              <a:rPr lang="en-US" sz="1600" b="1" dirty="0">
                <a:solidFill>
                  <a:srgbClr val="00B050"/>
                </a:solidFill>
                <a:latin typeface="Comic Sans MS" panose="030F0702030302020204" pitchFamily="66" charset="0"/>
              </a:rPr>
              <a:t>Dell</a:t>
            </a:r>
            <a:r>
              <a:rPr lang="en-US" sz="1600" dirty="0">
                <a:solidFill>
                  <a:srgbClr val="00B0F0"/>
                </a:solidFill>
                <a:latin typeface="Comic Sans MS" panose="030F0702030302020204" pitchFamily="66" charset="0"/>
              </a:rPr>
              <a:t>.</a:t>
            </a:r>
          </a:p>
          <a:p>
            <a:r>
              <a:rPr lang="en-US" sz="1600" b="1" dirty="0">
                <a:solidFill>
                  <a:srgbClr val="00B050"/>
                </a:solidFill>
                <a:latin typeface="Comic Sans MS" panose="030F0702030302020204" pitchFamily="66" charset="0"/>
              </a:rPr>
              <a:t>Ultrabook </a:t>
            </a:r>
            <a:r>
              <a:rPr lang="en-US" sz="1600" dirty="0">
                <a:solidFill>
                  <a:srgbClr val="00B0F0"/>
                </a:solidFill>
                <a:latin typeface="Comic Sans MS" panose="030F0702030302020204" pitchFamily="66" charset="0"/>
              </a:rPr>
              <a:t>are primarily dominated by </a:t>
            </a:r>
            <a:r>
              <a:rPr lang="en-US" sz="1600" b="1" dirty="0">
                <a:solidFill>
                  <a:srgbClr val="00B0F0"/>
                </a:solidFill>
                <a:latin typeface="Comic Sans MS" panose="030F0702030302020204" pitchFamily="66" charset="0"/>
              </a:rPr>
              <a:t>Apple</a:t>
            </a:r>
            <a:r>
              <a:rPr lang="en-US" sz="1600" dirty="0">
                <a:solidFill>
                  <a:srgbClr val="00B0F0"/>
                </a:solidFill>
                <a:latin typeface="Comic Sans MS" panose="030F0702030302020204" pitchFamily="66" charset="0"/>
              </a:rPr>
              <a:t>.</a:t>
            </a:r>
          </a:p>
          <a:p>
            <a:r>
              <a:rPr lang="en-US" sz="1600" b="1" dirty="0">
                <a:solidFill>
                  <a:srgbClr val="00B050"/>
                </a:solidFill>
                <a:latin typeface="Comic Sans MS" panose="030F0702030302020204" pitchFamily="66" charset="0"/>
              </a:rPr>
              <a:t>Gaming laptops</a:t>
            </a:r>
            <a:r>
              <a:rPr lang="en-US" sz="1600" dirty="0">
                <a:solidFill>
                  <a:srgbClr val="00B050"/>
                </a:solidFill>
                <a:latin typeface="Comic Sans MS" panose="030F0702030302020204" pitchFamily="66" charset="0"/>
              </a:rPr>
              <a:t> </a:t>
            </a:r>
            <a:r>
              <a:rPr lang="en-US" sz="1600" dirty="0">
                <a:solidFill>
                  <a:srgbClr val="00B0F0"/>
                </a:solidFill>
                <a:latin typeface="Comic Sans MS" panose="030F0702030302020204" pitchFamily="66" charset="0"/>
              </a:rPr>
              <a:t>are mostly represented by </a:t>
            </a:r>
            <a:r>
              <a:rPr lang="en-US" sz="1600" b="1" dirty="0">
                <a:solidFill>
                  <a:srgbClr val="00B050"/>
                </a:solidFill>
                <a:latin typeface="Comic Sans MS" panose="030F0702030302020204" pitchFamily="66" charset="0"/>
              </a:rPr>
              <a:t>MSI</a:t>
            </a:r>
            <a:r>
              <a:rPr lang="en-US" sz="1600" dirty="0">
                <a:solidFill>
                  <a:srgbClr val="00B050"/>
                </a:solidFill>
                <a:latin typeface="Comic Sans MS" panose="030F0702030302020204" pitchFamily="66" charset="0"/>
              </a:rPr>
              <a:t>.</a:t>
            </a:r>
          </a:p>
          <a:p>
            <a:endParaRPr lang="en-US" sz="1600" dirty="0">
              <a:solidFill>
                <a:srgbClr val="00B0F0"/>
              </a:solidFill>
              <a:latin typeface="Comic Sans MS" panose="030F0702030302020204" pitchFamily="66" charset="0"/>
            </a:endParaRPr>
          </a:p>
          <a:p>
            <a:pPr marL="0" indent="0">
              <a:buNone/>
            </a:pPr>
            <a:r>
              <a:rPr lang="en-US" sz="1600" dirty="0">
                <a:solidFill>
                  <a:srgbClr val="00B050"/>
                </a:solidFill>
                <a:latin typeface="Comic Sans MS" panose="030F0702030302020204" pitchFamily="66" charset="0"/>
              </a:rPr>
              <a:t>Notebooks are the top-selling laptop </a:t>
            </a:r>
            <a:r>
              <a:rPr lang="en-US" sz="1600" dirty="0">
                <a:solidFill>
                  <a:srgbClr val="00B0F0"/>
                </a:solidFill>
                <a:latin typeface="Comic Sans MS" panose="030F0702030302020204" pitchFamily="66" charset="0"/>
              </a:rPr>
              <a:t>type due to </a:t>
            </a:r>
            <a:r>
              <a:rPr lang="en-US" sz="1600" dirty="0">
                <a:solidFill>
                  <a:srgbClr val="00B050"/>
                </a:solidFill>
                <a:latin typeface="Comic Sans MS" panose="030F0702030302020204" pitchFamily="66" charset="0"/>
              </a:rPr>
              <a:t>their optimal balance of </a:t>
            </a:r>
            <a:r>
              <a:rPr lang="en-US" sz="1600" b="1" dirty="0">
                <a:solidFill>
                  <a:srgbClr val="00B050"/>
                </a:solidFill>
                <a:latin typeface="Comic Sans MS" panose="030F0702030302020204" pitchFamily="66" charset="0"/>
              </a:rPr>
              <a:t>price, performance, and portability</a:t>
            </a:r>
            <a:r>
              <a:rPr lang="en-US" sz="1600" dirty="0">
                <a:solidFill>
                  <a:srgbClr val="00B050"/>
                </a:solidFill>
                <a:latin typeface="Comic Sans MS" panose="030F0702030302020204" pitchFamily="66" charset="0"/>
              </a:rPr>
              <a:t>. </a:t>
            </a:r>
          </a:p>
          <a:p>
            <a:pPr marL="0" indent="0">
              <a:buNone/>
            </a:pPr>
            <a:r>
              <a:rPr lang="en-US" sz="1600" dirty="0">
                <a:solidFill>
                  <a:srgbClr val="00B0F0"/>
                </a:solidFill>
                <a:latin typeface="Comic Sans MS" panose="030F0702030302020204" pitchFamily="66" charset="0"/>
              </a:rPr>
              <a:t>Unlike specialized laptops such as gaming models or </a:t>
            </a:r>
            <a:r>
              <a:rPr lang="en-US" sz="1600" dirty="0" err="1">
                <a:solidFill>
                  <a:srgbClr val="00B0F0"/>
                </a:solidFill>
                <a:latin typeface="Comic Sans MS" panose="030F0702030302020204" pitchFamily="66" charset="0"/>
              </a:rPr>
              <a:t>ultrabook</a:t>
            </a:r>
            <a:r>
              <a:rPr lang="en-US" sz="1600" dirty="0">
                <a:solidFill>
                  <a:srgbClr val="00B050"/>
                </a:solidFill>
                <a:latin typeface="Comic Sans MS" panose="030F0702030302020204" pitchFamily="66" charset="0"/>
              </a:rPr>
              <a:t>, notebooks are </a:t>
            </a:r>
            <a:r>
              <a:rPr lang="en-US" sz="1600" b="1" dirty="0">
                <a:solidFill>
                  <a:srgbClr val="00B050"/>
                </a:solidFill>
                <a:latin typeface="Comic Sans MS" panose="030F0702030302020204" pitchFamily="66" charset="0"/>
              </a:rPr>
              <a:t>versatile</a:t>
            </a:r>
            <a:r>
              <a:rPr lang="en-US" sz="1600" dirty="0">
                <a:solidFill>
                  <a:srgbClr val="00B050"/>
                </a:solidFill>
                <a:latin typeface="Comic Sans MS" panose="030F0702030302020204" pitchFamily="66" charset="0"/>
              </a:rPr>
              <a:t>, </a:t>
            </a:r>
            <a:r>
              <a:rPr lang="en-US" sz="1600" b="1" dirty="0">
                <a:solidFill>
                  <a:srgbClr val="00B050"/>
                </a:solidFill>
                <a:latin typeface="Comic Sans MS" panose="030F0702030302020204" pitchFamily="66" charset="0"/>
              </a:rPr>
              <a:t>widely available</a:t>
            </a:r>
            <a:r>
              <a:rPr lang="en-US" sz="1600" dirty="0">
                <a:solidFill>
                  <a:srgbClr val="00B050"/>
                </a:solidFill>
                <a:latin typeface="Comic Sans MS" panose="030F0702030302020204" pitchFamily="66" charset="0"/>
              </a:rPr>
              <a:t>, and suitable for </a:t>
            </a:r>
            <a:r>
              <a:rPr lang="en-US" sz="1600" b="1" dirty="0">
                <a:solidFill>
                  <a:srgbClr val="00B050"/>
                </a:solidFill>
                <a:latin typeface="Comic Sans MS" panose="030F0702030302020204" pitchFamily="66" charset="0"/>
              </a:rPr>
              <a:t>everyday tasks</a:t>
            </a:r>
            <a:r>
              <a:rPr lang="en-US" sz="1600" dirty="0">
                <a:solidFill>
                  <a:srgbClr val="00B050"/>
                </a:solidFill>
                <a:latin typeface="Comic Sans MS" panose="030F0702030302020204" pitchFamily="66" charset="0"/>
              </a:rPr>
              <a:t>. </a:t>
            </a:r>
          </a:p>
          <a:p>
            <a:pPr marL="0" indent="0">
              <a:buNone/>
            </a:pPr>
            <a:r>
              <a:rPr lang="en-US" sz="1600" dirty="0">
                <a:solidFill>
                  <a:srgbClr val="00B0F0"/>
                </a:solidFill>
                <a:latin typeface="Comic Sans MS" panose="030F0702030302020204" pitchFamily="66" charset="0"/>
              </a:rPr>
              <a:t>Their wide range of configurations at </a:t>
            </a:r>
            <a:r>
              <a:rPr lang="en-US" sz="1600" b="1" dirty="0">
                <a:solidFill>
                  <a:srgbClr val="00B050"/>
                </a:solidFill>
                <a:latin typeface="Comic Sans MS" panose="030F0702030302020204" pitchFamily="66" charset="0"/>
              </a:rPr>
              <a:t>affordable prices</a:t>
            </a:r>
            <a:r>
              <a:rPr lang="en-US" sz="1600" dirty="0">
                <a:solidFill>
                  <a:srgbClr val="00B050"/>
                </a:solidFill>
                <a:latin typeface="Comic Sans MS" panose="030F0702030302020204" pitchFamily="66" charset="0"/>
              </a:rPr>
              <a:t> </a:t>
            </a:r>
            <a:r>
              <a:rPr lang="en-US" sz="1600" dirty="0">
                <a:solidFill>
                  <a:srgbClr val="00B0F0"/>
                </a:solidFill>
                <a:latin typeface="Comic Sans MS" panose="030F0702030302020204" pitchFamily="66" charset="0"/>
              </a:rPr>
              <a:t>makes them a preferred choice for both personal use and institutional buyers.</a:t>
            </a:r>
          </a:p>
          <a:p>
            <a:endParaRPr lang="en-IN" sz="1600" dirty="0">
              <a:solidFill>
                <a:srgbClr val="00B0F0"/>
              </a:solidFill>
              <a:latin typeface="Comic Sans MS" panose="030F0702030302020204" pitchFamily="66" charset="0"/>
            </a:endParaRPr>
          </a:p>
        </p:txBody>
      </p:sp>
    </p:spTree>
    <p:extLst>
      <p:ext uri="{BB962C8B-B14F-4D97-AF65-F5344CB8AC3E}">
        <p14:creationId xmlns:p14="http://schemas.microsoft.com/office/powerpoint/2010/main" val="621462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5C8A5-3093-774C-C0E3-C6E233BE831D}"/>
              </a:ext>
            </a:extLst>
          </p:cNvPr>
          <p:cNvSpPr>
            <a:spLocks noGrp="1"/>
          </p:cNvSpPr>
          <p:nvPr>
            <p:ph type="title"/>
          </p:nvPr>
        </p:nvSpPr>
        <p:spPr>
          <a:xfrm>
            <a:off x="119743" y="97971"/>
            <a:ext cx="11234057" cy="816429"/>
          </a:xfrm>
        </p:spPr>
        <p:txBody>
          <a:bodyPr/>
          <a:lstStyle/>
          <a:p>
            <a:r>
              <a:rPr lang="en-US" b="1" dirty="0">
                <a:solidFill>
                  <a:srgbClr val="00B050"/>
                </a:solidFill>
                <a:latin typeface="+mn-lt"/>
              </a:rPr>
              <a:t>4.Top 10 Most Expensive Product(overall):</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9497ED25-B83C-18DF-1C12-87E4C7F1A529}"/>
              </a:ext>
            </a:extLst>
          </p:cNvPr>
          <p:cNvPicPr>
            <a:picLocks noGrp="1" noChangeAspect="1"/>
          </p:cNvPicPr>
          <p:nvPr>
            <p:ph sz="half" idx="1"/>
          </p:nvPr>
        </p:nvPicPr>
        <p:blipFill>
          <a:blip r:embed="rId2"/>
          <a:stretch>
            <a:fillRect/>
          </a:stretch>
        </p:blipFill>
        <p:spPr>
          <a:xfrm>
            <a:off x="119062" y="1110345"/>
            <a:ext cx="6891337" cy="5649684"/>
          </a:xfrm>
        </p:spPr>
      </p:pic>
      <p:sp>
        <p:nvSpPr>
          <p:cNvPr id="4" name="Content Placeholder 3">
            <a:extLst>
              <a:ext uri="{FF2B5EF4-FFF2-40B4-BE49-F238E27FC236}">
                <a16:creationId xmlns:a16="http://schemas.microsoft.com/office/drawing/2014/main" id="{FDABF8A6-B31B-C344-DDFC-EB03653A9411}"/>
              </a:ext>
            </a:extLst>
          </p:cNvPr>
          <p:cNvSpPr>
            <a:spLocks noGrp="1"/>
          </p:cNvSpPr>
          <p:nvPr>
            <p:ph sz="half" idx="2"/>
          </p:nvPr>
        </p:nvSpPr>
        <p:spPr>
          <a:xfrm>
            <a:off x="7228114" y="1208314"/>
            <a:ext cx="4844143" cy="5431971"/>
          </a:xfrm>
        </p:spPr>
        <p:txBody>
          <a:bodyPr>
            <a:normAutofit fontScale="92500" lnSpcReduction="20000"/>
          </a:bodyPr>
          <a:lstStyle/>
          <a:p>
            <a:r>
              <a:rPr lang="en-US" sz="2600" b="1" dirty="0">
                <a:solidFill>
                  <a:srgbClr val="00B050"/>
                </a:solidFill>
                <a:latin typeface="Comic Sans MS" panose="030F0702030302020204" pitchFamily="66" charset="0"/>
              </a:rPr>
              <a:t>Insight:</a:t>
            </a:r>
          </a:p>
          <a:p>
            <a:endParaRPr lang="en-US" sz="1600" dirty="0">
              <a:latin typeface="Comic Sans MS" panose="030F0702030302020204" pitchFamily="66" charset="0"/>
            </a:endParaRPr>
          </a:p>
          <a:p>
            <a:r>
              <a:rPr lang="en-US" sz="1600" dirty="0">
                <a:solidFill>
                  <a:srgbClr val="00B0F0"/>
                </a:solidFill>
                <a:latin typeface="Comic Sans MS" panose="030F0702030302020204" pitchFamily="66" charset="0"/>
              </a:rPr>
              <a:t>The </a:t>
            </a:r>
            <a:r>
              <a:rPr lang="en-US" sz="1600" b="1" dirty="0">
                <a:solidFill>
                  <a:srgbClr val="00B050"/>
                </a:solidFill>
                <a:latin typeface="Comic Sans MS" panose="030F0702030302020204" pitchFamily="66" charset="0"/>
              </a:rPr>
              <a:t>most expensive laptop</a:t>
            </a:r>
            <a:r>
              <a:rPr lang="en-US" sz="1600" dirty="0">
                <a:solidFill>
                  <a:srgbClr val="00B050"/>
                </a:solidFill>
                <a:latin typeface="Comic Sans MS" panose="030F0702030302020204" pitchFamily="66" charset="0"/>
              </a:rPr>
              <a:t> </a:t>
            </a:r>
            <a:r>
              <a:rPr lang="en-US" sz="1600" dirty="0">
                <a:solidFill>
                  <a:srgbClr val="00B0F0"/>
                </a:solidFill>
                <a:latin typeface="Comic Sans MS" panose="030F0702030302020204" pitchFamily="66" charset="0"/>
              </a:rPr>
              <a:t>in the dataset is the </a:t>
            </a:r>
            <a:r>
              <a:rPr lang="en-US" sz="1600" b="1" dirty="0">
                <a:solidFill>
                  <a:srgbClr val="00B050"/>
                </a:solidFill>
                <a:latin typeface="Comic Sans MS" panose="030F0702030302020204" pitchFamily="66" charset="0"/>
              </a:rPr>
              <a:t>Razer Blade Pro</a:t>
            </a:r>
            <a:r>
              <a:rPr lang="en-US" sz="1600" dirty="0">
                <a:solidFill>
                  <a:srgbClr val="00B050"/>
                </a:solidFill>
                <a:latin typeface="Comic Sans MS" panose="030F0702030302020204" pitchFamily="66" charset="0"/>
              </a:rPr>
              <a:t>, followed by the </a:t>
            </a:r>
            <a:r>
              <a:rPr lang="en-US" sz="1600" b="1" dirty="0">
                <a:solidFill>
                  <a:srgbClr val="00B050"/>
                </a:solidFill>
                <a:latin typeface="Comic Sans MS" panose="030F0702030302020204" pitchFamily="66" charset="0"/>
              </a:rPr>
              <a:t>Lenovo ThinkPad P51</a:t>
            </a:r>
            <a:r>
              <a:rPr lang="en-US" sz="1600" dirty="0">
                <a:solidFill>
                  <a:srgbClr val="00B050"/>
                </a:solidFill>
                <a:latin typeface="Comic Sans MS" panose="030F0702030302020204" pitchFamily="66" charset="0"/>
              </a:rPr>
              <a:t> </a:t>
            </a:r>
            <a:r>
              <a:rPr lang="en-US" sz="1600" dirty="0">
                <a:solidFill>
                  <a:srgbClr val="00B0F0"/>
                </a:solidFill>
                <a:latin typeface="Comic Sans MS" panose="030F0702030302020204" pitchFamily="66" charset="0"/>
              </a:rPr>
              <a:t>and the </a:t>
            </a:r>
            <a:r>
              <a:rPr lang="en-US" sz="1600" b="1" dirty="0">
                <a:solidFill>
                  <a:srgbClr val="00B050"/>
                </a:solidFill>
                <a:latin typeface="Comic Sans MS" panose="030F0702030302020204" pitchFamily="66" charset="0"/>
              </a:rPr>
              <a:t>HP </a:t>
            </a:r>
            <a:r>
              <a:rPr lang="en-US" sz="1600" b="1" dirty="0" err="1">
                <a:solidFill>
                  <a:srgbClr val="00B050"/>
                </a:solidFill>
                <a:latin typeface="Comic Sans MS" panose="030F0702030302020204" pitchFamily="66" charset="0"/>
              </a:rPr>
              <a:t>ZBook</a:t>
            </a:r>
            <a:r>
              <a:rPr lang="en-US" sz="1600" b="1" dirty="0">
                <a:solidFill>
                  <a:srgbClr val="00B050"/>
                </a:solidFill>
                <a:latin typeface="Comic Sans MS" panose="030F0702030302020204" pitchFamily="66" charset="0"/>
              </a:rPr>
              <a:t> 17</a:t>
            </a:r>
            <a:r>
              <a:rPr lang="en-US" sz="1600" dirty="0">
                <a:solidFill>
                  <a:srgbClr val="00B0F0"/>
                </a:solidFill>
                <a:latin typeface="Comic Sans MS" panose="030F0702030302020204" pitchFamily="66" charset="0"/>
              </a:rPr>
              <a:t>.</a:t>
            </a:r>
          </a:p>
          <a:p>
            <a:endParaRPr lang="en-US" sz="2200" dirty="0">
              <a:solidFill>
                <a:srgbClr val="00B0F0"/>
              </a:solidFill>
              <a:latin typeface="Comic Sans MS" panose="030F0702030302020204" pitchFamily="66" charset="0"/>
            </a:endParaRPr>
          </a:p>
          <a:p>
            <a:r>
              <a:rPr lang="en-US" sz="2200" b="1" dirty="0">
                <a:solidFill>
                  <a:srgbClr val="00B050"/>
                </a:solidFill>
                <a:latin typeface="Comic Sans MS" panose="030F0702030302020204" pitchFamily="66" charset="0"/>
              </a:rPr>
              <a:t>Why the Razer Blade Pro Is the Most Expensive</a:t>
            </a:r>
          </a:p>
          <a:p>
            <a:endParaRPr lang="en-US" sz="1600" b="1" dirty="0">
              <a:solidFill>
                <a:srgbClr val="00B050"/>
              </a:solidFill>
              <a:latin typeface="Comic Sans MS" panose="030F0702030302020204" pitchFamily="66" charset="0"/>
            </a:endParaRPr>
          </a:p>
          <a:p>
            <a:r>
              <a:rPr lang="en-US" sz="1600" dirty="0">
                <a:solidFill>
                  <a:srgbClr val="00B0F0"/>
                </a:solidFill>
                <a:latin typeface="Comic Sans MS" panose="030F0702030302020204" pitchFamily="66" charset="0"/>
              </a:rPr>
              <a:t>Equipped with </a:t>
            </a:r>
            <a:r>
              <a:rPr lang="en-US" sz="1600" b="1" dirty="0">
                <a:solidFill>
                  <a:srgbClr val="00B050"/>
                </a:solidFill>
                <a:latin typeface="Comic Sans MS" panose="030F0702030302020204" pitchFamily="66" charset="0"/>
              </a:rPr>
              <a:t>high-end processors</a:t>
            </a:r>
            <a:r>
              <a:rPr lang="en-US" sz="1600" dirty="0">
                <a:solidFill>
                  <a:srgbClr val="00B050"/>
                </a:solidFill>
                <a:latin typeface="Comic Sans MS" panose="030F0702030302020204" pitchFamily="66" charset="0"/>
              </a:rPr>
              <a:t> </a:t>
            </a:r>
            <a:r>
              <a:rPr lang="en-US" sz="1600" dirty="0">
                <a:solidFill>
                  <a:srgbClr val="00B0F0"/>
                </a:solidFill>
                <a:latin typeface="Comic Sans MS" panose="030F0702030302020204" pitchFamily="66" charset="0"/>
              </a:rPr>
              <a:t>like Intel i7/i9 or AMD Ryzen 9</a:t>
            </a:r>
          </a:p>
          <a:p>
            <a:r>
              <a:rPr lang="en-US" sz="1600" dirty="0">
                <a:solidFill>
                  <a:srgbClr val="00B0F0"/>
                </a:solidFill>
                <a:latin typeface="Comic Sans MS" panose="030F0702030302020204" pitchFamily="66" charset="0"/>
              </a:rPr>
              <a:t>Features </a:t>
            </a:r>
            <a:r>
              <a:rPr lang="en-US" sz="1600" dirty="0">
                <a:solidFill>
                  <a:srgbClr val="00B050"/>
                </a:solidFill>
                <a:latin typeface="Comic Sans MS" panose="030F0702030302020204" pitchFamily="66" charset="0"/>
              </a:rPr>
              <a:t>powerful </a:t>
            </a:r>
            <a:r>
              <a:rPr lang="en-US" sz="1600" b="1" dirty="0">
                <a:solidFill>
                  <a:srgbClr val="00B050"/>
                </a:solidFill>
                <a:latin typeface="Comic Sans MS" panose="030F0702030302020204" pitchFamily="66" charset="0"/>
              </a:rPr>
              <a:t>RTX 3070/3080 GPUs</a:t>
            </a:r>
            <a:r>
              <a:rPr lang="en-US" sz="1600" dirty="0">
                <a:solidFill>
                  <a:srgbClr val="00B050"/>
                </a:solidFill>
                <a:latin typeface="Comic Sans MS" panose="030F0702030302020204" pitchFamily="66" charset="0"/>
              </a:rPr>
              <a:t> </a:t>
            </a:r>
            <a:r>
              <a:rPr lang="en-US" sz="1600" dirty="0">
                <a:solidFill>
                  <a:srgbClr val="00B0F0"/>
                </a:solidFill>
                <a:latin typeface="Comic Sans MS" panose="030F0702030302020204" pitchFamily="66" charset="0"/>
              </a:rPr>
              <a:t>for advanced graphics performance</a:t>
            </a:r>
          </a:p>
          <a:p>
            <a:r>
              <a:rPr lang="en-US" sz="1600" dirty="0">
                <a:solidFill>
                  <a:srgbClr val="00B0F0"/>
                </a:solidFill>
                <a:latin typeface="Comic Sans MS" panose="030F0702030302020204" pitchFamily="66" charset="0"/>
              </a:rPr>
              <a:t>Comes with </a:t>
            </a:r>
            <a:r>
              <a:rPr lang="en-US" sz="1600" b="1" dirty="0">
                <a:solidFill>
                  <a:srgbClr val="00B050"/>
                </a:solidFill>
                <a:latin typeface="Comic Sans MS" panose="030F0702030302020204" pitchFamily="66" charset="0"/>
              </a:rPr>
              <a:t>32GB RAM</a:t>
            </a:r>
            <a:r>
              <a:rPr lang="en-US" sz="1600" dirty="0">
                <a:solidFill>
                  <a:srgbClr val="00B050"/>
                </a:solidFill>
                <a:latin typeface="Comic Sans MS" panose="030F0702030302020204" pitchFamily="66" charset="0"/>
              </a:rPr>
              <a:t> and </a:t>
            </a:r>
            <a:r>
              <a:rPr lang="en-US" sz="1600" b="1" dirty="0">
                <a:solidFill>
                  <a:srgbClr val="00B050"/>
                </a:solidFill>
                <a:latin typeface="Comic Sans MS" panose="030F0702030302020204" pitchFamily="66" charset="0"/>
              </a:rPr>
              <a:t>1TB SSD</a:t>
            </a:r>
            <a:r>
              <a:rPr lang="en-US" sz="1600" dirty="0">
                <a:solidFill>
                  <a:srgbClr val="00B050"/>
                </a:solidFill>
                <a:latin typeface="Comic Sans MS" panose="030F0702030302020204" pitchFamily="66" charset="0"/>
              </a:rPr>
              <a:t> </a:t>
            </a:r>
            <a:r>
              <a:rPr lang="en-US" sz="1600" dirty="0">
                <a:solidFill>
                  <a:srgbClr val="00B0F0"/>
                </a:solidFill>
                <a:latin typeface="Comic Sans MS" panose="030F0702030302020204" pitchFamily="66" charset="0"/>
              </a:rPr>
              <a:t>for fast multitasking and storage</a:t>
            </a:r>
          </a:p>
          <a:p>
            <a:r>
              <a:rPr lang="en-US" sz="1600" dirty="0">
                <a:solidFill>
                  <a:srgbClr val="00B050"/>
                </a:solidFill>
                <a:latin typeface="Comic Sans MS" panose="030F0702030302020204" pitchFamily="66" charset="0"/>
              </a:rPr>
              <a:t>Offers a large </a:t>
            </a:r>
            <a:r>
              <a:rPr lang="en-US" sz="1600" b="1" dirty="0">
                <a:solidFill>
                  <a:srgbClr val="00B050"/>
                </a:solidFill>
                <a:latin typeface="Comic Sans MS" panose="030F0702030302020204" pitchFamily="66" charset="0"/>
              </a:rPr>
              <a:t>17.3-inch 4K or QHD display</a:t>
            </a:r>
            <a:r>
              <a:rPr lang="en-US" sz="1600" dirty="0">
                <a:solidFill>
                  <a:srgbClr val="00B050"/>
                </a:solidFill>
                <a:latin typeface="Comic Sans MS" panose="030F0702030302020204" pitchFamily="66" charset="0"/>
              </a:rPr>
              <a:t> </a:t>
            </a:r>
            <a:r>
              <a:rPr lang="en-US" sz="1600" dirty="0">
                <a:solidFill>
                  <a:srgbClr val="00B0F0"/>
                </a:solidFill>
                <a:latin typeface="Comic Sans MS" panose="030F0702030302020204" pitchFamily="66" charset="0"/>
              </a:rPr>
              <a:t>for immersive visuals</a:t>
            </a:r>
          </a:p>
          <a:p>
            <a:r>
              <a:rPr lang="en-US" sz="1600" dirty="0">
                <a:solidFill>
                  <a:srgbClr val="00B0F0"/>
                </a:solidFill>
                <a:latin typeface="Comic Sans MS" panose="030F0702030302020204" pitchFamily="66" charset="0"/>
              </a:rPr>
              <a:t>Built with a </a:t>
            </a:r>
            <a:r>
              <a:rPr lang="en-US" sz="1600" b="1" dirty="0">
                <a:solidFill>
                  <a:srgbClr val="00B050"/>
                </a:solidFill>
                <a:latin typeface="Comic Sans MS" panose="030F0702030302020204" pitchFamily="66" charset="0"/>
              </a:rPr>
              <a:t>premium aluminum body</a:t>
            </a:r>
            <a:r>
              <a:rPr lang="en-US" sz="1600" dirty="0">
                <a:solidFill>
                  <a:srgbClr val="00B050"/>
                </a:solidFill>
                <a:latin typeface="Comic Sans MS" panose="030F0702030302020204" pitchFamily="66" charset="0"/>
              </a:rPr>
              <a:t> and </a:t>
            </a:r>
            <a:r>
              <a:rPr lang="en-US" sz="1600" b="1" dirty="0">
                <a:solidFill>
                  <a:srgbClr val="00B050"/>
                </a:solidFill>
                <a:latin typeface="Comic Sans MS" panose="030F0702030302020204" pitchFamily="66" charset="0"/>
              </a:rPr>
              <a:t>customizable RGB keyboard</a:t>
            </a:r>
            <a:endParaRPr lang="en-US" sz="1600" dirty="0">
              <a:solidFill>
                <a:srgbClr val="00B050"/>
              </a:solidFill>
              <a:latin typeface="Comic Sans MS" panose="030F0702030302020204" pitchFamily="66" charset="0"/>
            </a:endParaRPr>
          </a:p>
          <a:p>
            <a:r>
              <a:rPr lang="en-US" sz="1600" dirty="0">
                <a:solidFill>
                  <a:srgbClr val="00B0F0"/>
                </a:solidFill>
                <a:latin typeface="Comic Sans MS" panose="030F0702030302020204" pitchFamily="66" charset="0"/>
              </a:rPr>
              <a:t>Includes </a:t>
            </a:r>
            <a:r>
              <a:rPr lang="en-US" sz="1600" b="1" dirty="0">
                <a:solidFill>
                  <a:srgbClr val="00B050"/>
                </a:solidFill>
                <a:latin typeface="Comic Sans MS" panose="030F0702030302020204" pitchFamily="66" charset="0"/>
              </a:rPr>
              <a:t>advanced cooling systems</a:t>
            </a:r>
            <a:r>
              <a:rPr lang="en-US" sz="1600" dirty="0">
                <a:solidFill>
                  <a:srgbClr val="00B050"/>
                </a:solidFill>
                <a:latin typeface="Comic Sans MS" panose="030F0702030302020204" pitchFamily="66" charset="0"/>
              </a:rPr>
              <a:t> and </a:t>
            </a:r>
            <a:r>
              <a:rPr lang="en-US" sz="1600" b="1" dirty="0">
                <a:solidFill>
                  <a:srgbClr val="00B050"/>
                </a:solidFill>
                <a:latin typeface="Comic Sans MS" panose="030F0702030302020204" pitchFamily="66" charset="0"/>
              </a:rPr>
              <a:t>Thunderbolt </a:t>
            </a:r>
            <a:r>
              <a:rPr lang="en-US" sz="1600" b="1" dirty="0">
                <a:solidFill>
                  <a:srgbClr val="00B0F0"/>
                </a:solidFill>
                <a:latin typeface="Comic Sans MS" panose="030F0702030302020204" pitchFamily="66" charset="0"/>
              </a:rPr>
              <a:t>4</a:t>
            </a:r>
            <a:r>
              <a:rPr lang="en-US" sz="1600" dirty="0">
                <a:solidFill>
                  <a:srgbClr val="00B0F0"/>
                </a:solidFill>
                <a:latin typeface="Comic Sans MS" panose="030F0702030302020204" pitchFamily="66" charset="0"/>
              </a:rPr>
              <a:t> support for high-speed connectivity</a:t>
            </a:r>
          </a:p>
          <a:p>
            <a:endParaRPr lang="en-US" sz="1400" dirty="0"/>
          </a:p>
          <a:p>
            <a:endParaRPr lang="en-IN" dirty="0"/>
          </a:p>
          <a:p>
            <a:endParaRPr lang="en-IN" dirty="0"/>
          </a:p>
        </p:txBody>
      </p:sp>
    </p:spTree>
    <p:extLst>
      <p:ext uri="{BB962C8B-B14F-4D97-AF65-F5344CB8AC3E}">
        <p14:creationId xmlns:p14="http://schemas.microsoft.com/office/powerpoint/2010/main" val="2135775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EA7B9-1FBC-782F-DECD-A52C7742B859}"/>
              </a:ext>
            </a:extLst>
          </p:cNvPr>
          <p:cNvSpPr>
            <a:spLocks noGrp="1"/>
          </p:cNvSpPr>
          <p:nvPr>
            <p:ph type="title"/>
          </p:nvPr>
        </p:nvSpPr>
        <p:spPr>
          <a:xfrm>
            <a:off x="76201" y="97971"/>
            <a:ext cx="11277600" cy="881743"/>
          </a:xfrm>
        </p:spPr>
        <p:txBody>
          <a:bodyPr/>
          <a:lstStyle/>
          <a:p>
            <a:r>
              <a:rPr lang="en-US" b="1" dirty="0">
                <a:solidFill>
                  <a:srgbClr val="00B050"/>
                </a:solidFill>
                <a:latin typeface="+mn-lt"/>
              </a:rPr>
              <a:t>5.Top 10 Least Expensive Product (Overall)</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F3BBE894-EA6A-720E-1934-8C1F7F78A9AB}"/>
              </a:ext>
            </a:extLst>
          </p:cNvPr>
          <p:cNvPicPr>
            <a:picLocks noGrp="1" noChangeAspect="1"/>
          </p:cNvPicPr>
          <p:nvPr>
            <p:ph sz="half" idx="1"/>
          </p:nvPr>
        </p:nvPicPr>
        <p:blipFill>
          <a:blip r:embed="rId2"/>
          <a:stretch>
            <a:fillRect/>
          </a:stretch>
        </p:blipFill>
        <p:spPr>
          <a:xfrm>
            <a:off x="76201" y="1143001"/>
            <a:ext cx="7043056" cy="5617028"/>
          </a:xfrm>
        </p:spPr>
      </p:pic>
      <p:sp>
        <p:nvSpPr>
          <p:cNvPr id="4" name="Content Placeholder 3">
            <a:extLst>
              <a:ext uri="{FF2B5EF4-FFF2-40B4-BE49-F238E27FC236}">
                <a16:creationId xmlns:a16="http://schemas.microsoft.com/office/drawing/2014/main" id="{95FCFAE2-3B79-1B81-911F-29F2DC98B368}"/>
              </a:ext>
            </a:extLst>
          </p:cNvPr>
          <p:cNvSpPr>
            <a:spLocks noGrp="1"/>
          </p:cNvSpPr>
          <p:nvPr>
            <p:ph sz="half" idx="2"/>
          </p:nvPr>
        </p:nvSpPr>
        <p:spPr>
          <a:xfrm>
            <a:off x="7217229" y="1143001"/>
            <a:ext cx="4898570" cy="5617028"/>
          </a:xfrm>
        </p:spPr>
        <p:txBody>
          <a:bodyPr>
            <a:normAutofit fontScale="77500" lnSpcReduction="20000"/>
          </a:bodyPr>
          <a:lstStyle/>
          <a:p>
            <a:r>
              <a:rPr lang="en-US" sz="3800" b="1" dirty="0">
                <a:solidFill>
                  <a:srgbClr val="00B050"/>
                </a:solidFill>
              </a:rPr>
              <a:t>Insight:</a:t>
            </a:r>
          </a:p>
          <a:p>
            <a:pPr marL="0" indent="0">
              <a:buNone/>
            </a:pPr>
            <a:r>
              <a:rPr lang="en-US" b="1" dirty="0">
                <a:solidFill>
                  <a:srgbClr val="00B050"/>
                </a:solidFill>
              </a:rPr>
              <a:t> </a:t>
            </a:r>
            <a:r>
              <a:rPr lang="en-US" sz="2400" dirty="0">
                <a:solidFill>
                  <a:srgbClr val="00B0F0"/>
                </a:solidFill>
                <a:latin typeface="Comic Sans MS" panose="030F0702030302020204" pitchFamily="66" charset="0"/>
              </a:rPr>
              <a:t>least expensive laptops from the     chart is</a:t>
            </a:r>
          </a:p>
          <a:p>
            <a:r>
              <a:rPr lang="en-US" sz="2400" dirty="0">
                <a:solidFill>
                  <a:srgbClr val="00B050"/>
                </a:solidFill>
                <a:latin typeface="Comic Sans MS" panose="030F0702030302020204" pitchFamily="66" charset="0"/>
              </a:rPr>
              <a:t>C740-C9QX (3205U/2GB/32GB/Chrome) with a price of 174.</a:t>
            </a:r>
          </a:p>
          <a:p>
            <a:endParaRPr lang="en-US" sz="2400" dirty="0">
              <a:solidFill>
                <a:srgbClr val="00B0F0"/>
              </a:solidFill>
              <a:latin typeface="Comic Sans MS" panose="030F0702030302020204" pitchFamily="66" charset="0"/>
            </a:endParaRPr>
          </a:p>
          <a:p>
            <a:r>
              <a:rPr lang="en-US" b="1" dirty="0">
                <a:solidFill>
                  <a:srgbClr val="00B050"/>
                </a:solidFill>
                <a:latin typeface="Comic Sans MS" panose="030F0702030302020204" pitchFamily="66" charset="0"/>
              </a:rPr>
              <a:t>Why the C740-C9QX Is the Least Expensive</a:t>
            </a:r>
          </a:p>
          <a:p>
            <a:endParaRPr lang="en-US" b="1" dirty="0">
              <a:solidFill>
                <a:srgbClr val="00B050"/>
              </a:solidFill>
              <a:latin typeface="Comic Sans MS" panose="030F0702030302020204" pitchFamily="66" charset="0"/>
            </a:endParaRPr>
          </a:p>
          <a:p>
            <a:r>
              <a:rPr lang="en-US" sz="2400" b="1" dirty="0">
                <a:solidFill>
                  <a:srgbClr val="00B050"/>
                </a:solidFill>
                <a:latin typeface="Comic Sans MS" panose="030F0702030302020204" pitchFamily="66" charset="0"/>
              </a:rPr>
              <a:t>Basic CPU</a:t>
            </a:r>
            <a:r>
              <a:rPr lang="en-US" sz="2400" dirty="0">
                <a:solidFill>
                  <a:srgbClr val="00B050"/>
                </a:solidFill>
                <a:latin typeface="Comic Sans MS" panose="030F0702030302020204" pitchFamily="66" charset="0"/>
              </a:rPr>
              <a:t> (Intel 3205U)</a:t>
            </a:r>
            <a:r>
              <a:rPr lang="en-US" sz="2400" dirty="0">
                <a:solidFill>
                  <a:srgbClr val="00B0F0"/>
                </a:solidFill>
                <a:latin typeface="Comic Sans MS" panose="030F0702030302020204" pitchFamily="66" charset="0"/>
              </a:rPr>
              <a:t> for light tasks</a:t>
            </a:r>
          </a:p>
          <a:p>
            <a:r>
              <a:rPr lang="en-US" sz="2400" b="1" dirty="0">
                <a:solidFill>
                  <a:srgbClr val="00B050"/>
                </a:solidFill>
                <a:latin typeface="Comic Sans MS" panose="030F0702030302020204" pitchFamily="66" charset="0"/>
              </a:rPr>
              <a:t>Low RAM</a:t>
            </a:r>
            <a:r>
              <a:rPr lang="en-US" sz="2400" dirty="0">
                <a:solidFill>
                  <a:srgbClr val="00B050"/>
                </a:solidFill>
                <a:latin typeface="Comic Sans MS" panose="030F0702030302020204" pitchFamily="66" charset="0"/>
              </a:rPr>
              <a:t> (2GB) </a:t>
            </a:r>
            <a:r>
              <a:rPr lang="en-US" sz="2400" dirty="0">
                <a:solidFill>
                  <a:srgbClr val="00B0F0"/>
                </a:solidFill>
                <a:latin typeface="Comic Sans MS" panose="030F0702030302020204" pitchFamily="66" charset="0"/>
              </a:rPr>
              <a:t>limits performance</a:t>
            </a:r>
          </a:p>
          <a:p>
            <a:r>
              <a:rPr lang="en-US" sz="2400" b="1" dirty="0">
                <a:solidFill>
                  <a:srgbClr val="00B050"/>
                </a:solidFill>
                <a:latin typeface="Comic Sans MS" panose="030F0702030302020204" pitchFamily="66" charset="0"/>
              </a:rPr>
              <a:t>Small storage</a:t>
            </a:r>
            <a:r>
              <a:rPr lang="en-US" sz="2400" dirty="0">
                <a:solidFill>
                  <a:srgbClr val="00B050"/>
                </a:solidFill>
                <a:latin typeface="Comic Sans MS" panose="030F0702030302020204" pitchFamily="66" charset="0"/>
              </a:rPr>
              <a:t> </a:t>
            </a:r>
            <a:r>
              <a:rPr lang="en-US" sz="2400" dirty="0">
                <a:solidFill>
                  <a:srgbClr val="00B0F0"/>
                </a:solidFill>
                <a:latin typeface="Comic Sans MS" panose="030F0702030302020204" pitchFamily="66" charset="0"/>
              </a:rPr>
              <a:t>(32GB, likely eMMC)</a:t>
            </a:r>
          </a:p>
          <a:p>
            <a:r>
              <a:rPr lang="en-US" sz="2400" b="1" dirty="0">
                <a:solidFill>
                  <a:srgbClr val="00B050"/>
                </a:solidFill>
                <a:latin typeface="Comic Sans MS" panose="030F0702030302020204" pitchFamily="66" charset="0"/>
              </a:rPr>
              <a:t>Chrome OS</a:t>
            </a:r>
            <a:r>
              <a:rPr lang="en-US" sz="2400" dirty="0">
                <a:solidFill>
                  <a:srgbClr val="00B0F0"/>
                </a:solidFill>
                <a:latin typeface="Comic Sans MS" panose="030F0702030302020204" pitchFamily="66" charset="0"/>
              </a:rPr>
              <a:t> for lightweight, web-based use</a:t>
            </a:r>
          </a:p>
          <a:p>
            <a:r>
              <a:rPr lang="en-US" sz="2400" b="1" dirty="0">
                <a:solidFill>
                  <a:srgbClr val="00B050"/>
                </a:solidFill>
                <a:latin typeface="Comic Sans MS" panose="030F0702030302020204" pitchFamily="66" charset="0"/>
              </a:rPr>
              <a:t>No premium features</a:t>
            </a:r>
            <a:r>
              <a:rPr lang="en-US" sz="2400" dirty="0">
                <a:solidFill>
                  <a:srgbClr val="00B050"/>
                </a:solidFill>
                <a:latin typeface="Comic Sans MS" panose="030F0702030302020204" pitchFamily="66" charset="0"/>
              </a:rPr>
              <a:t> </a:t>
            </a:r>
            <a:r>
              <a:rPr lang="en-US" sz="2400" dirty="0">
                <a:solidFill>
                  <a:srgbClr val="00B0F0"/>
                </a:solidFill>
                <a:latin typeface="Comic Sans MS" panose="030F0702030302020204" pitchFamily="66" charset="0"/>
              </a:rPr>
              <a:t>or materials</a:t>
            </a:r>
          </a:p>
          <a:p>
            <a:r>
              <a:rPr lang="en-US" sz="2400" b="1" dirty="0">
                <a:solidFill>
                  <a:srgbClr val="00B050"/>
                </a:solidFill>
                <a:latin typeface="Comic Sans MS" panose="030F0702030302020204" pitchFamily="66" charset="0"/>
              </a:rPr>
              <a:t>Designed for budget or educational use</a:t>
            </a:r>
            <a:endParaRPr lang="en-US" sz="2400" dirty="0">
              <a:solidFill>
                <a:srgbClr val="00B050"/>
              </a:solidFill>
              <a:latin typeface="Comic Sans MS" panose="030F0702030302020204" pitchFamily="66" charset="0"/>
            </a:endParaRPr>
          </a:p>
          <a:p>
            <a:endParaRPr lang="en-US" sz="2400" dirty="0">
              <a:solidFill>
                <a:srgbClr val="00B0F0"/>
              </a:solidFill>
              <a:latin typeface="Comic Sans MS" panose="030F0702030302020204" pitchFamily="66" charset="0"/>
            </a:endParaRPr>
          </a:p>
          <a:p>
            <a:endParaRPr lang="en-US" sz="2400" dirty="0">
              <a:solidFill>
                <a:srgbClr val="00B0F0"/>
              </a:solidFill>
              <a:latin typeface="Comic Sans MS" panose="030F0702030302020204" pitchFamily="66" charset="0"/>
            </a:endParaRPr>
          </a:p>
          <a:p>
            <a:endParaRPr lang="en-IN" b="1" dirty="0">
              <a:solidFill>
                <a:srgbClr val="00B050"/>
              </a:solidFill>
            </a:endParaRPr>
          </a:p>
        </p:txBody>
      </p:sp>
    </p:spTree>
    <p:extLst>
      <p:ext uri="{BB962C8B-B14F-4D97-AF65-F5344CB8AC3E}">
        <p14:creationId xmlns:p14="http://schemas.microsoft.com/office/powerpoint/2010/main" val="465281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22671-A7E8-53D9-43B0-9EEFBB22A8CA}"/>
              </a:ext>
            </a:extLst>
          </p:cNvPr>
          <p:cNvSpPr>
            <a:spLocks noGrp="1"/>
          </p:cNvSpPr>
          <p:nvPr>
            <p:ph type="title"/>
          </p:nvPr>
        </p:nvSpPr>
        <p:spPr>
          <a:xfrm>
            <a:off x="217714" y="174171"/>
            <a:ext cx="11734800" cy="1164772"/>
          </a:xfrm>
        </p:spPr>
        <p:txBody>
          <a:bodyPr/>
          <a:lstStyle/>
          <a:p>
            <a:r>
              <a:rPr lang="en-US" b="1" dirty="0">
                <a:solidFill>
                  <a:srgbClr val="00B050"/>
                </a:solidFill>
                <a:latin typeface="+mn-lt"/>
              </a:rPr>
              <a:t>6.Most Expensive Product from each Company</a:t>
            </a:r>
            <a:endParaRPr lang="en-IN" b="1" dirty="0">
              <a:solidFill>
                <a:srgbClr val="00B050"/>
              </a:solidFill>
              <a:latin typeface="+mn-lt"/>
            </a:endParaRPr>
          </a:p>
        </p:txBody>
      </p:sp>
      <p:pic>
        <p:nvPicPr>
          <p:cNvPr id="5" name="Content Placeholder 4">
            <a:extLst>
              <a:ext uri="{FF2B5EF4-FFF2-40B4-BE49-F238E27FC236}">
                <a16:creationId xmlns:a16="http://schemas.microsoft.com/office/drawing/2014/main" id="{C349748F-47FD-D17E-EEF2-CE12B6ADA4AE}"/>
              </a:ext>
            </a:extLst>
          </p:cNvPr>
          <p:cNvPicPr>
            <a:picLocks noGrp="1" noChangeAspect="1"/>
          </p:cNvPicPr>
          <p:nvPr>
            <p:ph idx="1"/>
          </p:nvPr>
        </p:nvPicPr>
        <p:blipFill>
          <a:blip r:embed="rId2"/>
          <a:stretch>
            <a:fillRect/>
          </a:stretch>
        </p:blipFill>
        <p:spPr>
          <a:xfrm>
            <a:off x="141514" y="1338943"/>
            <a:ext cx="11832771" cy="5344886"/>
          </a:xfrm>
        </p:spPr>
      </p:pic>
    </p:spTree>
    <p:extLst>
      <p:ext uri="{BB962C8B-B14F-4D97-AF65-F5344CB8AC3E}">
        <p14:creationId xmlns:p14="http://schemas.microsoft.com/office/powerpoint/2010/main" val="3407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BD85F-5725-51F9-2A7D-8925ECC9663C}"/>
              </a:ext>
            </a:extLst>
          </p:cNvPr>
          <p:cNvSpPr>
            <a:spLocks noGrp="1"/>
          </p:cNvSpPr>
          <p:nvPr>
            <p:ph type="title"/>
          </p:nvPr>
        </p:nvSpPr>
        <p:spPr>
          <a:xfrm>
            <a:off x="359229" y="97971"/>
            <a:ext cx="11386457" cy="903515"/>
          </a:xfrm>
        </p:spPr>
        <p:txBody>
          <a:bodyPr/>
          <a:lstStyle/>
          <a:p>
            <a:r>
              <a:rPr lang="en-US" b="1" dirty="0">
                <a:solidFill>
                  <a:srgbClr val="00B050"/>
                </a:solidFill>
                <a:latin typeface="+mn-lt"/>
              </a:rPr>
              <a:t>7.Least Expensive Product per Company</a:t>
            </a:r>
            <a:endParaRPr lang="en-IN" b="1" dirty="0">
              <a:latin typeface="+mn-lt"/>
            </a:endParaRPr>
          </a:p>
        </p:txBody>
      </p:sp>
      <p:pic>
        <p:nvPicPr>
          <p:cNvPr id="5" name="Content Placeholder 4">
            <a:extLst>
              <a:ext uri="{FF2B5EF4-FFF2-40B4-BE49-F238E27FC236}">
                <a16:creationId xmlns:a16="http://schemas.microsoft.com/office/drawing/2014/main" id="{16F2E0B1-14BB-6409-0B34-A29E82A96D5E}"/>
              </a:ext>
            </a:extLst>
          </p:cNvPr>
          <p:cNvPicPr>
            <a:picLocks noGrp="1" noChangeAspect="1"/>
          </p:cNvPicPr>
          <p:nvPr>
            <p:ph idx="1"/>
          </p:nvPr>
        </p:nvPicPr>
        <p:blipFill>
          <a:blip r:embed="rId2"/>
          <a:stretch>
            <a:fillRect/>
          </a:stretch>
        </p:blipFill>
        <p:spPr>
          <a:xfrm>
            <a:off x="119744" y="1284514"/>
            <a:ext cx="11876314" cy="5475515"/>
          </a:xfrm>
        </p:spPr>
      </p:pic>
    </p:spTree>
    <p:extLst>
      <p:ext uri="{BB962C8B-B14F-4D97-AF65-F5344CB8AC3E}">
        <p14:creationId xmlns:p14="http://schemas.microsoft.com/office/powerpoint/2010/main" val="1943020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BFB3E-501A-1A58-7D5D-141E3244C841}"/>
              </a:ext>
            </a:extLst>
          </p:cNvPr>
          <p:cNvSpPr>
            <a:spLocks noGrp="1"/>
          </p:cNvSpPr>
          <p:nvPr>
            <p:ph type="title"/>
          </p:nvPr>
        </p:nvSpPr>
        <p:spPr>
          <a:xfrm>
            <a:off x="97971" y="163287"/>
            <a:ext cx="11930743" cy="870856"/>
          </a:xfrm>
        </p:spPr>
        <p:txBody>
          <a:bodyPr/>
          <a:lstStyle/>
          <a:p>
            <a:r>
              <a:rPr lang="en-US" b="1" dirty="0">
                <a:solidFill>
                  <a:srgbClr val="00B050"/>
                </a:solidFill>
                <a:latin typeface="+mn-lt"/>
              </a:rPr>
              <a:t>8.Top 5 Companies by Total Revenue</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79217389-3280-FF0C-11B8-E43C0D40D91C}"/>
              </a:ext>
            </a:extLst>
          </p:cNvPr>
          <p:cNvPicPr>
            <a:picLocks noGrp="1" noChangeAspect="1"/>
          </p:cNvPicPr>
          <p:nvPr>
            <p:ph sz="half" idx="1"/>
          </p:nvPr>
        </p:nvPicPr>
        <p:blipFill>
          <a:blip r:embed="rId2"/>
          <a:stretch>
            <a:fillRect/>
          </a:stretch>
        </p:blipFill>
        <p:spPr>
          <a:xfrm>
            <a:off x="97971" y="1262742"/>
            <a:ext cx="7467599" cy="5301343"/>
          </a:xfrm>
        </p:spPr>
      </p:pic>
      <p:sp>
        <p:nvSpPr>
          <p:cNvPr id="4" name="Content Placeholder 3">
            <a:extLst>
              <a:ext uri="{FF2B5EF4-FFF2-40B4-BE49-F238E27FC236}">
                <a16:creationId xmlns:a16="http://schemas.microsoft.com/office/drawing/2014/main" id="{4D17D0EC-8D09-5E30-E7E3-C15E4B3F0B61}"/>
              </a:ext>
            </a:extLst>
          </p:cNvPr>
          <p:cNvSpPr>
            <a:spLocks noGrp="1"/>
          </p:cNvSpPr>
          <p:nvPr>
            <p:ph sz="half" idx="2"/>
          </p:nvPr>
        </p:nvSpPr>
        <p:spPr>
          <a:xfrm>
            <a:off x="7815942" y="1262742"/>
            <a:ext cx="4212771" cy="5301343"/>
          </a:xfrm>
        </p:spPr>
        <p:txBody>
          <a:bodyPr>
            <a:normAutofit/>
          </a:bodyPr>
          <a:lstStyle/>
          <a:p>
            <a:r>
              <a:rPr lang="en-US" sz="4000" b="1" dirty="0">
                <a:solidFill>
                  <a:srgbClr val="00B050"/>
                </a:solidFill>
                <a:latin typeface="Comic Sans MS" panose="030F0702030302020204" pitchFamily="66" charset="0"/>
              </a:rPr>
              <a:t> Insight</a:t>
            </a:r>
          </a:p>
          <a:p>
            <a:endParaRPr lang="en-US" dirty="0">
              <a:latin typeface="Comic Sans MS" panose="030F0702030302020204" pitchFamily="66" charset="0"/>
            </a:endParaRPr>
          </a:p>
          <a:p>
            <a:r>
              <a:rPr lang="en-US" dirty="0">
                <a:latin typeface="Comic Sans MS" panose="030F0702030302020204" pitchFamily="66" charset="0"/>
              </a:rPr>
              <a:t> </a:t>
            </a:r>
            <a:r>
              <a:rPr lang="en-US" sz="2400" dirty="0">
                <a:solidFill>
                  <a:srgbClr val="00B050"/>
                </a:solidFill>
                <a:latin typeface="Comic Sans MS" panose="030F0702030302020204" pitchFamily="66" charset="0"/>
              </a:rPr>
              <a:t>Dell has the highest revenue, </a:t>
            </a:r>
            <a:r>
              <a:rPr lang="en-US" sz="2400" dirty="0">
                <a:solidFill>
                  <a:srgbClr val="00B0F0"/>
                </a:solidFill>
                <a:latin typeface="Comic Sans MS" panose="030F0702030302020204" pitchFamily="66" charset="0"/>
              </a:rPr>
              <a:t>approximately €349,974.50,</a:t>
            </a:r>
          </a:p>
          <a:p>
            <a:endParaRPr lang="en-US" sz="2400" dirty="0">
              <a:solidFill>
                <a:srgbClr val="00B0F0"/>
              </a:solidFill>
              <a:latin typeface="Comic Sans MS" panose="030F0702030302020204" pitchFamily="66" charset="0"/>
            </a:endParaRPr>
          </a:p>
          <a:p>
            <a:r>
              <a:rPr lang="en-US" sz="2400" dirty="0">
                <a:solidFill>
                  <a:srgbClr val="00B0F0"/>
                </a:solidFill>
                <a:latin typeface="Comic Sans MS" panose="030F0702030302020204" pitchFamily="66" charset="0"/>
              </a:rPr>
              <a:t> Lenovo follows closely with around €316,126.19 </a:t>
            </a:r>
          </a:p>
          <a:p>
            <a:endParaRPr lang="en-US" sz="2400" dirty="0">
              <a:solidFill>
                <a:srgbClr val="00B0F0"/>
              </a:solidFill>
              <a:latin typeface="Comic Sans MS" panose="030F0702030302020204" pitchFamily="66" charset="0"/>
            </a:endParaRPr>
          </a:p>
          <a:p>
            <a:r>
              <a:rPr lang="en-US" sz="2400" dirty="0">
                <a:solidFill>
                  <a:srgbClr val="00B0F0"/>
                </a:solidFill>
                <a:latin typeface="Comic Sans MS" panose="030F0702030302020204" pitchFamily="66" charset="0"/>
              </a:rPr>
              <a:t> And HP is in third place with approximately €289,524.34</a:t>
            </a:r>
            <a:r>
              <a:rPr lang="en-US" sz="2400" dirty="0">
                <a:latin typeface="Comic Sans MS" panose="030F0702030302020204" pitchFamily="66" charset="0"/>
              </a:rPr>
              <a:t>.</a:t>
            </a:r>
            <a:endParaRPr lang="en-IN" sz="2400" dirty="0">
              <a:latin typeface="Comic Sans MS" panose="030F0702030302020204" pitchFamily="66" charset="0"/>
            </a:endParaRPr>
          </a:p>
        </p:txBody>
      </p:sp>
    </p:spTree>
    <p:extLst>
      <p:ext uri="{BB962C8B-B14F-4D97-AF65-F5344CB8AC3E}">
        <p14:creationId xmlns:p14="http://schemas.microsoft.com/office/powerpoint/2010/main" val="2886480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9D503-6AB9-6481-1844-F8C274D63B05}"/>
              </a:ext>
            </a:extLst>
          </p:cNvPr>
          <p:cNvSpPr>
            <a:spLocks noGrp="1"/>
          </p:cNvSpPr>
          <p:nvPr>
            <p:ph type="title"/>
          </p:nvPr>
        </p:nvSpPr>
        <p:spPr>
          <a:xfrm>
            <a:off x="217714" y="163287"/>
            <a:ext cx="11669486" cy="664028"/>
          </a:xfrm>
        </p:spPr>
        <p:txBody>
          <a:bodyPr>
            <a:normAutofit/>
          </a:bodyPr>
          <a:lstStyle/>
          <a:p>
            <a:r>
              <a:rPr lang="en-US" sz="2800" b="1" dirty="0">
                <a:solidFill>
                  <a:srgbClr val="00B050"/>
                </a:solidFill>
                <a:latin typeface="+mn-lt"/>
              </a:rPr>
              <a:t>9. Companies with highest share of products sold in each Price Category:</a:t>
            </a:r>
            <a:endParaRPr lang="en-IN" sz="2800" b="1" dirty="0">
              <a:solidFill>
                <a:srgbClr val="00B050"/>
              </a:solidFill>
              <a:latin typeface="+mn-lt"/>
            </a:endParaRPr>
          </a:p>
        </p:txBody>
      </p:sp>
      <p:pic>
        <p:nvPicPr>
          <p:cNvPr id="6" name="Content Placeholder 5">
            <a:extLst>
              <a:ext uri="{FF2B5EF4-FFF2-40B4-BE49-F238E27FC236}">
                <a16:creationId xmlns:a16="http://schemas.microsoft.com/office/drawing/2014/main" id="{B0687AC0-BAA5-10DC-5DC3-F4F7E9233621}"/>
              </a:ext>
            </a:extLst>
          </p:cNvPr>
          <p:cNvPicPr>
            <a:picLocks noGrp="1" noChangeAspect="1"/>
          </p:cNvPicPr>
          <p:nvPr>
            <p:ph sz="half" idx="1"/>
          </p:nvPr>
        </p:nvPicPr>
        <p:blipFill>
          <a:blip r:embed="rId2"/>
          <a:stretch>
            <a:fillRect/>
          </a:stretch>
        </p:blipFill>
        <p:spPr>
          <a:xfrm>
            <a:off x="130629" y="1110343"/>
            <a:ext cx="7587342" cy="5584369"/>
          </a:xfrm>
        </p:spPr>
      </p:pic>
      <p:sp>
        <p:nvSpPr>
          <p:cNvPr id="4" name="Content Placeholder 3">
            <a:extLst>
              <a:ext uri="{FF2B5EF4-FFF2-40B4-BE49-F238E27FC236}">
                <a16:creationId xmlns:a16="http://schemas.microsoft.com/office/drawing/2014/main" id="{15718137-1F75-1B86-2959-93E96808D0A8}"/>
              </a:ext>
            </a:extLst>
          </p:cNvPr>
          <p:cNvSpPr>
            <a:spLocks noGrp="1"/>
          </p:cNvSpPr>
          <p:nvPr>
            <p:ph sz="half" idx="2"/>
          </p:nvPr>
        </p:nvSpPr>
        <p:spPr>
          <a:xfrm>
            <a:off x="7935685" y="1110343"/>
            <a:ext cx="4125685" cy="5584368"/>
          </a:xfrm>
        </p:spPr>
        <p:txBody>
          <a:bodyPr>
            <a:normAutofit/>
          </a:bodyPr>
          <a:lstStyle/>
          <a:p>
            <a:r>
              <a:rPr lang="en-US" sz="2400" dirty="0">
                <a:solidFill>
                  <a:srgbClr val="00B0F0"/>
                </a:solidFill>
                <a:latin typeface="Comic Sans MS" panose="030F0702030302020204" pitchFamily="66" charset="0"/>
              </a:rPr>
              <a:t>INSIGHT:</a:t>
            </a:r>
          </a:p>
          <a:p>
            <a:endParaRPr lang="en-US" sz="2400" dirty="0">
              <a:solidFill>
                <a:srgbClr val="00B0F0"/>
              </a:solidFill>
              <a:latin typeface="Comic Sans MS" panose="030F0702030302020204" pitchFamily="66" charset="0"/>
            </a:endParaRPr>
          </a:p>
          <a:p>
            <a:r>
              <a:rPr lang="en-US" sz="2400" dirty="0">
                <a:solidFill>
                  <a:srgbClr val="00B050"/>
                </a:solidFill>
                <a:latin typeface="Comic Sans MS" panose="030F0702030302020204" pitchFamily="66" charset="0"/>
              </a:rPr>
              <a:t>Dell</a:t>
            </a:r>
            <a:r>
              <a:rPr lang="en-US" sz="2400" dirty="0">
                <a:solidFill>
                  <a:srgbClr val="00B0F0"/>
                </a:solidFill>
                <a:latin typeface="Comic Sans MS" panose="030F0702030302020204" pitchFamily="66" charset="0"/>
              </a:rPr>
              <a:t> has the highest number of product count </a:t>
            </a:r>
            <a:r>
              <a:rPr lang="en-US" sz="2400" dirty="0">
                <a:solidFill>
                  <a:srgbClr val="00B050"/>
                </a:solidFill>
                <a:latin typeface="Comic Sans MS" panose="030F0702030302020204" pitchFamily="66" charset="0"/>
              </a:rPr>
              <a:t>in High price category</a:t>
            </a:r>
            <a:r>
              <a:rPr lang="en-US" sz="2400" dirty="0">
                <a:solidFill>
                  <a:srgbClr val="00B0F0"/>
                </a:solidFill>
                <a:latin typeface="Comic Sans MS" panose="030F0702030302020204" pitchFamily="66" charset="0"/>
              </a:rPr>
              <a:t>.</a:t>
            </a:r>
          </a:p>
          <a:p>
            <a:endParaRPr lang="en-US" sz="2400" dirty="0">
              <a:solidFill>
                <a:srgbClr val="00B0F0"/>
              </a:solidFill>
              <a:latin typeface="Comic Sans MS" panose="030F0702030302020204" pitchFamily="66" charset="0"/>
            </a:endParaRPr>
          </a:p>
          <a:p>
            <a:r>
              <a:rPr lang="en-US" sz="2400" dirty="0">
                <a:solidFill>
                  <a:srgbClr val="00B050"/>
                </a:solidFill>
                <a:latin typeface="Comic Sans MS" panose="030F0702030302020204" pitchFamily="66" charset="0"/>
              </a:rPr>
              <a:t> Lenovo </a:t>
            </a:r>
            <a:r>
              <a:rPr lang="en-US" sz="2400" dirty="0">
                <a:solidFill>
                  <a:srgbClr val="00B0F0"/>
                </a:solidFill>
                <a:latin typeface="Comic Sans MS" panose="030F0702030302020204" pitchFamily="66" charset="0"/>
              </a:rPr>
              <a:t>has the highest number of product count in </a:t>
            </a:r>
            <a:r>
              <a:rPr lang="en-US" sz="2400" dirty="0">
                <a:solidFill>
                  <a:srgbClr val="00B050"/>
                </a:solidFill>
                <a:latin typeface="Comic Sans MS" panose="030F0702030302020204" pitchFamily="66" charset="0"/>
              </a:rPr>
              <a:t>Low price Category</a:t>
            </a:r>
          </a:p>
          <a:p>
            <a:endParaRPr lang="en-US" sz="2400" dirty="0">
              <a:solidFill>
                <a:srgbClr val="00B0F0"/>
              </a:solidFill>
              <a:latin typeface="Comic Sans MS" panose="030F0702030302020204" pitchFamily="66" charset="0"/>
            </a:endParaRPr>
          </a:p>
          <a:p>
            <a:r>
              <a:rPr lang="en-US" sz="2400" dirty="0">
                <a:solidFill>
                  <a:srgbClr val="00B050"/>
                </a:solidFill>
                <a:latin typeface="Comic Sans MS" panose="030F0702030302020204" pitchFamily="66" charset="0"/>
              </a:rPr>
              <a:t> HP </a:t>
            </a:r>
            <a:r>
              <a:rPr lang="en-US" sz="2400" dirty="0">
                <a:solidFill>
                  <a:srgbClr val="00B0F0"/>
                </a:solidFill>
                <a:latin typeface="Comic Sans MS" panose="030F0702030302020204" pitchFamily="66" charset="0"/>
              </a:rPr>
              <a:t>has the highest number of product count </a:t>
            </a:r>
            <a:r>
              <a:rPr lang="en-US" sz="2400" dirty="0">
                <a:solidFill>
                  <a:srgbClr val="00B050"/>
                </a:solidFill>
                <a:latin typeface="Comic Sans MS" panose="030F0702030302020204" pitchFamily="66" charset="0"/>
              </a:rPr>
              <a:t>in Mid price Category</a:t>
            </a:r>
            <a:r>
              <a:rPr lang="en-US" sz="2400" dirty="0">
                <a:solidFill>
                  <a:srgbClr val="00B0F0"/>
                </a:solidFill>
                <a:latin typeface="Comic Sans MS" panose="030F0702030302020204" pitchFamily="66" charset="0"/>
              </a:rPr>
              <a:t>:</a:t>
            </a:r>
            <a:endParaRPr lang="en-IN" sz="2400" dirty="0">
              <a:solidFill>
                <a:srgbClr val="00B0F0"/>
              </a:solidFill>
              <a:latin typeface="Comic Sans MS" panose="030F0702030302020204" pitchFamily="66" charset="0"/>
            </a:endParaRPr>
          </a:p>
        </p:txBody>
      </p:sp>
    </p:spTree>
    <p:extLst>
      <p:ext uri="{BB962C8B-B14F-4D97-AF65-F5344CB8AC3E}">
        <p14:creationId xmlns:p14="http://schemas.microsoft.com/office/powerpoint/2010/main" val="2822781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19FAB-435C-FB9D-8FB3-BD3837925C8F}"/>
              </a:ext>
            </a:extLst>
          </p:cNvPr>
          <p:cNvSpPr>
            <a:spLocks noGrp="1"/>
          </p:cNvSpPr>
          <p:nvPr>
            <p:ph type="title"/>
          </p:nvPr>
        </p:nvSpPr>
        <p:spPr>
          <a:xfrm>
            <a:off x="152399" y="206830"/>
            <a:ext cx="11702143" cy="816428"/>
          </a:xfrm>
        </p:spPr>
        <p:txBody>
          <a:bodyPr>
            <a:normAutofit/>
          </a:bodyPr>
          <a:lstStyle/>
          <a:p>
            <a:r>
              <a:rPr lang="en-US" b="1" dirty="0">
                <a:solidFill>
                  <a:srgbClr val="00B050"/>
                </a:solidFill>
                <a:latin typeface="+mn-lt"/>
              </a:rPr>
              <a:t>10.Average Laptop Price by CPU Frequency Range</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027F0F8E-9B42-F384-4E43-E52361043E1F}"/>
              </a:ext>
            </a:extLst>
          </p:cNvPr>
          <p:cNvPicPr>
            <a:picLocks noGrp="1" noChangeAspect="1"/>
          </p:cNvPicPr>
          <p:nvPr>
            <p:ph sz="half" idx="1"/>
          </p:nvPr>
        </p:nvPicPr>
        <p:blipFill>
          <a:blip r:embed="rId2"/>
          <a:stretch>
            <a:fillRect/>
          </a:stretch>
        </p:blipFill>
        <p:spPr>
          <a:xfrm>
            <a:off x="152399" y="1284514"/>
            <a:ext cx="7217230" cy="5366656"/>
          </a:xfrm>
        </p:spPr>
      </p:pic>
      <p:sp>
        <p:nvSpPr>
          <p:cNvPr id="4" name="Content Placeholder 3">
            <a:extLst>
              <a:ext uri="{FF2B5EF4-FFF2-40B4-BE49-F238E27FC236}">
                <a16:creationId xmlns:a16="http://schemas.microsoft.com/office/drawing/2014/main" id="{35E03677-155E-CFE2-2204-5837B419820E}"/>
              </a:ext>
            </a:extLst>
          </p:cNvPr>
          <p:cNvSpPr>
            <a:spLocks noGrp="1"/>
          </p:cNvSpPr>
          <p:nvPr>
            <p:ph sz="half" idx="2"/>
          </p:nvPr>
        </p:nvSpPr>
        <p:spPr>
          <a:xfrm>
            <a:off x="7641771" y="1284514"/>
            <a:ext cx="4397829" cy="5366656"/>
          </a:xfrm>
        </p:spPr>
        <p:txBody>
          <a:bodyPr>
            <a:normAutofit fontScale="62500" lnSpcReduction="20000"/>
          </a:bodyPr>
          <a:lstStyle/>
          <a:p>
            <a:r>
              <a:rPr lang="en-US" sz="5100" dirty="0">
                <a:solidFill>
                  <a:srgbClr val="00B0F0"/>
                </a:solidFill>
                <a:latin typeface="Comic Sans MS" panose="030F0702030302020204" pitchFamily="66" charset="0"/>
              </a:rPr>
              <a:t>Insight:</a:t>
            </a:r>
          </a:p>
          <a:p>
            <a:endParaRPr lang="en-US" dirty="0">
              <a:solidFill>
                <a:srgbClr val="00B0F0"/>
              </a:solidFill>
              <a:latin typeface="Comic Sans MS" panose="030F0702030302020204" pitchFamily="66" charset="0"/>
            </a:endParaRPr>
          </a:p>
          <a:p>
            <a:r>
              <a:rPr lang="en-US" dirty="0">
                <a:solidFill>
                  <a:srgbClr val="FFFF00"/>
                </a:solidFill>
                <a:latin typeface="Comic Sans MS" panose="030F0702030302020204" pitchFamily="66" charset="0"/>
              </a:rPr>
              <a:t>Laptops with a </a:t>
            </a:r>
            <a:r>
              <a:rPr lang="en-US" b="1" dirty="0">
                <a:solidFill>
                  <a:srgbClr val="FFFF00"/>
                </a:solidFill>
                <a:latin typeface="Comic Sans MS" panose="030F0702030302020204" pitchFamily="66" charset="0"/>
              </a:rPr>
              <a:t>CPU frequency range between 2–3 GHz</a:t>
            </a:r>
            <a:r>
              <a:rPr lang="en-US" dirty="0">
                <a:solidFill>
                  <a:srgbClr val="FFFF00"/>
                </a:solidFill>
                <a:latin typeface="Comic Sans MS" panose="030F0702030302020204" pitchFamily="66" charset="0"/>
              </a:rPr>
              <a:t> have the </a:t>
            </a:r>
            <a:r>
              <a:rPr lang="en-US" b="1" dirty="0">
                <a:solidFill>
                  <a:srgbClr val="FFFF00"/>
                </a:solidFill>
                <a:latin typeface="Comic Sans MS" panose="030F0702030302020204" pitchFamily="66" charset="0"/>
              </a:rPr>
              <a:t>highest average price</a:t>
            </a:r>
            <a:r>
              <a:rPr lang="en-US" dirty="0">
                <a:solidFill>
                  <a:srgbClr val="00B0F0"/>
                </a:solidFill>
                <a:latin typeface="Comic Sans MS" panose="030F0702030302020204" pitchFamily="66" charset="0"/>
              </a:rPr>
              <a:t>,</a:t>
            </a:r>
          </a:p>
          <a:p>
            <a:r>
              <a:rPr lang="en-US" dirty="0">
                <a:solidFill>
                  <a:srgbClr val="00B0F0"/>
                </a:solidFill>
                <a:latin typeface="Comic Sans MS" panose="030F0702030302020204" pitchFamily="66" charset="0"/>
              </a:rPr>
              <a:t>followed by those in the </a:t>
            </a:r>
            <a:r>
              <a:rPr lang="en-US" b="1" dirty="0">
                <a:solidFill>
                  <a:srgbClr val="00B0F0"/>
                </a:solidFill>
                <a:latin typeface="Comic Sans MS" panose="030F0702030302020204" pitchFamily="66" charset="0"/>
              </a:rPr>
              <a:t>3-4GHz</a:t>
            </a:r>
            <a:r>
              <a:rPr lang="en-US" dirty="0">
                <a:solidFill>
                  <a:srgbClr val="00B0F0"/>
                </a:solidFill>
                <a:latin typeface="Comic Sans MS" panose="030F0702030302020204" pitchFamily="66" charset="0"/>
              </a:rPr>
              <a:t> and </a:t>
            </a:r>
            <a:r>
              <a:rPr lang="en-US" b="1" dirty="0">
                <a:solidFill>
                  <a:srgbClr val="00B0F0"/>
                </a:solidFill>
                <a:latin typeface="Comic Sans MS" panose="030F0702030302020204" pitchFamily="66" charset="0"/>
              </a:rPr>
              <a:t>1-2 GHz</a:t>
            </a:r>
            <a:r>
              <a:rPr lang="en-US" dirty="0">
                <a:solidFill>
                  <a:srgbClr val="00B0F0"/>
                </a:solidFill>
                <a:latin typeface="Comic Sans MS" panose="030F0702030302020204" pitchFamily="66" charset="0"/>
              </a:rPr>
              <a:t> ranges.</a:t>
            </a:r>
          </a:p>
          <a:p>
            <a:r>
              <a:rPr lang="en-US" dirty="0">
                <a:solidFill>
                  <a:srgbClr val="00B0F0"/>
                </a:solidFill>
                <a:latin typeface="Comic Sans MS" panose="030F0702030302020204" pitchFamily="66" charset="0"/>
              </a:rPr>
              <a:t> </a:t>
            </a:r>
          </a:p>
          <a:p>
            <a:r>
              <a:rPr lang="en-US" b="1" dirty="0">
                <a:solidFill>
                  <a:srgbClr val="FFFF00"/>
                </a:solidFill>
                <a:latin typeface="Comic Sans MS" panose="030F0702030302020204" pitchFamily="66" charset="0"/>
              </a:rPr>
              <a:t>CPU frequency is not the sole determinant of price</a:t>
            </a:r>
            <a:r>
              <a:rPr lang="en-US" b="1" dirty="0">
                <a:solidFill>
                  <a:srgbClr val="00B0F0"/>
                </a:solidFill>
                <a:latin typeface="Comic Sans MS" panose="030F0702030302020204" pitchFamily="66" charset="0"/>
              </a:rPr>
              <a:t>.</a:t>
            </a:r>
            <a:r>
              <a:rPr lang="en-US" dirty="0">
                <a:solidFill>
                  <a:srgbClr val="00B0F0"/>
                </a:solidFill>
                <a:latin typeface="Comic Sans MS" panose="030F0702030302020204" pitchFamily="66" charset="0"/>
              </a:rPr>
              <a:t> Other important factors also significantly influence laptop pricing, such as:</a:t>
            </a:r>
          </a:p>
          <a:p>
            <a:endParaRPr lang="en-US" dirty="0">
              <a:solidFill>
                <a:srgbClr val="00B0F0"/>
              </a:solidFill>
              <a:latin typeface="Comic Sans MS" panose="030F0702030302020204" pitchFamily="66" charset="0"/>
            </a:endParaRPr>
          </a:p>
          <a:p>
            <a:r>
              <a:rPr lang="en-US" b="1" dirty="0">
                <a:solidFill>
                  <a:srgbClr val="FFFF00"/>
                </a:solidFill>
                <a:latin typeface="Comic Sans MS" panose="030F0702030302020204" pitchFamily="66" charset="0"/>
              </a:rPr>
              <a:t>RAM size and type</a:t>
            </a:r>
            <a:endParaRPr lang="en-US" dirty="0">
              <a:solidFill>
                <a:srgbClr val="FFFF00"/>
              </a:solidFill>
              <a:latin typeface="Comic Sans MS" panose="030F0702030302020204" pitchFamily="66" charset="0"/>
            </a:endParaRPr>
          </a:p>
          <a:p>
            <a:r>
              <a:rPr lang="en-US" b="1" dirty="0">
                <a:solidFill>
                  <a:srgbClr val="FFFF00"/>
                </a:solidFill>
                <a:latin typeface="Comic Sans MS" panose="030F0702030302020204" pitchFamily="66" charset="0"/>
              </a:rPr>
              <a:t>Storage capacity and speed (SSD vs HDD)</a:t>
            </a:r>
            <a:endParaRPr lang="en-US" dirty="0">
              <a:solidFill>
                <a:srgbClr val="FFFF00"/>
              </a:solidFill>
              <a:latin typeface="Comic Sans MS" panose="030F0702030302020204" pitchFamily="66" charset="0"/>
            </a:endParaRPr>
          </a:p>
          <a:p>
            <a:r>
              <a:rPr lang="en-US" b="1" dirty="0">
                <a:solidFill>
                  <a:srgbClr val="FFFF00"/>
                </a:solidFill>
                <a:latin typeface="Comic Sans MS" panose="030F0702030302020204" pitchFamily="66" charset="0"/>
              </a:rPr>
              <a:t>GPU model and performance</a:t>
            </a:r>
            <a:endParaRPr lang="en-US" dirty="0">
              <a:solidFill>
                <a:srgbClr val="FFFF00"/>
              </a:solidFill>
              <a:latin typeface="Comic Sans MS" panose="030F0702030302020204" pitchFamily="66" charset="0"/>
            </a:endParaRPr>
          </a:p>
          <a:p>
            <a:r>
              <a:rPr lang="en-US" b="1" dirty="0">
                <a:solidFill>
                  <a:srgbClr val="FFFF00"/>
                </a:solidFill>
                <a:latin typeface="Comic Sans MS" panose="030F0702030302020204" pitchFamily="66" charset="0"/>
              </a:rPr>
              <a:t>Screen quality and resolution</a:t>
            </a:r>
            <a:endParaRPr lang="en-US" dirty="0">
              <a:solidFill>
                <a:srgbClr val="FFFF00"/>
              </a:solidFill>
              <a:latin typeface="Comic Sans MS" panose="030F0702030302020204" pitchFamily="66" charset="0"/>
            </a:endParaRPr>
          </a:p>
          <a:p>
            <a:r>
              <a:rPr lang="en-US" b="1" dirty="0">
                <a:solidFill>
                  <a:srgbClr val="FFFF00"/>
                </a:solidFill>
                <a:latin typeface="Comic Sans MS" panose="030F0702030302020204" pitchFamily="66" charset="0"/>
              </a:rPr>
              <a:t>Brand reputation and build quality</a:t>
            </a:r>
            <a:endParaRPr lang="en-US" dirty="0">
              <a:solidFill>
                <a:srgbClr val="FFFF00"/>
              </a:solidFill>
              <a:latin typeface="Comic Sans MS" panose="030F0702030302020204" pitchFamily="66" charset="0"/>
            </a:endParaRPr>
          </a:p>
          <a:p>
            <a:endParaRPr lang="en-IN" dirty="0">
              <a:latin typeface="Comic Sans MS" panose="030F0702030302020204" pitchFamily="66" charset="0"/>
            </a:endParaRPr>
          </a:p>
        </p:txBody>
      </p:sp>
    </p:spTree>
    <p:extLst>
      <p:ext uri="{BB962C8B-B14F-4D97-AF65-F5344CB8AC3E}">
        <p14:creationId xmlns:p14="http://schemas.microsoft.com/office/powerpoint/2010/main" val="2057363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83A68-3DA4-28F4-39A4-C1316A602334}"/>
              </a:ext>
            </a:extLst>
          </p:cNvPr>
          <p:cNvSpPr>
            <a:spLocks noGrp="1"/>
          </p:cNvSpPr>
          <p:nvPr>
            <p:ph type="title"/>
          </p:nvPr>
        </p:nvSpPr>
        <p:spPr>
          <a:xfrm>
            <a:off x="76201" y="152400"/>
            <a:ext cx="11691256" cy="1088571"/>
          </a:xfrm>
        </p:spPr>
        <p:txBody>
          <a:bodyPr>
            <a:normAutofit/>
          </a:bodyPr>
          <a:lstStyle/>
          <a:p>
            <a:r>
              <a:rPr lang="en-US" b="1" dirty="0">
                <a:solidFill>
                  <a:srgbClr val="00B050"/>
                </a:solidFill>
                <a:latin typeface="+mn-lt"/>
              </a:rPr>
              <a:t>11.Median Price of Laptops by Weight Category:</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0CA36570-BFBE-8996-1E60-BD99ADFE4230}"/>
              </a:ext>
            </a:extLst>
          </p:cNvPr>
          <p:cNvPicPr>
            <a:picLocks noGrp="1" noChangeAspect="1"/>
          </p:cNvPicPr>
          <p:nvPr>
            <p:ph sz="half" idx="1"/>
          </p:nvPr>
        </p:nvPicPr>
        <p:blipFill>
          <a:blip r:embed="rId2"/>
          <a:stretch>
            <a:fillRect/>
          </a:stretch>
        </p:blipFill>
        <p:spPr>
          <a:xfrm>
            <a:off x="185057" y="1621970"/>
            <a:ext cx="6183086" cy="5083629"/>
          </a:xfrm>
        </p:spPr>
      </p:pic>
      <p:sp>
        <p:nvSpPr>
          <p:cNvPr id="4" name="Content Placeholder 3">
            <a:extLst>
              <a:ext uri="{FF2B5EF4-FFF2-40B4-BE49-F238E27FC236}">
                <a16:creationId xmlns:a16="http://schemas.microsoft.com/office/drawing/2014/main" id="{190A3DD7-F65C-7976-1FDE-9944F8C5EC2F}"/>
              </a:ext>
            </a:extLst>
          </p:cNvPr>
          <p:cNvSpPr>
            <a:spLocks noGrp="1"/>
          </p:cNvSpPr>
          <p:nvPr>
            <p:ph sz="half" idx="2"/>
          </p:nvPr>
        </p:nvSpPr>
        <p:spPr>
          <a:xfrm>
            <a:off x="6890657" y="1621970"/>
            <a:ext cx="5018313" cy="5083629"/>
          </a:xfrm>
        </p:spPr>
        <p:txBody>
          <a:bodyPr>
            <a:normAutofit fontScale="92500" lnSpcReduction="10000"/>
          </a:bodyPr>
          <a:lstStyle/>
          <a:p>
            <a:r>
              <a:rPr lang="en-US" dirty="0">
                <a:solidFill>
                  <a:srgbClr val="00B0F0"/>
                </a:solidFill>
                <a:latin typeface="Comic Sans MS" panose="030F0702030302020204" pitchFamily="66" charset="0"/>
              </a:rPr>
              <a:t>Insight:</a:t>
            </a:r>
          </a:p>
          <a:p>
            <a:endParaRPr lang="en-US" dirty="0">
              <a:solidFill>
                <a:srgbClr val="00B0F0"/>
              </a:solidFill>
              <a:latin typeface="Comic Sans MS" panose="030F0702030302020204" pitchFamily="66" charset="0"/>
            </a:endParaRPr>
          </a:p>
          <a:p>
            <a:r>
              <a:rPr lang="en-US" dirty="0">
                <a:solidFill>
                  <a:srgbClr val="FFFF00"/>
                </a:solidFill>
                <a:latin typeface="Comic Sans MS" panose="030F0702030302020204" pitchFamily="66" charset="0"/>
              </a:rPr>
              <a:t>Laptops with </a:t>
            </a:r>
            <a:r>
              <a:rPr lang="en-US" b="1" dirty="0">
                <a:solidFill>
                  <a:srgbClr val="FFFF00"/>
                </a:solidFill>
                <a:latin typeface="Comic Sans MS" panose="030F0702030302020204" pitchFamily="66" charset="0"/>
              </a:rPr>
              <a:t>heavy weight</a:t>
            </a:r>
            <a:r>
              <a:rPr lang="en-US" dirty="0">
                <a:solidFill>
                  <a:srgbClr val="FFFF00"/>
                </a:solidFill>
                <a:latin typeface="Comic Sans MS" panose="030F0702030302020204" pitchFamily="66" charset="0"/>
              </a:rPr>
              <a:t> have the </a:t>
            </a:r>
            <a:r>
              <a:rPr lang="en-US" b="1" dirty="0">
                <a:solidFill>
                  <a:srgbClr val="FFFF00"/>
                </a:solidFill>
                <a:latin typeface="Comic Sans MS" panose="030F0702030302020204" pitchFamily="66" charset="0"/>
              </a:rPr>
              <a:t>highest median price</a:t>
            </a:r>
            <a:r>
              <a:rPr lang="en-US" dirty="0">
                <a:solidFill>
                  <a:srgbClr val="FFFF00"/>
                </a:solidFill>
                <a:latin typeface="Comic Sans MS" panose="030F0702030302020204" pitchFamily="66" charset="0"/>
              </a:rPr>
              <a:t> (€1408),</a:t>
            </a:r>
          </a:p>
          <a:p>
            <a:r>
              <a:rPr lang="en-US" dirty="0">
                <a:solidFill>
                  <a:srgbClr val="FFFF00"/>
                </a:solidFill>
                <a:latin typeface="Comic Sans MS" panose="030F0702030302020204" pitchFamily="66" charset="0"/>
              </a:rPr>
              <a:t> </a:t>
            </a:r>
          </a:p>
          <a:p>
            <a:r>
              <a:rPr lang="en-US" dirty="0">
                <a:solidFill>
                  <a:srgbClr val="FFFF00"/>
                </a:solidFill>
                <a:latin typeface="Comic Sans MS" panose="030F0702030302020204" pitchFamily="66" charset="0"/>
              </a:rPr>
              <a:t>followed closely by </a:t>
            </a:r>
            <a:r>
              <a:rPr lang="en-US" b="1" dirty="0">
                <a:solidFill>
                  <a:srgbClr val="FFFF00"/>
                </a:solidFill>
                <a:latin typeface="Comic Sans MS" panose="030F0702030302020204" pitchFamily="66" charset="0"/>
              </a:rPr>
              <a:t>lightweight laptops</a:t>
            </a:r>
            <a:r>
              <a:rPr lang="en-US" dirty="0">
                <a:solidFill>
                  <a:srgbClr val="FFFF00"/>
                </a:solidFill>
                <a:latin typeface="Comic Sans MS" panose="030F0702030302020204" pitchFamily="66" charset="0"/>
              </a:rPr>
              <a:t> (€1379</a:t>
            </a:r>
            <a:r>
              <a:rPr lang="en-US" dirty="0">
                <a:solidFill>
                  <a:srgbClr val="00B0F0"/>
                </a:solidFill>
                <a:latin typeface="Comic Sans MS" panose="030F0702030302020204" pitchFamily="66" charset="0"/>
              </a:rPr>
              <a:t>). </a:t>
            </a:r>
          </a:p>
          <a:p>
            <a:endParaRPr lang="en-US" dirty="0">
              <a:solidFill>
                <a:srgbClr val="00B0F0"/>
              </a:solidFill>
              <a:latin typeface="Comic Sans MS" panose="030F0702030302020204" pitchFamily="66" charset="0"/>
            </a:endParaRPr>
          </a:p>
          <a:p>
            <a:r>
              <a:rPr lang="en-US" b="1" dirty="0">
                <a:solidFill>
                  <a:srgbClr val="00B0F0"/>
                </a:solidFill>
                <a:latin typeface="Comic Sans MS" panose="030F0702030302020204" pitchFamily="66" charset="0"/>
              </a:rPr>
              <a:t>Medium-weight laptops</a:t>
            </a:r>
            <a:r>
              <a:rPr lang="en-US" dirty="0">
                <a:solidFill>
                  <a:srgbClr val="00B0F0"/>
                </a:solidFill>
                <a:latin typeface="Comic Sans MS" panose="030F0702030302020204" pitchFamily="66" charset="0"/>
              </a:rPr>
              <a:t> have the </a:t>
            </a:r>
            <a:r>
              <a:rPr lang="en-US" b="1" dirty="0">
                <a:solidFill>
                  <a:srgbClr val="00B0F0"/>
                </a:solidFill>
                <a:latin typeface="Comic Sans MS" panose="030F0702030302020204" pitchFamily="66" charset="0"/>
              </a:rPr>
              <a:t>lowest median price</a:t>
            </a:r>
            <a:r>
              <a:rPr lang="en-US" dirty="0">
                <a:solidFill>
                  <a:srgbClr val="00B0F0"/>
                </a:solidFill>
                <a:latin typeface="Comic Sans MS" panose="030F0702030302020204" pitchFamily="66" charset="0"/>
              </a:rPr>
              <a:t> among the three categories.</a:t>
            </a:r>
          </a:p>
          <a:p>
            <a:endParaRPr lang="en-US" dirty="0">
              <a:solidFill>
                <a:srgbClr val="00B0F0"/>
              </a:solidFill>
              <a:latin typeface="Comic Sans MS" panose="030F0702030302020204" pitchFamily="66" charset="0"/>
            </a:endParaRPr>
          </a:p>
          <a:p>
            <a:endParaRPr lang="en-IN" dirty="0">
              <a:solidFill>
                <a:srgbClr val="00B0F0"/>
              </a:solidFill>
              <a:latin typeface="Comic Sans MS" panose="030F0702030302020204" pitchFamily="66" charset="0"/>
            </a:endParaRPr>
          </a:p>
        </p:txBody>
      </p:sp>
    </p:spTree>
    <p:extLst>
      <p:ext uri="{BB962C8B-B14F-4D97-AF65-F5344CB8AC3E}">
        <p14:creationId xmlns:p14="http://schemas.microsoft.com/office/powerpoint/2010/main" val="1312347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98ACB-FE05-ACA9-3ED5-0F75BBA3049B}"/>
              </a:ext>
            </a:extLst>
          </p:cNvPr>
          <p:cNvSpPr>
            <a:spLocks noGrp="1"/>
          </p:cNvSpPr>
          <p:nvPr>
            <p:ph type="title"/>
          </p:nvPr>
        </p:nvSpPr>
        <p:spPr>
          <a:xfrm>
            <a:off x="152401" y="130630"/>
            <a:ext cx="11201400" cy="1012370"/>
          </a:xfrm>
        </p:spPr>
        <p:txBody>
          <a:bodyPr/>
          <a:lstStyle/>
          <a:p>
            <a:r>
              <a:rPr lang="en-US" b="1" dirty="0">
                <a:solidFill>
                  <a:srgbClr val="00B050"/>
                </a:solidFill>
              </a:rPr>
              <a:t>11.2 Laptop Weight vs Prices:</a:t>
            </a:r>
            <a:endParaRPr lang="en-IN" b="1" dirty="0">
              <a:solidFill>
                <a:srgbClr val="00B050"/>
              </a:solidFill>
            </a:endParaRPr>
          </a:p>
        </p:txBody>
      </p:sp>
      <p:pic>
        <p:nvPicPr>
          <p:cNvPr id="7" name="Content Placeholder 6">
            <a:extLst>
              <a:ext uri="{FF2B5EF4-FFF2-40B4-BE49-F238E27FC236}">
                <a16:creationId xmlns:a16="http://schemas.microsoft.com/office/drawing/2014/main" id="{2D16C24B-ECD0-4586-2497-CCA8EEC84192}"/>
              </a:ext>
            </a:extLst>
          </p:cNvPr>
          <p:cNvPicPr>
            <a:picLocks noGrp="1" noChangeAspect="1"/>
          </p:cNvPicPr>
          <p:nvPr>
            <p:ph sz="half" idx="1"/>
          </p:nvPr>
        </p:nvPicPr>
        <p:blipFill>
          <a:blip r:embed="rId2"/>
          <a:stretch>
            <a:fillRect/>
          </a:stretch>
        </p:blipFill>
        <p:spPr>
          <a:xfrm>
            <a:off x="152401" y="1143000"/>
            <a:ext cx="6030912" cy="5584370"/>
          </a:xfrm>
        </p:spPr>
      </p:pic>
      <p:sp>
        <p:nvSpPr>
          <p:cNvPr id="5" name="Rectangle 1">
            <a:extLst>
              <a:ext uri="{FF2B5EF4-FFF2-40B4-BE49-F238E27FC236}">
                <a16:creationId xmlns:a16="http://schemas.microsoft.com/office/drawing/2014/main" id="{069691CF-9702-F131-CE85-113BF03EA968}"/>
              </a:ext>
            </a:extLst>
          </p:cNvPr>
          <p:cNvSpPr>
            <a:spLocks noGrp="1" noChangeArrowheads="1"/>
          </p:cNvSpPr>
          <p:nvPr>
            <p:ph sz="half" idx="2"/>
          </p:nvPr>
        </p:nvSpPr>
        <p:spPr bwMode="auto">
          <a:xfrm>
            <a:off x="6444343" y="925286"/>
            <a:ext cx="5595256" cy="5925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B0F0"/>
                </a:solidFill>
                <a:effectLst/>
                <a:latin typeface="Comic Sans MS" panose="030F0702030302020204" pitchFamily="66" charset="0"/>
              </a:rPr>
              <a:t>Insight: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rgbClr val="00B0F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FFFF00"/>
                </a:solidFill>
                <a:effectLst/>
                <a:latin typeface="Comic Sans MS" panose="030F0702030302020204" pitchFamily="66" charset="0"/>
              </a:rPr>
              <a:t>Gaming laptops</a:t>
            </a:r>
            <a:r>
              <a:rPr kumimoji="0" lang="en-US" altLang="en-US" sz="1800" b="0" i="0" u="none" strike="noStrike" cap="none" normalizeH="0" baseline="0" dirty="0">
                <a:ln>
                  <a:noFill/>
                </a:ln>
                <a:solidFill>
                  <a:srgbClr val="FFFF00"/>
                </a:solidFill>
                <a:effectLst/>
                <a:latin typeface="Comic Sans MS" panose="030F0702030302020204" pitchFamily="66" charset="0"/>
              </a:rPr>
              <a:t> </a:t>
            </a:r>
            <a:r>
              <a:rPr kumimoji="0" lang="en-US" altLang="en-US" sz="1800" b="0" i="0" u="none" strike="noStrike" cap="none" normalizeH="0" baseline="0" dirty="0">
                <a:ln>
                  <a:noFill/>
                </a:ln>
                <a:solidFill>
                  <a:srgbClr val="00B0F0"/>
                </a:solidFill>
                <a:effectLst/>
                <a:latin typeface="Comic Sans MS" panose="030F0702030302020204" pitchFamily="66" charset="0"/>
              </a:rPr>
              <a:t>are the most expensive, often exceeding €2000, some reaching over €6000.</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rgbClr val="00B0F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FFFF00"/>
                </a:solidFill>
                <a:effectLst/>
                <a:latin typeface="Comic Sans MS" panose="030F0702030302020204" pitchFamily="66" charset="0"/>
              </a:rPr>
              <a:t>Notebooks</a:t>
            </a:r>
            <a:r>
              <a:rPr kumimoji="0" lang="en-US" altLang="en-US" sz="1800" b="0" i="0" u="none" strike="noStrike" cap="none" normalizeH="0" baseline="0" dirty="0">
                <a:ln>
                  <a:noFill/>
                </a:ln>
                <a:solidFill>
                  <a:srgbClr val="FFFF00"/>
                </a:solidFill>
                <a:effectLst/>
                <a:latin typeface="Comic Sans MS" panose="030F0702030302020204" pitchFamily="66" charset="0"/>
              </a:rPr>
              <a:t> and </a:t>
            </a:r>
            <a:r>
              <a:rPr kumimoji="0" lang="en-US" altLang="en-US" sz="1800" b="1" i="0" u="none" strike="noStrike" cap="none" normalizeH="0" baseline="0" dirty="0">
                <a:ln>
                  <a:noFill/>
                </a:ln>
                <a:solidFill>
                  <a:srgbClr val="FFFF00"/>
                </a:solidFill>
                <a:effectLst/>
                <a:latin typeface="Comic Sans MS" panose="030F0702030302020204" pitchFamily="66" charset="0"/>
              </a:rPr>
              <a:t>Workstations</a:t>
            </a:r>
            <a:r>
              <a:rPr kumimoji="0" lang="en-US" altLang="en-US" sz="1800" b="0" i="0" u="none" strike="noStrike" cap="none" normalizeH="0" baseline="0" dirty="0">
                <a:ln>
                  <a:noFill/>
                </a:ln>
                <a:solidFill>
                  <a:srgbClr val="FFFF00"/>
                </a:solidFill>
                <a:effectLst/>
                <a:latin typeface="Comic Sans MS" panose="030F0702030302020204" pitchFamily="66" charset="0"/>
              </a:rPr>
              <a:t> </a:t>
            </a:r>
            <a:r>
              <a:rPr kumimoji="0" lang="en-US" altLang="en-US" sz="1800" b="0" i="0" u="none" strike="noStrike" cap="none" normalizeH="0" baseline="0" dirty="0">
                <a:ln>
                  <a:noFill/>
                </a:ln>
                <a:solidFill>
                  <a:srgbClr val="00B0F0"/>
                </a:solidFill>
                <a:effectLst/>
                <a:latin typeface="Comic Sans MS" panose="030F0702030302020204" pitchFamily="66" charset="0"/>
              </a:rPr>
              <a:t>have wide price ranges; Workstations are heavier and costlier.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rgbClr val="00B0F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FFFF00"/>
                </a:solidFill>
                <a:effectLst/>
                <a:latin typeface="Comic Sans MS" panose="030F0702030302020204" pitchFamily="66" charset="0"/>
              </a:rPr>
              <a:t>Netbooks</a:t>
            </a:r>
            <a:r>
              <a:rPr kumimoji="0" lang="en-US" altLang="en-US" sz="1800" b="0" i="0" u="none" strike="noStrike" cap="none" normalizeH="0" baseline="0" dirty="0">
                <a:ln>
                  <a:noFill/>
                </a:ln>
                <a:solidFill>
                  <a:srgbClr val="FFFF00"/>
                </a:solidFill>
                <a:effectLst/>
                <a:latin typeface="Comic Sans MS" panose="030F0702030302020204" pitchFamily="66" charset="0"/>
              </a:rPr>
              <a:t> and </a:t>
            </a:r>
            <a:r>
              <a:rPr kumimoji="0" lang="en-US" altLang="en-US" sz="1800" b="1" i="0" u="none" strike="noStrike" cap="none" normalizeH="0" baseline="0" dirty="0" err="1">
                <a:ln>
                  <a:noFill/>
                </a:ln>
                <a:solidFill>
                  <a:srgbClr val="FFFF00"/>
                </a:solidFill>
                <a:effectLst/>
                <a:latin typeface="Comic Sans MS" panose="030F0702030302020204" pitchFamily="66" charset="0"/>
              </a:rPr>
              <a:t>Ultrabooks</a:t>
            </a:r>
            <a:r>
              <a:rPr kumimoji="0" lang="en-US" altLang="en-US" sz="1800" b="0" i="0" u="none" strike="noStrike" cap="none" normalizeH="0" baseline="0" dirty="0">
                <a:ln>
                  <a:noFill/>
                </a:ln>
                <a:solidFill>
                  <a:srgbClr val="FFFF00"/>
                </a:solidFill>
                <a:effectLst/>
                <a:latin typeface="Comic Sans MS" panose="030F0702030302020204" pitchFamily="66" charset="0"/>
              </a:rPr>
              <a:t> </a:t>
            </a:r>
            <a:r>
              <a:rPr kumimoji="0" lang="en-US" altLang="en-US" sz="1800" b="0" i="0" u="none" strike="noStrike" cap="none" normalizeH="0" baseline="0" dirty="0">
                <a:ln>
                  <a:noFill/>
                </a:ln>
                <a:solidFill>
                  <a:srgbClr val="00B0F0"/>
                </a:solidFill>
                <a:effectLst/>
                <a:latin typeface="Comic Sans MS" panose="030F0702030302020204" pitchFamily="66" charset="0"/>
              </a:rPr>
              <a:t>are lighter and generally priced below €3000.</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rgbClr val="00B0F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FFFF00"/>
                </a:solidFill>
                <a:effectLst/>
                <a:latin typeface="Comic Sans MS" panose="030F0702030302020204" pitchFamily="66" charset="0"/>
              </a:rPr>
              <a:t>2-in-1 Convertibles</a:t>
            </a:r>
            <a:r>
              <a:rPr kumimoji="0" lang="en-US" altLang="en-US" sz="1800" b="0" i="0" u="none" strike="noStrike" cap="none" normalizeH="0" baseline="0" dirty="0">
                <a:ln>
                  <a:noFill/>
                </a:ln>
                <a:solidFill>
                  <a:srgbClr val="FFFF00"/>
                </a:solidFill>
                <a:effectLst/>
                <a:latin typeface="Comic Sans MS" panose="030F0702030302020204" pitchFamily="66" charset="0"/>
              </a:rPr>
              <a:t> mostly fall under €2000.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FFFF00"/>
                </a:solidFill>
                <a:effectLst/>
                <a:latin typeface="Comic Sans MS" panose="030F0702030302020204" pitchFamily="66" charset="0"/>
              </a:rPr>
              <a:t>Heavier devices</a:t>
            </a:r>
            <a:r>
              <a:rPr kumimoji="0" lang="en-US" altLang="en-US" sz="1800" b="0" i="0" u="none" strike="noStrike" cap="none" normalizeH="0" baseline="0" dirty="0">
                <a:ln>
                  <a:noFill/>
                </a:ln>
                <a:solidFill>
                  <a:srgbClr val="FFFF00"/>
                </a:solidFill>
                <a:effectLst/>
                <a:latin typeface="Comic Sans MS" panose="030F0702030302020204" pitchFamily="66" charset="0"/>
              </a:rPr>
              <a:t> </a:t>
            </a:r>
            <a:r>
              <a:rPr kumimoji="0" lang="en-US" altLang="en-US" sz="1800" b="0" i="0" u="none" strike="noStrike" cap="none" normalizeH="0" baseline="0" dirty="0">
                <a:ln>
                  <a:noFill/>
                </a:ln>
                <a:solidFill>
                  <a:srgbClr val="00B0F0"/>
                </a:solidFill>
                <a:effectLst/>
                <a:latin typeface="Comic Sans MS" panose="030F0702030302020204" pitchFamily="66" charset="0"/>
              </a:rPr>
              <a:t>tend to be more expensive, especially in Gaming and Workstation categories.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rgbClr val="00B0F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FFFF00"/>
                </a:solidFill>
                <a:effectLst/>
                <a:latin typeface="Comic Sans MS" panose="030F0702030302020204" pitchFamily="66" charset="0"/>
              </a:rPr>
              <a:t>Most laptops cluster between </a:t>
            </a:r>
            <a:r>
              <a:rPr kumimoji="0" lang="en-US" altLang="en-US" sz="1800" b="1" i="0" u="none" strike="noStrike" cap="none" normalizeH="0" baseline="0" dirty="0">
                <a:ln>
                  <a:noFill/>
                </a:ln>
                <a:solidFill>
                  <a:srgbClr val="FFFF00"/>
                </a:solidFill>
                <a:effectLst/>
                <a:latin typeface="Comic Sans MS" panose="030F0702030302020204" pitchFamily="66" charset="0"/>
              </a:rPr>
              <a:t>1.0–2.0 kg</a:t>
            </a:r>
            <a:r>
              <a:rPr kumimoji="0" lang="en-US" altLang="en-US" sz="1800" b="0" i="0" u="none" strike="noStrike" cap="none" normalizeH="0" baseline="0" dirty="0">
                <a:ln>
                  <a:noFill/>
                </a:ln>
                <a:solidFill>
                  <a:srgbClr val="FFFF00"/>
                </a:solidFill>
                <a:effectLst/>
                <a:latin typeface="Comic Sans MS" panose="030F0702030302020204" pitchFamily="66" charset="0"/>
              </a:rPr>
              <a:t> and </a:t>
            </a:r>
            <a:r>
              <a:rPr kumimoji="0" lang="en-US" altLang="en-US" sz="1800" b="1" i="0" u="none" strike="noStrike" cap="none" normalizeH="0" baseline="0" dirty="0">
                <a:ln>
                  <a:noFill/>
                </a:ln>
                <a:solidFill>
                  <a:srgbClr val="FFFF00"/>
                </a:solidFill>
                <a:effectLst/>
                <a:latin typeface="Comic Sans MS" panose="030F0702030302020204" pitchFamily="66" charset="0"/>
              </a:rPr>
              <a:t>€500–€2000</a:t>
            </a:r>
            <a:r>
              <a:rPr kumimoji="0" lang="en-US" altLang="en-US" sz="1800" b="0" i="0" u="none" strike="noStrike" cap="none" normalizeH="0" baseline="0" dirty="0">
                <a:ln>
                  <a:noFill/>
                </a:ln>
                <a:solidFill>
                  <a:srgbClr val="FFFF00"/>
                </a:solidFill>
                <a:effectLst/>
                <a:latin typeface="Comic Sans MS" panose="030F0702030302020204" pitchFamily="66"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rgbClr val="00B0F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FFFF00"/>
                </a:solidFill>
                <a:effectLst/>
                <a:latin typeface="Comic Sans MS" panose="030F0702030302020204" pitchFamily="66" charset="0"/>
              </a:rPr>
              <a:t>Netbooks</a:t>
            </a:r>
            <a:r>
              <a:rPr kumimoji="0" lang="en-US" altLang="en-US" sz="1800" b="0" i="0" u="none" strike="noStrike" cap="none" normalizeH="0" baseline="0" dirty="0">
                <a:ln>
                  <a:noFill/>
                </a:ln>
                <a:solidFill>
                  <a:srgbClr val="FFFF00"/>
                </a:solidFill>
                <a:effectLst/>
                <a:latin typeface="Comic Sans MS" panose="030F0702030302020204" pitchFamily="66" charset="0"/>
              </a:rPr>
              <a:t> are lightest and cheapest; </a:t>
            </a:r>
            <a:r>
              <a:rPr kumimoji="0" lang="en-US" altLang="en-US" sz="1800" b="1" i="0" u="none" strike="noStrike" cap="none" normalizeH="0" baseline="0" dirty="0">
                <a:ln>
                  <a:noFill/>
                </a:ln>
                <a:solidFill>
                  <a:srgbClr val="FFFF00"/>
                </a:solidFill>
                <a:effectLst/>
                <a:latin typeface="Comic Sans MS" panose="030F0702030302020204" pitchFamily="66" charset="0"/>
              </a:rPr>
              <a:t>Gaming</a:t>
            </a:r>
            <a:r>
              <a:rPr kumimoji="0" lang="en-US" altLang="en-US" sz="1800" b="0" i="0" u="none" strike="noStrike" cap="none" normalizeH="0" baseline="0" dirty="0">
                <a:ln>
                  <a:noFill/>
                </a:ln>
                <a:solidFill>
                  <a:srgbClr val="FFFF00"/>
                </a:solidFill>
                <a:effectLst/>
                <a:latin typeface="Comic Sans MS" panose="030F0702030302020204" pitchFamily="66" charset="0"/>
              </a:rPr>
              <a:t> laptops show the highest variation in both weight and price.</a:t>
            </a:r>
          </a:p>
        </p:txBody>
      </p:sp>
    </p:spTree>
    <p:extLst>
      <p:ext uri="{BB962C8B-B14F-4D97-AF65-F5344CB8AC3E}">
        <p14:creationId xmlns:p14="http://schemas.microsoft.com/office/powerpoint/2010/main" val="4155885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2C4F6-C09D-6D63-4A60-C47B7F7393BC}"/>
              </a:ext>
            </a:extLst>
          </p:cNvPr>
          <p:cNvSpPr>
            <a:spLocks noGrp="1"/>
          </p:cNvSpPr>
          <p:nvPr>
            <p:ph type="title"/>
          </p:nvPr>
        </p:nvSpPr>
        <p:spPr>
          <a:xfrm>
            <a:off x="217715" y="206830"/>
            <a:ext cx="4484914" cy="761999"/>
          </a:xfrm>
        </p:spPr>
        <p:txBody>
          <a:bodyPr/>
          <a:lstStyle/>
          <a:p>
            <a:r>
              <a:rPr lang="en-US" b="1" dirty="0">
                <a:solidFill>
                  <a:srgbClr val="00B050"/>
                </a:solidFill>
                <a:latin typeface="+mn-lt"/>
              </a:rPr>
              <a:t>12. Correlation</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68589EC2-6D8D-534B-CE54-5E454734B711}"/>
              </a:ext>
            </a:extLst>
          </p:cNvPr>
          <p:cNvPicPr>
            <a:picLocks noGrp="1" noChangeAspect="1"/>
          </p:cNvPicPr>
          <p:nvPr>
            <p:ph sz="half" idx="1"/>
          </p:nvPr>
        </p:nvPicPr>
        <p:blipFill>
          <a:blip r:embed="rId2"/>
          <a:stretch>
            <a:fillRect/>
          </a:stretch>
        </p:blipFill>
        <p:spPr>
          <a:xfrm>
            <a:off x="174172" y="1393371"/>
            <a:ext cx="6248399" cy="5182054"/>
          </a:xfrm>
        </p:spPr>
      </p:pic>
      <p:sp>
        <p:nvSpPr>
          <p:cNvPr id="4" name="Content Placeholder 3">
            <a:extLst>
              <a:ext uri="{FF2B5EF4-FFF2-40B4-BE49-F238E27FC236}">
                <a16:creationId xmlns:a16="http://schemas.microsoft.com/office/drawing/2014/main" id="{2ED6F4B2-BE10-05DF-0E4E-920701A53618}"/>
              </a:ext>
            </a:extLst>
          </p:cNvPr>
          <p:cNvSpPr>
            <a:spLocks noGrp="1"/>
          </p:cNvSpPr>
          <p:nvPr>
            <p:ph sz="half" idx="2"/>
          </p:nvPr>
        </p:nvSpPr>
        <p:spPr>
          <a:xfrm>
            <a:off x="6803571" y="1251857"/>
            <a:ext cx="5214258" cy="5323567"/>
          </a:xfrm>
        </p:spPr>
        <p:txBody>
          <a:bodyPr>
            <a:normAutofit fontScale="70000" lnSpcReduction="20000"/>
          </a:bodyPr>
          <a:lstStyle/>
          <a:p>
            <a:r>
              <a:rPr lang="en-US" sz="3400" b="1" dirty="0">
                <a:solidFill>
                  <a:srgbClr val="00B050"/>
                </a:solidFill>
              </a:rPr>
              <a:t>Correlation Insights</a:t>
            </a:r>
          </a:p>
          <a:p>
            <a:endParaRPr lang="en-US" b="1" dirty="0"/>
          </a:p>
          <a:p>
            <a:r>
              <a:rPr lang="en-US" b="1" dirty="0">
                <a:solidFill>
                  <a:srgbClr val="00B050"/>
                </a:solidFill>
              </a:rPr>
              <a:t>Inches vs. Weight</a:t>
            </a:r>
            <a:r>
              <a:rPr lang="en-US" dirty="0">
                <a:solidFill>
                  <a:srgbClr val="00B050"/>
                </a:solidFill>
              </a:rPr>
              <a:t> (Correlation: </a:t>
            </a:r>
            <a:r>
              <a:rPr lang="en-US" b="1" dirty="0">
                <a:solidFill>
                  <a:srgbClr val="00B050"/>
                </a:solidFill>
              </a:rPr>
              <a:t>0.83</a:t>
            </a:r>
            <a:r>
              <a:rPr lang="en-US" dirty="0">
                <a:solidFill>
                  <a:srgbClr val="00B050"/>
                </a:solidFill>
              </a:rPr>
              <a:t>)</a:t>
            </a:r>
          </a:p>
          <a:p>
            <a:pPr lvl="1"/>
            <a:r>
              <a:rPr lang="en-US" dirty="0"/>
              <a:t>There is a strong positive correlation between </a:t>
            </a:r>
            <a:r>
              <a:rPr lang="en-US" b="1" dirty="0"/>
              <a:t>laptop screen size</a:t>
            </a:r>
            <a:r>
              <a:rPr lang="en-US" dirty="0"/>
              <a:t> and </a:t>
            </a:r>
            <a:r>
              <a:rPr lang="en-US" b="1" dirty="0"/>
              <a:t>weight</a:t>
            </a:r>
            <a:r>
              <a:rPr lang="en-US" dirty="0"/>
              <a:t>.</a:t>
            </a:r>
          </a:p>
          <a:p>
            <a:pPr lvl="1"/>
            <a:r>
              <a:rPr lang="en-US" dirty="0"/>
              <a:t>As the </a:t>
            </a:r>
            <a:r>
              <a:rPr lang="en-US" b="1" dirty="0"/>
              <a:t>size (in inches)</a:t>
            </a:r>
            <a:r>
              <a:rPr lang="en-US" dirty="0"/>
              <a:t> increases, the </a:t>
            </a:r>
            <a:r>
              <a:rPr lang="en-US" b="1" dirty="0"/>
              <a:t>weight</a:t>
            </a:r>
            <a:r>
              <a:rPr lang="en-US" dirty="0"/>
              <a:t> of the laptop tends to increase as well.</a:t>
            </a:r>
          </a:p>
          <a:p>
            <a:pPr lvl="1"/>
            <a:endParaRPr lang="en-US" dirty="0"/>
          </a:p>
          <a:p>
            <a:r>
              <a:rPr lang="en-US" b="1" dirty="0">
                <a:solidFill>
                  <a:srgbClr val="00B050"/>
                </a:solidFill>
              </a:rPr>
              <a:t>Price (Euros) vs. RAM</a:t>
            </a:r>
            <a:r>
              <a:rPr lang="en-US" dirty="0">
                <a:solidFill>
                  <a:srgbClr val="00B050"/>
                </a:solidFill>
              </a:rPr>
              <a:t> (Correlation: </a:t>
            </a:r>
            <a:r>
              <a:rPr lang="en-US" b="1" dirty="0">
                <a:solidFill>
                  <a:srgbClr val="00B050"/>
                </a:solidFill>
              </a:rPr>
              <a:t>0.74</a:t>
            </a:r>
            <a:r>
              <a:rPr lang="en-US" dirty="0">
                <a:solidFill>
                  <a:srgbClr val="00B050"/>
                </a:solidFill>
              </a:rPr>
              <a:t>)</a:t>
            </a:r>
          </a:p>
          <a:p>
            <a:pPr lvl="1"/>
            <a:r>
              <a:rPr lang="en-US" dirty="0"/>
              <a:t>A strong positive correlation exists between </a:t>
            </a:r>
            <a:r>
              <a:rPr lang="en-US" b="1" dirty="0"/>
              <a:t>RAM size</a:t>
            </a:r>
            <a:r>
              <a:rPr lang="en-US" dirty="0"/>
              <a:t> and </a:t>
            </a:r>
            <a:r>
              <a:rPr lang="en-US" b="1" dirty="0"/>
              <a:t>laptop price</a:t>
            </a:r>
            <a:r>
              <a:rPr lang="en-US" dirty="0"/>
              <a:t>.</a:t>
            </a:r>
          </a:p>
          <a:p>
            <a:pPr lvl="1"/>
            <a:r>
              <a:rPr lang="en-US" dirty="0"/>
              <a:t>Laptops with </a:t>
            </a:r>
            <a:r>
              <a:rPr lang="en-US" b="1" dirty="0"/>
              <a:t>higher RAM</a:t>
            </a:r>
            <a:r>
              <a:rPr lang="en-US" dirty="0"/>
              <a:t> are generally </a:t>
            </a:r>
            <a:r>
              <a:rPr lang="en-US" b="1" dirty="0"/>
              <a:t>more expensive</a:t>
            </a:r>
            <a:r>
              <a:rPr lang="en-US" dirty="0"/>
              <a:t>.</a:t>
            </a:r>
          </a:p>
          <a:p>
            <a:pPr lvl="1"/>
            <a:endParaRPr lang="en-US" dirty="0"/>
          </a:p>
          <a:p>
            <a:r>
              <a:rPr lang="en-US" b="1" dirty="0">
                <a:solidFill>
                  <a:srgbClr val="00B050"/>
                </a:solidFill>
              </a:rPr>
              <a:t>Screen Width vs. Screen Height</a:t>
            </a:r>
            <a:r>
              <a:rPr lang="en-US" dirty="0">
                <a:solidFill>
                  <a:srgbClr val="00B050"/>
                </a:solidFill>
              </a:rPr>
              <a:t> (Correlation: </a:t>
            </a:r>
            <a:r>
              <a:rPr lang="en-US" b="1" dirty="0">
                <a:solidFill>
                  <a:srgbClr val="00B050"/>
                </a:solidFill>
              </a:rPr>
              <a:t>0.99</a:t>
            </a:r>
            <a:r>
              <a:rPr lang="en-US" dirty="0">
                <a:solidFill>
                  <a:srgbClr val="00B050"/>
                </a:solidFill>
              </a:rPr>
              <a:t>)</a:t>
            </a:r>
          </a:p>
          <a:p>
            <a:pPr lvl="1"/>
            <a:r>
              <a:rPr lang="en-US" dirty="0"/>
              <a:t>There is a </a:t>
            </a:r>
            <a:r>
              <a:rPr lang="en-US" b="1" dirty="0"/>
              <a:t>very strong linear correlation</a:t>
            </a:r>
            <a:r>
              <a:rPr lang="en-US" dirty="0"/>
              <a:t> between </a:t>
            </a:r>
            <a:r>
              <a:rPr lang="en-US" b="1" dirty="0"/>
              <a:t>screen width</a:t>
            </a:r>
            <a:r>
              <a:rPr lang="en-US" dirty="0"/>
              <a:t> and </a:t>
            </a:r>
            <a:r>
              <a:rPr lang="en-US" b="1" dirty="0"/>
              <a:t>screen height</a:t>
            </a:r>
            <a:r>
              <a:rPr lang="en-US" dirty="0"/>
              <a:t>.</a:t>
            </a:r>
          </a:p>
          <a:p>
            <a:pPr lvl="1"/>
            <a:r>
              <a:rPr lang="en-US" dirty="0"/>
              <a:t>As the </a:t>
            </a:r>
            <a:r>
              <a:rPr lang="en-US" b="1" dirty="0"/>
              <a:t>screen width</a:t>
            </a:r>
            <a:r>
              <a:rPr lang="en-US" dirty="0"/>
              <a:t> increases, the </a:t>
            </a:r>
            <a:r>
              <a:rPr lang="en-US" b="1" dirty="0"/>
              <a:t>screen height</a:t>
            </a:r>
            <a:r>
              <a:rPr lang="en-US" dirty="0"/>
              <a:t> also increases proportionally, indicating consistent aspect ratios across devices.</a:t>
            </a:r>
          </a:p>
          <a:p>
            <a:endParaRPr lang="en-IN" dirty="0">
              <a:latin typeface="Comic Sans MS" panose="030F0702030302020204" pitchFamily="66" charset="0"/>
            </a:endParaRPr>
          </a:p>
        </p:txBody>
      </p:sp>
    </p:spTree>
    <p:extLst>
      <p:ext uri="{BB962C8B-B14F-4D97-AF65-F5344CB8AC3E}">
        <p14:creationId xmlns:p14="http://schemas.microsoft.com/office/powerpoint/2010/main" val="2317543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AC6D7-9F65-A81B-BE1A-75CA8B10ED76}"/>
              </a:ext>
            </a:extLst>
          </p:cNvPr>
          <p:cNvSpPr>
            <a:spLocks noGrp="1"/>
          </p:cNvSpPr>
          <p:nvPr>
            <p:ph type="title"/>
          </p:nvPr>
        </p:nvSpPr>
        <p:spPr>
          <a:xfrm>
            <a:off x="326571" y="365126"/>
            <a:ext cx="11027229" cy="799646"/>
          </a:xfrm>
        </p:spPr>
        <p:txBody>
          <a:bodyPr/>
          <a:lstStyle/>
          <a:p>
            <a:r>
              <a:rPr lang="en-US" b="1" dirty="0">
                <a:solidFill>
                  <a:srgbClr val="00B050"/>
                </a:solidFill>
                <a:latin typeface="+mn-lt"/>
              </a:rPr>
              <a:t>13.RAM</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923CE018-3995-2271-0DCF-93D157B80A1E}"/>
              </a:ext>
            </a:extLst>
          </p:cNvPr>
          <p:cNvPicPr>
            <a:picLocks noGrp="1" noChangeAspect="1"/>
          </p:cNvPicPr>
          <p:nvPr>
            <p:ph sz="half" idx="1"/>
          </p:nvPr>
        </p:nvPicPr>
        <p:blipFill>
          <a:blip r:embed="rId2"/>
          <a:stretch>
            <a:fillRect/>
          </a:stretch>
        </p:blipFill>
        <p:spPr>
          <a:xfrm>
            <a:off x="195943" y="1164771"/>
            <a:ext cx="5704114" cy="5497285"/>
          </a:xfrm>
        </p:spPr>
      </p:pic>
      <p:sp>
        <p:nvSpPr>
          <p:cNvPr id="4" name="Content Placeholder 3">
            <a:extLst>
              <a:ext uri="{FF2B5EF4-FFF2-40B4-BE49-F238E27FC236}">
                <a16:creationId xmlns:a16="http://schemas.microsoft.com/office/drawing/2014/main" id="{8EA1C793-A2AB-794A-E6C2-9C5A77F861CC}"/>
              </a:ext>
            </a:extLst>
          </p:cNvPr>
          <p:cNvSpPr>
            <a:spLocks noGrp="1"/>
          </p:cNvSpPr>
          <p:nvPr>
            <p:ph sz="half" idx="2"/>
          </p:nvPr>
        </p:nvSpPr>
        <p:spPr>
          <a:xfrm>
            <a:off x="6172199" y="566056"/>
            <a:ext cx="5823857" cy="5926817"/>
          </a:xfrm>
        </p:spPr>
        <p:txBody>
          <a:bodyPr>
            <a:noAutofit/>
          </a:bodyPr>
          <a:lstStyle/>
          <a:p>
            <a:r>
              <a:rPr lang="en-US" sz="2000" dirty="0">
                <a:solidFill>
                  <a:srgbClr val="FFFF00"/>
                </a:solidFill>
              </a:rPr>
              <a:t>Most Common RAM Sizes:8 GB is the most common configuration, found in 613 laptops, indicating it is the standard choice for general users.</a:t>
            </a:r>
          </a:p>
          <a:p>
            <a:endParaRPr lang="en-US" sz="2000" dirty="0">
              <a:solidFill>
                <a:srgbClr val="FFFF00"/>
              </a:solidFill>
            </a:endParaRPr>
          </a:p>
          <a:p>
            <a:r>
              <a:rPr lang="en-US" sz="2000" dirty="0">
                <a:solidFill>
                  <a:srgbClr val="00B0F0"/>
                </a:solidFill>
              </a:rPr>
              <a:t>4 GB is the second most frequent (367 laptops), often seen in budget or entry-level models.</a:t>
            </a:r>
          </a:p>
          <a:p>
            <a:endParaRPr lang="en-US" sz="2000" dirty="0">
              <a:solidFill>
                <a:srgbClr val="00B0F0"/>
              </a:solidFill>
            </a:endParaRPr>
          </a:p>
          <a:p>
            <a:r>
              <a:rPr lang="en-US" sz="2000" dirty="0">
                <a:solidFill>
                  <a:srgbClr val="00B0F0"/>
                </a:solidFill>
              </a:rPr>
              <a:t>Higher RAM Sizes:16 GB RAM is found in 198 laptops, showing its popularity among power users and professionals.</a:t>
            </a:r>
          </a:p>
          <a:p>
            <a:endParaRPr lang="en-US" sz="2000" dirty="0">
              <a:solidFill>
                <a:srgbClr val="00B0F0"/>
              </a:solidFill>
            </a:endParaRPr>
          </a:p>
          <a:p>
            <a:r>
              <a:rPr lang="en-US" sz="2000" dirty="0">
                <a:solidFill>
                  <a:srgbClr val="00B0F0"/>
                </a:solidFill>
              </a:rPr>
              <a:t>32 GB, 64 GB, and 24 GB configurations are rare, collectively appearing in only 21 laptops, suggesting limited availability of high-performance machines.</a:t>
            </a:r>
          </a:p>
          <a:p>
            <a:endParaRPr lang="en-US" sz="2000" dirty="0">
              <a:solidFill>
                <a:srgbClr val="00B0F0"/>
              </a:solidFill>
            </a:endParaRPr>
          </a:p>
          <a:p>
            <a:r>
              <a:rPr lang="en-US" sz="2000" dirty="0">
                <a:solidFill>
                  <a:srgbClr val="FFFF00"/>
                </a:solidFill>
              </a:rPr>
              <a:t>Low RAM Configurations:2 GB RAM is present in 16 laptops, likely representing older or very low-end devices.</a:t>
            </a:r>
            <a:endParaRPr lang="en-IN" sz="2000" dirty="0">
              <a:solidFill>
                <a:srgbClr val="FFFF00"/>
              </a:solidFill>
            </a:endParaRPr>
          </a:p>
        </p:txBody>
      </p:sp>
    </p:spTree>
    <p:extLst>
      <p:ext uri="{BB962C8B-B14F-4D97-AF65-F5344CB8AC3E}">
        <p14:creationId xmlns:p14="http://schemas.microsoft.com/office/powerpoint/2010/main" val="2944390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92F61-41DE-E744-21D5-E7FCB00AD605}"/>
              </a:ext>
            </a:extLst>
          </p:cNvPr>
          <p:cNvSpPr>
            <a:spLocks noGrp="1"/>
          </p:cNvSpPr>
          <p:nvPr>
            <p:ph type="title"/>
          </p:nvPr>
        </p:nvSpPr>
        <p:spPr>
          <a:xfrm>
            <a:off x="293914" y="250371"/>
            <a:ext cx="11059886" cy="740229"/>
          </a:xfrm>
        </p:spPr>
        <p:txBody>
          <a:bodyPr>
            <a:normAutofit/>
          </a:bodyPr>
          <a:lstStyle/>
          <a:p>
            <a:r>
              <a:rPr lang="en-US" b="1" dirty="0">
                <a:solidFill>
                  <a:srgbClr val="00B050"/>
                </a:solidFill>
              </a:rPr>
              <a:t>13.1 Average Price BY Ram Size:</a:t>
            </a:r>
            <a:endParaRPr lang="en-IN" b="1" dirty="0">
              <a:solidFill>
                <a:srgbClr val="00B050"/>
              </a:solidFill>
            </a:endParaRPr>
          </a:p>
        </p:txBody>
      </p:sp>
      <p:pic>
        <p:nvPicPr>
          <p:cNvPr id="6" name="Content Placeholder 5">
            <a:extLst>
              <a:ext uri="{FF2B5EF4-FFF2-40B4-BE49-F238E27FC236}">
                <a16:creationId xmlns:a16="http://schemas.microsoft.com/office/drawing/2014/main" id="{5E3AB8EA-1E66-40BF-F371-917B456D8889}"/>
              </a:ext>
            </a:extLst>
          </p:cNvPr>
          <p:cNvPicPr>
            <a:picLocks noGrp="1" noChangeAspect="1"/>
          </p:cNvPicPr>
          <p:nvPr>
            <p:ph sz="half" idx="1"/>
          </p:nvPr>
        </p:nvPicPr>
        <p:blipFill>
          <a:blip r:embed="rId2"/>
          <a:stretch>
            <a:fillRect/>
          </a:stretch>
        </p:blipFill>
        <p:spPr>
          <a:xfrm>
            <a:off x="141514" y="1522273"/>
            <a:ext cx="5954486" cy="4856756"/>
          </a:xfrm>
        </p:spPr>
      </p:pic>
      <p:sp>
        <p:nvSpPr>
          <p:cNvPr id="4" name="Content Placeholder 3">
            <a:extLst>
              <a:ext uri="{FF2B5EF4-FFF2-40B4-BE49-F238E27FC236}">
                <a16:creationId xmlns:a16="http://schemas.microsoft.com/office/drawing/2014/main" id="{005A025D-0DC5-8FBC-A8FD-D80C7C95BD12}"/>
              </a:ext>
            </a:extLst>
          </p:cNvPr>
          <p:cNvSpPr>
            <a:spLocks noGrp="1"/>
          </p:cNvSpPr>
          <p:nvPr>
            <p:ph sz="half" idx="2"/>
          </p:nvPr>
        </p:nvSpPr>
        <p:spPr>
          <a:xfrm>
            <a:off x="6291943" y="990600"/>
            <a:ext cx="5758543" cy="5388429"/>
          </a:xfrm>
        </p:spPr>
        <p:txBody>
          <a:bodyPr>
            <a:noAutofit/>
          </a:bodyPr>
          <a:lstStyle/>
          <a:p>
            <a:r>
              <a:rPr lang="en-US" sz="3200" b="1" dirty="0">
                <a:solidFill>
                  <a:srgbClr val="00B050"/>
                </a:solidFill>
              </a:rPr>
              <a:t>Insight:</a:t>
            </a:r>
          </a:p>
          <a:p>
            <a:endParaRPr lang="en-US" sz="1600" dirty="0"/>
          </a:p>
          <a:p>
            <a:r>
              <a:rPr lang="en-US" sz="1600" b="1" dirty="0">
                <a:solidFill>
                  <a:srgbClr val="00B050"/>
                </a:solidFill>
                <a:latin typeface="Comic Sans MS" panose="030F0702030302020204" pitchFamily="66" charset="0"/>
              </a:rPr>
              <a:t>Laptops with higher RAM</a:t>
            </a:r>
            <a:r>
              <a:rPr lang="en-US" sz="1600" dirty="0">
                <a:solidFill>
                  <a:srgbClr val="00B050"/>
                </a:solidFill>
                <a:latin typeface="Comic Sans MS" panose="030F0702030302020204" pitchFamily="66" charset="0"/>
              </a:rPr>
              <a:t> have </a:t>
            </a:r>
            <a:r>
              <a:rPr lang="en-US" sz="1600" b="1" dirty="0">
                <a:solidFill>
                  <a:srgbClr val="00B050"/>
                </a:solidFill>
                <a:latin typeface="Comic Sans MS" panose="030F0702030302020204" pitchFamily="66" charset="0"/>
              </a:rPr>
              <a:t>significantly higher average prices</a:t>
            </a:r>
            <a:r>
              <a:rPr lang="en-US" sz="1600" dirty="0">
                <a:solidFill>
                  <a:srgbClr val="00B050"/>
                </a:solidFill>
                <a:latin typeface="Comic Sans MS" panose="030F0702030302020204" pitchFamily="66" charset="0"/>
              </a:rPr>
              <a:t>, showing a clear upward trend.</a:t>
            </a:r>
          </a:p>
          <a:p>
            <a:endParaRPr lang="en-US" sz="1600" dirty="0">
              <a:solidFill>
                <a:srgbClr val="00B050"/>
              </a:solidFill>
              <a:latin typeface="Comic Sans MS" panose="030F0702030302020204" pitchFamily="66" charset="0"/>
            </a:endParaRPr>
          </a:p>
          <a:p>
            <a:r>
              <a:rPr lang="en-US" sz="1600" b="1" dirty="0">
                <a:solidFill>
                  <a:srgbClr val="00B0F0"/>
                </a:solidFill>
                <a:latin typeface="Comic Sans MS" panose="030F0702030302020204" pitchFamily="66" charset="0"/>
              </a:rPr>
              <a:t>64 GB RAM laptops</a:t>
            </a:r>
            <a:r>
              <a:rPr lang="en-US" sz="1600" dirty="0">
                <a:solidFill>
                  <a:srgbClr val="00B0F0"/>
                </a:solidFill>
                <a:latin typeface="Comic Sans MS" panose="030F0702030302020204" pitchFamily="66" charset="0"/>
              </a:rPr>
              <a:t> are the most expensive, averaging </a:t>
            </a:r>
            <a:r>
              <a:rPr lang="en-US" sz="1600" b="1" dirty="0">
                <a:solidFill>
                  <a:srgbClr val="00B0F0"/>
                </a:solidFill>
                <a:latin typeface="Comic Sans MS" panose="030F0702030302020204" pitchFamily="66" charset="0"/>
              </a:rPr>
              <a:t>€3975</a:t>
            </a:r>
            <a:r>
              <a:rPr lang="en-US" sz="1600" dirty="0">
                <a:solidFill>
                  <a:srgbClr val="00B0F0"/>
                </a:solidFill>
                <a:latin typeface="Comic Sans MS" panose="030F0702030302020204" pitchFamily="66" charset="0"/>
              </a:rPr>
              <a:t>, typically found in </a:t>
            </a:r>
            <a:r>
              <a:rPr lang="en-US" sz="1600" b="1" dirty="0">
                <a:solidFill>
                  <a:srgbClr val="00B0F0"/>
                </a:solidFill>
                <a:latin typeface="Comic Sans MS" panose="030F0702030302020204" pitchFamily="66" charset="0"/>
              </a:rPr>
              <a:t>workstations and high-end gaming devices</a:t>
            </a:r>
            <a:r>
              <a:rPr lang="en-US" sz="1600" dirty="0">
                <a:solidFill>
                  <a:srgbClr val="00B0F0"/>
                </a:solidFill>
                <a:latin typeface="Comic Sans MS" panose="030F0702030302020204" pitchFamily="66" charset="0"/>
              </a:rPr>
              <a:t>.</a:t>
            </a:r>
          </a:p>
          <a:p>
            <a:endParaRPr lang="en-US" sz="1600" dirty="0">
              <a:solidFill>
                <a:srgbClr val="00B0F0"/>
              </a:solidFill>
              <a:latin typeface="Comic Sans MS" panose="030F0702030302020204" pitchFamily="66" charset="0"/>
            </a:endParaRPr>
          </a:p>
          <a:p>
            <a:r>
              <a:rPr lang="en-US" sz="1600" b="1" dirty="0">
                <a:solidFill>
                  <a:srgbClr val="00B0F0"/>
                </a:solidFill>
                <a:latin typeface="Comic Sans MS" panose="030F0702030302020204" pitchFamily="66" charset="0"/>
              </a:rPr>
              <a:t>32 GB and 24 GB RAM</a:t>
            </a:r>
            <a:r>
              <a:rPr lang="en-US" sz="1600" dirty="0">
                <a:solidFill>
                  <a:srgbClr val="00B0F0"/>
                </a:solidFill>
                <a:latin typeface="Comic Sans MS" panose="030F0702030302020204" pitchFamily="66" charset="0"/>
              </a:rPr>
              <a:t> devices are also in the </a:t>
            </a:r>
            <a:r>
              <a:rPr lang="en-US" sz="1600" b="1" dirty="0">
                <a:solidFill>
                  <a:srgbClr val="00B0F0"/>
                </a:solidFill>
                <a:latin typeface="Comic Sans MS" panose="030F0702030302020204" pitchFamily="66" charset="0"/>
              </a:rPr>
              <a:t>premium segment</a:t>
            </a:r>
            <a:r>
              <a:rPr lang="en-US" sz="1600" dirty="0">
                <a:solidFill>
                  <a:srgbClr val="00B0F0"/>
                </a:solidFill>
                <a:latin typeface="Comic Sans MS" panose="030F0702030302020204" pitchFamily="66" charset="0"/>
              </a:rPr>
              <a:t>, averaging over </a:t>
            </a:r>
            <a:r>
              <a:rPr lang="en-US" sz="1600" b="1" dirty="0">
                <a:solidFill>
                  <a:srgbClr val="00B0F0"/>
                </a:solidFill>
                <a:latin typeface="Comic Sans MS" panose="030F0702030302020204" pitchFamily="66" charset="0"/>
              </a:rPr>
              <a:t>€2200</a:t>
            </a:r>
            <a:r>
              <a:rPr lang="en-US" sz="1600" dirty="0">
                <a:solidFill>
                  <a:srgbClr val="00B0F0"/>
                </a:solidFill>
                <a:latin typeface="Comic Sans MS" panose="030F0702030302020204" pitchFamily="66" charset="0"/>
              </a:rPr>
              <a:t>.</a:t>
            </a:r>
          </a:p>
          <a:p>
            <a:endParaRPr lang="en-US" sz="1600" dirty="0">
              <a:solidFill>
                <a:srgbClr val="00B0F0"/>
              </a:solidFill>
              <a:latin typeface="Comic Sans MS" panose="030F0702030302020204" pitchFamily="66" charset="0"/>
            </a:endParaRPr>
          </a:p>
          <a:p>
            <a:r>
              <a:rPr lang="en-US" sz="1600" b="1" dirty="0">
                <a:solidFill>
                  <a:srgbClr val="00B0F0"/>
                </a:solidFill>
                <a:latin typeface="Comic Sans MS" panose="030F0702030302020204" pitchFamily="66" charset="0"/>
              </a:rPr>
              <a:t>8 GB to 16 GB RAM</a:t>
            </a:r>
            <a:r>
              <a:rPr lang="en-US" sz="1600" dirty="0">
                <a:solidFill>
                  <a:srgbClr val="00B0F0"/>
                </a:solidFill>
                <a:latin typeface="Comic Sans MS" panose="030F0702030302020204" pitchFamily="66" charset="0"/>
              </a:rPr>
              <a:t> is the </a:t>
            </a:r>
            <a:r>
              <a:rPr lang="en-US" sz="1600" b="1" dirty="0">
                <a:solidFill>
                  <a:srgbClr val="00B0F0"/>
                </a:solidFill>
                <a:latin typeface="Comic Sans MS" panose="030F0702030302020204" pitchFamily="66" charset="0"/>
              </a:rPr>
              <a:t>mid-range sweet spot</a:t>
            </a:r>
            <a:r>
              <a:rPr lang="en-US" sz="1600" dirty="0">
                <a:solidFill>
                  <a:srgbClr val="00B0F0"/>
                </a:solidFill>
                <a:latin typeface="Comic Sans MS" panose="030F0702030302020204" pitchFamily="66" charset="0"/>
              </a:rPr>
              <a:t>, with prices between </a:t>
            </a:r>
            <a:r>
              <a:rPr lang="en-US" sz="1600" b="1" dirty="0">
                <a:solidFill>
                  <a:srgbClr val="00B0F0"/>
                </a:solidFill>
                <a:latin typeface="Comic Sans MS" panose="030F0702030302020204" pitchFamily="66" charset="0"/>
              </a:rPr>
              <a:t>€1180–€1940</a:t>
            </a:r>
            <a:r>
              <a:rPr lang="en-US" sz="1600" dirty="0">
                <a:solidFill>
                  <a:srgbClr val="00B0F0"/>
                </a:solidFill>
                <a:latin typeface="Comic Sans MS" panose="030F0702030302020204" pitchFamily="66" charset="0"/>
              </a:rPr>
              <a:t>, suitable for general users and professionals.</a:t>
            </a:r>
          </a:p>
          <a:p>
            <a:endParaRPr lang="en-US" sz="1600" dirty="0">
              <a:solidFill>
                <a:srgbClr val="00B0F0"/>
              </a:solidFill>
              <a:latin typeface="Comic Sans MS" panose="030F0702030302020204" pitchFamily="66" charset="0"/>
            </a:endParaRPr>
          </a:p>
          <a:p>
            <a:r>
              <a:rPr lang="en-US" sz="1600" b="1" dirty="0">
                <a:solidFill>
                  <a:srgbClr val="00B050"/>
                </a:solidFill>
                <a:latin typeface="Comic Sans MS" panose="030F0702030302020204" pitchFamily="66" charset="0"/>
              </a:rPr>
              <a:t>Laptops with 2–4 GB RAM</a:t>
            </a:r>
            <a:r>
              <a:rPr lang="en-US" sz="1600" dirty="0">
                <a:solidFill>
                  <a:srgbClr val="00B050"/>
                </a:solidFill>
                <a:latin typeface="Comic Sans MS" panose="030F0702030302020204" pitchFamily="66" charset="0"/>
              </a:rPr>
              <a:t> are the </a:t>
            </a:r>
            <a:r>
              <a:rPr lang="en-US" sz="1600" b="1" dirty="0">
                <a:solidFill>
                  <a:srgbClr val="00B050"/>
                </a:solidFill>
                <a:latin typeface="Comic Sans MS" panose="030F0702030302020204" pitchFamily="66" charset="0"/>
              </a:rPr>
              <a:t>least expensive</a:t>
            </a:r>
            <a:r>
              <a:rPr lang="en-US" sz="1600" dirty="0">
                <a:solidFill>
                  <a:srgbClr val="00B050"/>
                </a:solidFill>
                <a:latin typeface="Comic Sans MS" panose="030F0702030302020204" pitchFamily="66" charset="0"/>
              </a:rPr>
              <a:t>, averaging below </a:t>
            </a:r>
            <a:r>
              <a:rPr lang="en-US" sz="1600" b="1" dirty="0">
                <a:solidFill>
                  <a:srgbClr val="00B050"/>
                </a:solidFill>
                <a:latin typeface="Comic Sans MS" panose="030F0702030302020204" pitchFamily="66" charset="0"/>
              </a:rPr>
              <a:t>€600</a:t>
            </a:r>
            <a:r>
              <a:rPr lang="en-US" sz="1600" dirty="0">
                <a:solidFill>
                  <a:srgbClr val="00B050"/>
                </a:solidFill>
                <a:latin typeface="Comic Sans MS" panose="030F0702030302020204" pitchFamily="66" charset="0"/>
              </a:rPr>
              <a:t>, indicating </a:t>
            </a:r>
            <a:r>
              <a:rPr lang="en-US" sz="1600" b="1" dirty="0">
                <a:solidFill>
                  <a:srgbClr val="00B050"/>
                </a:solidFill>
                <a:latin typeface="Comic Sans MS" panose="030F0702030302020204" pitchFamily="66" charset="0"/>
              </a:rPr>
              <a:t>entry-level or budget devices</a:t>
            </a:r>
            <a:r>
              <a:rPr lang="en-US" sz="1600" dirty="0">
                <a:solidFill>
                  <a:srgbClr val="00B050"/>
                </a:solidFill>
                <a:latin typeface="Comic Sans MS" panose="030F0702030302020204" pitchFamily="66" charset="0"/>
              </a:rPr>
              <a:t>.</a:t>
            </a:r>
          </a:p>
          <a:p>
            <a:endParaRPr lang="en-IN" sz="1600" dirty="0"/>
          </a:p>
        </p:txBody>
      </p:sp>
    </p:spTree>
    <p:extLst>
      <p:ext uri="{BB962C8B-B14F-4D97-AF65-F5344CB8AC3E}">
        <p14:creationId xmlns:p14="http://schemas.microsoft.com/office/powerpoint/2010/main" val="3523044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8F83E-AB0B-2987-181A-57EC83E7BA75}"/>
              </a:ext>
            </a:extLst>
          </p:cNvPr>
          <p:cNvSpPr>
            <a:spLocks noGrp="1"/>
          </p:cNvSpPr>
          <p:nvPr>
            <p:ph type="title"/>
          </p:nvPr>
        </p:nvSpPr>
        <p:spPr>
          <a:xfrm>
            <a:off x="370114" y="1"/>
            <a:ext cx="10983686" cy="1306286"/>
          </a:xfrm>
        </p:spPr>
        <p:txBody>
          <a:bodyPr/>
          <a:lstStyle/>
          <a:p>
            <a:r>
              <a:rPr lang="en-US" b="1" dirty="0">
                <a:solidFill>
                  <a:srgbClr val="00B050"/>
                </a:solidFill>
                <a:latin typeface="+mn-lt"/>
              </a:rPr>
              <a:t>Other key Insights of Ram:</a:t>
            </a:r>
            <a:endParaRPr lang="en-IN" b="1" dirty="0">
              <a:solidFill>
                <a:srgbClr val="00B050"/>
              </a:solidFill>
              <a:latin typeface="+mn-lt"/>
            </a:endParaRPr>
          </a:p>
        </p:txBody>
      </p:sp>
      <p:sp>
        <p:nvSpPr>
          <p:cNvPr id="3" name="Content Placeholder 2">
            <a:extLst>
              <a:ext uri="{FF2B5EF4-FFF2-40B4-BE49-F238E27FC236}">
                <a16:creationId xmlns:a16="http://schemas.microsoft.com/office/drawing/2014/main" id="{B800837B-4A98-9409-86E7-68ECA8D3D0CB}"/>
              </a:ext>
            </a:extLst>
          </p:cNvPr>
          <p:cNvSpPr>
            <a:spLocks noGrp="1"/>
          </p:cNvSpPr>
          <p:nvPr>
            <p:ph idx="1"/>
          </p:nvPr>
        </p:nvSpPr>
        <p:spPr>
          <a:xfrm>
            <a:off x="293914" y="1676401"/>
            <a:ext cx="11430000" cy="5018314"/>
          </a:xfrm>
        </p:spPr>
        <p:txBody>
          <a:bodyPr/>
          <a:lstStyle/>
          <a:p>
            <a:r>
              <a:rPr lang="en-US" dirty="0">
                <a:solidFill>
                  <a:srgbClr val="00B0F0"/>
                </a:solidFill>
                <a:latin typeface="Comic Sans MS" panose="030F0702030302020204" pitchFamily="66" charset="0"/>
              </a:rPr>
              <a:t>The </a:t>
            </a:r>
            <a:r>
              <a:rPr lang="en-US" b="1" dirty="0">
                <a:solidFill>
                  <a:srgbClr val="00B0F0"/>
                </a:solidFill>
                <a:latin typeface="Comic Sans MS" panose="030F0702030302020204" pitchFamily="66" charset="0"/>
              </a:rPr>
              <a:t>Asus ROG G701VO</a:t>
            </a:r>
            <a:r>
              <a:rPr lang="en-US" dirty="0">
                <a:solidFill>
                  <a:srgbClr val="00B0F0"/>
                </a:solidFill>
                <a:latin typeface="Comic Sans MS" panose="030F0702030302020204" pitchFamily="66" charset="0"/>
              </a:rPr>
              <a:t>, a </a:t>
            </a:r>
            <a:r>
              <a:rPr lang="en-US" b="1" dirty="0">
                <a:solidFill>
                  <a:srgbClr val="00B0F0"/>
                </a:solidFill>
                <a:latin typeface="Comic Sans MS" panose="030F0702030302020204" pitchFamily="66" charset="0"/>
              </a:rPr>
              <a:t>gaming laptop</a:t>
            </a:r>
            <a:r>
              <a:rPr lang="en-US" dirty="0">
                <a:solidFill>
                  <a:srgbClr val="00B0F0"/>
                </a:solidFill>
                <a:latin typeface="Comic Sans MS" panose="030F0702030302020204" pitchFamily="66" charset="0"/>
              </a:rPr>
              <a:t>, has the </a:t>
            </a:r>
            <a:r>
              <a:rPr lang="en-US" b="1" dirty="0">
                <a:solidFill>
                  <a:srgbClr val="00B0F0"/>
                </a:solidFill>
                <a:latin typeface="Comic Sans MS" panose="030F0702030302020204" pitchFamily="66" charset="0"/>
              </a:rPr>
              <a:t>highest RAM</a:t>
            </a:r>
            <a:r>
              <a:rPr lang="en-US" dirty="0">
                <a:solidFill>
                  <a:srgbClr val="00B0F0"/>
                </a:solidFill>
                <a:latin typeface="Comic Sans MS" panose="030F0702030302020204" pitchFamily="66" charset="0"/>
              </a:rPr>
              <a:t> in the dataset at </a:t>
            </a:r>
            <a:r>
              <a:rPr lang="en-US" b="1" dirty="0">
                <a:solidFill>
                  <a:srgbClr val="00B0F0"/>
                </a:solidFill>
                <a:latin typeface="Comic Sans MS" panose="030F0702030302020204" pitchFamily="66" charset="0"/>
              </a:rPr>
              <a:t>64 GB</a:t>
            </a:r>
            <a:r>
              <a:rPr lang="en-US" dirty="0">
                <a:solidFill>
                  <a:srgbClr val="00B0F0"/>
                </a:solidFill>
                <a:latin typeface="Comic Sans MS" panose="030F0702030302020204" pitchFamily="66" charset="0"/>
              </a:rPr>
              <a:t>.</a:t>
            </a:r>
          </a:p>
          <a:p>
            <a:endParaRPr lang="en-US" dirty="0">
              <a:solidFill>
                <a:srgbClr val="00B0F0"/>
              </a:solidFill>
              <a:latin typeface="Comic Sans MS" panose="030F0702030302020204" pitchFamily="66" charset="0"/>
            </a:endParaRPr>
          </a:p>
          <a:p>
            <a:r>
              <a:rPr lang="en-US" dirty="0">
                <a:solidFill>
                  <a:srgbClr val="00B0F0"/>
                </a:solidFill>
                <a:latin typeface="Comic Sans MS" panose="030F0702030302020204" pitchFamily="66" charset="0"/>
              </a:rPr>
              <a:t>There are a total of </a:t>
            </a:r>
            <a:r>
              <a:rPr lang="en-US" b="1" dirty="0">
                <a:solidFill>
                  <a:srgbClr val="00B0F0"/>
                </a:solidFill>
                <a:latin typeface="Comic Sans MS" panose="030F0702030302020204" pitchFamily="66" charset="0"/>
              </a:rPr>
              <a:t>16 laptop models</a:t>
            </a:r>
            <a:r>
              <a:rPr lang="en-US" dirty="0">
                <a:solidFill>
                  <a:srgbClr val="00B0F0"/>
                </a:solidFill>
                <a:latin typeface="Comic Sans MS" panose="030F0702030302020204" pitchFamily="66" charset="0"/>
              </a:rPr>
              <a:t> with the </a:t>
            </a:r>
            <a:r>
              <a:rPr lang="en-US" b="1" dirty="0">
                <a:solidFill>
                  <a:srgbClr val="00B0F0"/>
                </a:solidFill>
                <a:latin typeface="Comic Sans MS" panose="030F0702030302020204" pitchFamily="66" charset="0"/>
              </a:rPr>
              <a:t>lowest RAM</a:t>
            </a:r>
            <a:r>
              <a:rPr lang="en-US" dirty="0">
                <a:solidFill>
                  <a:srgbClr val="00B0F0"/>
                </a:solidFill>
                <a:latin typeface="Comic Sans MS" panose="030F0702030302020204" pitchFamily="66" charset="0"/>
              </a:rPr>
              <a:t> of </a:t>
            </a:r>
            <a:r>
              <a:rPr lang="en-US" b="1" dirty="0">
                <a:solidFill>
                  <a:srgbClr val="00B0F0"/>
                </a:solidFill>
                <a:latin typeface="Comic Sans MS" panose="030F0702030302020204" pitchFamily="66" charset="0"/>
              </a:rPr>
              <a:t>2 GB</a:t>
            </a:r>
            <a:r>
              <a:rPr lang="en-US" dirty="0">
                <a:solidFill>
                  <a:srgbClr val="00B0F0"/>
                </a:solidFill>
                <a:latin typeface="Comic Sans MS" panose="030F0702030302020204" pitchFamily="66" charset="0"/>
              </a:rPr>
              <a:t>, typically entry-level or budget devices.</a:t>
            </a:r>
          </a:p>
          <a:p>
            <a:endParaRPr lang="en-US" dirty="0">
              <a:solidFill>
                <a:srgbClr val="00B0F0"/>
              </a:solidFill>
              <a:latin typeface="Comic Sans MS" panose="030F0702030302020204" pitchFamily="66" charset="0"/>
            </a:endParaRPr>
          </a:p>
          <a:p>
            <a:r>
              <a:rPr lang="en-US" dirty="0">
                <a:solidFill>
                  <a:srgbClr val="00B0F0"/>
                </a:solidFill>
                <a:latin typeface="Comic Sans MS" panose="030F0702030302020204" pitchFamily="66" charset="0"/>
              </a:rPr>
              <a:t>The </a:t>
            </a:r>
            <a:r>
              <a:rPr lang="en-US" b="1" dirty="0">
                <a:solidFill>
                  <a:srgbClr val="00B0F0"/>
                </a:solidFill>
                <a:latin typeface="Comic Sans MS" panose="030F0702030302020204" pitchFamily="66" charset="0"/>
              </a:rPr>
              <a:t>Razer Blade Pro</a:t>
            </a:r>
            <a:r>
              <a:rPr lang="en-US" dirty="0">
                <a:solidFill>
                  <a:srgbClr val="00B0F0"/>
                </a:solidFill>
                <a:latin typeface="Comic Sans MS" panose="030F0702030302020204" pitchFamily="66" charset="0"/>
              </a:rPr>
              <a:t> stands out with </a:t>
            </a:r>
            <a:r>
              <a:rPr lang="en-US" b="1" dirty="0">
                <a:solidFill>
                  <a:srgbClr val="00B0F0"/>
                </a:solidFill>
                <a:latin typeface="Comic Sans MS" panose="030F0702030302020204" pitchFamily="66" charset="0"/>
              </a:rPr>
              <a:t>32 GB RAM</a:t>
            </a:r>
            <a:r>
              <a:rPr lang="en-US" dirty="0">
                <a:solidFill>
                  <a:srgbClr val="00B0F0"/>
                </a:solidFill>
                <a:latin typeface="Comic Sans MS" panose="030F0702030302020204" pitchFamily="66" charset="0"/>
              </a:rPr>
              <a:t> and a </a:t>
            </a:r>
            <a:r>
              <a:rPr lang="en-US" b="1" dirty="0">
                <a:solidFill>
                  <a:srgbClr val="00B0F0"/>
                </a:solidFill>
                <a:latin typeface="Comic Sans MS" panose="030F0702030302020204" pitchFamily="66" charset="0"/>
              </a:rPr>
              <a:t>high price</a:t>
            </a:r>
            <a:r>
              <a:rPr lang="en-US" dirty="0">
                <a:solidFill>
                  <a:srgbClr val="00B0F0"/>
                </a:solidFill>
                <a:latin typeface="Comic Sans MS" panose="030F0702030302020204" pitchFamily="66" charset="0"/>
              </a:rPr>
              <a:t> of </a:t>
            </a:r>
            <a:r>
              <a:rPr lang="en-US" b="1" dirty="0">
                <a:solidFill>
                  <a:srgbClr val="00B0F0"/>
                </a:solidFill>
                <a:latin typeface="Comic Sans MS" panose="030F0702030302020204" pitchFamily="66" charset="0"/>
              </a:rPr>
              <a:t>€6099</a:t>
            </a:r>
            <a:r>
              <a:rPr lang="en-US" dirty="0">
                <a:solidFill>
                  <a:srgbClr val="00B0F0"/>
                </a:solidFill>
                <a:latin typeface="Comic Sans MS" panose="030F0702030302020204" pitchFamily="66" charset="0"/>
              </a:rPr>
              <a:t>, highlighting its position as a </a:t>
            </a:r>
            <a:r>
              <a:rPr lang="en-US" b="1" dirty="0">
                <a:solidFill>
                  <a:srgbClr val="00B0F0"/>
                </a:solidFill>
                <a:latin typeface="Comic Sans MS" panose="030F0702030302020204" pitchFamily="66" charset="0"/>
              </a:rPr>
              <a:t>premium high-performance laptop</a:t>
            </a:r>
            <a:r>
              <a:rPr lang="en-US" dirty="0">
                <a:solidFill>
                  <a:srgbClr val="00B0F0"/>
                </a:solidFill>
                <a:latin typeface="Comic Sans MS" panose="030F0702030302020204" pitchFamily="66" charset="0"/>
              </a:rPr>
              <a:t>.</a:t>
            </a:r>
          </a:p>
          <a:p>
            <a:endParaRPr lang="en-IN" dirty="0">
              <a:solidFill>
                <a:srgbClr val="00B0F0"/>
              </a:solidFill>
              <a:latin typeface="Comic Sans MS" panose="030F0702030302020204" pitchFamily="66" charset="0"/>
            </a:endParaRPr>
          </a:p>
        </p:txBody>
      </p:sp>
    </p:spTree>
    <p:extLst>
      <p:ext uri="{BB962C8B-B14F-4D97-AF65-F5344CB8AC3E}">
        <p14:creationId xmlns:p14="http://schemas.microsoft.com/office/powerpoint/2010/main" val="2436803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4E96D-1609-9B01-C710-94F82B237EEC}"/>
              </a:ext>
            </a:extLst>
          </p:cNvPr>
          <p:cNvSpPr>
            <a:spLocks noGrp="1"/>
          </p:cNvSpPr>
          <p:nvPr>
            <p:ph type="title"/>
          </p:nvPr>
        </p:nvSpPr>
        <p:spPr>
          <a:xfrm>
            <a:off x="500743" y="185057"/>
            <a:ext cx="10853057" cy="794657"/>
          </a:xfrm>
        </p:spPr>
        <p:txBody>
          <a:bodyPr>
            <a:normAutofit/>
          </a:bodyPr>
          <a:lstStyle/>
          <a:p>
            <a:r>
              <a:rPr lang="en-US" b="1" dirty="0">
                <a:solidFill>
                  <a:srgbClr val="00B050"/>
                </a:solidFill>
                <a:latin typeface="+mn-lt"/>
              </a:rPr>
              <a:t>14.OS Count by Company</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8A2AA0CD-5C06-B7BB-ABF5-B41BAC26072D}"/>
              </a:ext>
            </a:extLst>
          </p:cNvPr>
          <p:cNvPicPr>
            <a:picLocks noGrp="1" noChangeAspect="1"/>
          </p:cNvPicPr>
          <p:nvPr>
            <p:ph sz="half" idx="1"/>
          </p:nvPr>
        </p:nvPicPr>
        <p:blipFill>
          <a:blip r:embed="rId2"/>
          <a:stretch>
            <a:fillRect/>
          </a:stretch>
        </p:blipFill>
        <p:spPr>
          <a:xfrm>
            <a:off x="293913" y="1066801"/>
            <a:ext cx="11527973" cy="3918856"/>
          </a:xfrm>
        </p:spPr>
      </p:pic>
      <p:sp>
        <p:nvSpPr>
          <p:cNvPr id="4" name="Content Placeholder 3">
            <a:extLst>
              <a:ext uri="{FF2B5EF4-FFF2-40B4-BE49-F238E27FC236}">
                <a16:creationId xmlns:a16="http://schemas.microsoft.com/office/drawing/2014/main" id="{2E98E375-8CDC-2116-08ED-542365BA8957}"/>
              </a:ext>
            </a:extLst>
          </p:cNvPr>
          <p:cNvSpPr>
            <a:spLocks noGrp="1"/>
          </p:cNvSpPr>
          <p:nvPr>
            <p:ph sz="half" idx="2"/>
          </p:nvPr>
        </p:nvSpPr>
        <p:spPr>
          <a:xfrm>
            <a:off x="293913" y="5192256"/>
            <a:ext cx="11789230" cy="1578657"/>
          </a:xfrm>
        </p:spPr>
        <p:txBody>
          <a:bodyPr>
            <a:normAutofit fontScale="92500" lnSpcReduction="20000"/>
          </a:bodyPr>
          <a:lstStyle/>
          <a:p>
            <a:r>
              <a:rPr lang="en-US" b="1" dirty="0">
                <a:solidFill>
                  <a:srgbClr val="00B050"/>
                </a:solidFill>
              </a:rPr>
              <a:t>Most Common Operating System</a:t>
            </a:r>
          </a:p>
          <a:p>
            <a:r>
              <a:rPr lang="en-US" b="1" dirty="0">
                <a:solidFill>
                  <a:srgbClr val="00B0F0"/>
                </a:solidFill>
              </a:rPr>
              <a:t>Windows 10</a:t>
            </a:r>
            <a:r>
              <a:rPr lang="en-US" dirty="0">
                <a:solidFill>
                  <a:srgbClr val="00B0F0"/>
                </a:solidFill>
              </a:rPr>
              <a:t> is the </a:t>
            </a:r>
            <a:r>
              <a:rPr lang="en-US" b="1" dirty="0">
                <a:solidFill>
                  <a:srgbClr val="00B0F0"/>
                </a:solidFill>
              </a:rPr>
              <a:t>most widely used operating system</a:t>
            </a:r>
            <a:r>
              <a:rPr lang="en-US" dirty="0">
                <a:solidFill>
                  <a:srgbClr val="00B0F0"/>
                </a:solidFill>
              </a:rPr>
              <a:t> among laptops in the dataset, with a total count of </a:t>
            </a:r>
            <a:r>
              <a:rPr lang="en-US" b="1" dirty="0">
                <a:solidFill>
                  <a:srgbClr val="00B0F0"/>
                </a:solidFill>
              </a:rPr>
              <a:t>1,048 devices</a:t>
            </a:r>
            <a:r>
              <a:rPr lang="en-US" dirty="0">
                <a:solidFill>
                  <a:srgbClr val="00B0F0"/>
                </a:solidFill>
              </a:rPr>
              <a:t>.</a:t>
            </a:r>
          </a:p>
          <a:p>
            <a:r>
              <a:rPr lang="en-US" dirty="0">
                <a:solidFill>
                  <a:srgbClr val="00B0F0"/>
                </a:solidFill>
              </a:rPr>
              <a:t>Other operating systems are </a:t>
            </a:r>
            <a:r>
              <a:rPr lang="en-US" b="1" dirty="0">
                <a:solidFill>
                  <a:srgbClr val="00B0F0"/>
                </a:solidFill>
              </a:rPr>
              <a:t>far less common</a:t>
            </a:r>
            <a:r>
              <a:rPr lang="en-US" dirty="0">
                <a:solidFill>
                  <a:srgbClr val="00B0F0"/>
                </a:solidFill>
              </a:rPr>
              <a:t> in comparison.</a:t>
            </a:r>
          </a:p>
          <a:p>
            <a:endParaRPr lang="en-IN" dirty="0"/>
          </a:p>
        </p:txBody>
      </p:sp>
    </p:spTree>
    <p:extLst>
      <p:ext uri="{BB962C8B-B14F-4D97-AF65-F5344CB8AC3E}">
        <p14:creationId xmlns:p14="http://schemas.microsoft.com/office/powerpoint/2010/main" val="1753227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9D564-6651-B03E-6EF3-0CD4EFBC70DD}"/>
              </a:ext>
            </a:extLst>
          </p:cNvPr>
          <p:cNvSpPr>
            <a:spLocks noGrp="1"/>
          </p:cNvSpPr>
          <p:nvPr>
            <p:ph type="title"/>
          </p:nvPr>
        </p:nvSpPr>
        <p:spPr>
          <a:xfrm>
            <a:off x="206829" y="206830"/>
            <a:ext cx="11669485" cy="914399"/>
          </a:xfrm>
        </p:spPr>
        <p:txBody>
          <a:bodyPr/>
          <a:lstStyle/>
          <a:p>
            <a:r>
              <a:rPr lang="en-US" b="1" dirty="0">
                <a:solidFill>
                  <a:srgbClr val="00B050"/>
                </a:solidFill>
                <a:latin typeface="+mn-lt"/>
              </a:rPr>
              <a:t>14.1 Average Laptop Price By OS:</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16139D42-B6AF-57D4-934F-E73481006E64}"/>
              </a:ext>
            </a:extLst>
          </p:cNvPr>
          <p:cNvPicPr>
            <a:picLocks noGrp="1" noChangeAspect="1"/>
          </p:cNvPicPr>
          <p:nvPr>
            <p:ph sz="half" idx="1"/>
          </p:nvPr>
        </p:nvPicPr>
        <p:blipFill>
          <a:blip r:embed="rId2"/>
          <a:stretch>
            <a:fillRect/>
          </a:stretch>
        </p:blipFill>
        <p:spPr>
          <a:xfrm>
            <a:off x="108858" y="1317171"/>
            <a:ext cx="6226628" cy="5214257"/>
          </a:xfrm>
        </p:spPr>
      </p:pic>
      <p:sp>
        <p:nvSpPr>
          <p:cNvPr id="4" name="Content Placeholder 3">
            <a:extLst>
              <a:ext uri="{FF2B5EF4-FFF2-40B4-BE49-F238E27FC236}">
                <a16:creationId xmlns:a16="http://schemas.microsoft.com/office/drawing/2014/main" id="{1B91ECF6-F76F-51C6-1EA2-A4DF845FADF1}"/>
              </a:ext>
            </a:extLst>
          </p:cNvPr>
          <p:cNvSpPr>
            <a:spLocks noGrp="1"/>
          </p:cNvSpPr>
          <p:nvPr>
            <p:ph sz="half" idx="2"/>
          </p:nvPr>
        </p:nvSpPr>
        <p:spPr>
          <a:xfrm>
            <a:off x="6542314" y="1317170"/>
            <a:ext cx="5442857" cy="5214257"/>
          </a:xfrm>
        </p:spPr>
        <p:txBody>
          <a:bodyPr>
            <a:normAutofit fontScale="92500"/>
          </a:bodyPr>
          <a:lstStyle/>
          <a:p>
            <a:r>
              <a:rPr lang="en-US" sz="2200" b="1" dirty="0">
                <a:solidFill>
                  <a:srgbClr val="00B0F0"/>
                </a:solidFill>
                <a:latin typeface="Comic Sans MS" panose="030F0702030302020204" pitchFamily="66" charset="0"/>
              </a:rPr>
              <a:t>OS vs Average Price Insight</a:t>
            </a:r>
          </a:p>
          <a:p>
            <a:r>
              <a:rPr lang="en-US" sz="2200" b="1" dirty="0">
                <a:solidFill>
                  <a:srgbClr val="FFFF00"/>
                </a:solidFill>
                <a:latin typeface="Comic Sans MS" panose="030F0702030302020204" pitchFamily="66" charset="0"/>
              </a:rPr>
              <a:t>macOS and Windows 7 laptops have the highest average prices, above €1600, indicating premium devices.</a:t>
            </a:r>
          </a:p>
          <a:p>
            <a:endParaRPr lang="en-US" sz="2200" b="1" dirty="0">
              <a:solidFill>
                <a:srgbClr val="FFFF00"/>
              </a:solidFill>
              <a:latin typeface="Comic Sans MS" panose="030F0702030302020204" pitchFamily="66" charset="0"/>
            </a:endParaRPr>
          </a:p>
          <a:p>
            <a:r>
              <a:rPr lang="en-US" sz="2200" b="1" dirty="0">
                <a:solidFill>
                  <a:srgbClr val="00B0F0"/>
                </a:solidFill>
                <a:latin typeface="Comic Sans MS" panose="030F0702030302020204" pitchFamily="66" charset="0"/>
              </a:rPr>
              <a:t>Windows 10 and Windows 10 S are mid-range in pricing.</a:t>
            </a:r>
          </a:p>
          <a:p>
            <a:endParaRPr lang="en-US" sz="2200" b="1" dirty="0">
              <a:solidFill>
                <a:srgbClr val="00B0F0"/>
              </a:solidFill>
              <a:latin typeface="Comic Sans MS" panose="030F0702030302020204" pitchFamily="66" charset="0"/>
            </a:endParaRPr>
          </a:p>
          <a:p>
            <a:r>
              <a:rPr lang="en-US" sz="2200" b="1" dirty="0">
                <a:solidFill>
                  <a:srgbClr val="00B0F0"/>
                </a:solidFill>
                <a:latin typeface="Comic Sans MS" panose="030F0702030302020204" pitchFamily="66" charset="0"/>
              </a:rPr>
              <a:t>Linux, Chrome OS, No OS, and Android laptops are the most affordable, all averaging below €650.</a:t>
            </a:r>
          </a:p>
          <a:p>
            <a:endParaRPr lang="en-US" sz="2200" b="1" dirty="0">
              <a:solidFill>
                <a:srgbClr val="00B0F0"/>
              </a:solidFill>
              <a:latin typeface="Comic Sans MS" panose="030F0702030302020204" pitchFamily="66" charset="0"/>
            </a:endParaRPr>
          </a:p>
          <a:p>
            <a:r>
              <a:rPr lang="en-US" sz="2200" b="1" dirty="0">
                <a:solidFill>
                  <a:srgbClr val="FFFF00"/>
                </a:solidFill>
                <a:latin typeface="Comic Sans MS" panose="030F0702030302020204" pitchFamily="66" charset="0"/>
              </a:rPr>
              <a:t>Android-based laptops are the least expensive, with an average price of €434.</a:t>
            </a:r>
          </a:p>
          <a:p>
            <a:endParaRPr lang="en-IN" b="1" dirty="0">
              <a:solidFill>
                <a:srgbClr val="00B0F0"/>
              </a:solidFill>
            </a:endParaRPr>
          </a:p>
        </p:txBody>
      </p:sp>
    </p:spTree>
    <p:extLst>
      <p:ext uri="{BB962C8B-B14F-4D97-AF65-F5344CB8AC3E}">
        <p14:creationId xmlns:p14="http://schemas.microsoft.com/office/powerpoint/2010/main" val="9305334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32CB0-B369-452E-0809-B99809D34AB2}"/>
              </a:ext>
            </a:extLst>
          </p:cNvPr>
          <p:cNvSpPr>
            <a:spLocks noGrp="1"/>
          </p:cNvSpPr>
          <p:nvPr>
            <p:ph type="title"/>
          </p:nvPr>
        </p:nvSpPr>
        <p:spPr>
          <a:xfrm>
            <a:off x="185057" y="239487"/>
            <a:ext cx="11168743" cy="925284"/>
          </a:xfrm>
        </p:spPr>
        <p:txBody>
          <a:bodyPr/>
          <a:lstStyle/>
          <a:p>
            <a:r>
              <a:rPr lang="en-US" b="1" dirty="0">
                <a:solidFill>
                  <a:srgbClr val="00B050"/>
                </a:solidFill>
                <a:latin typeface="+mn-lt"/>
              </a:rPr>
              <a:t>15 GPU Company Distribution</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E2B0BDBA-8B4D-D329-2918-8E9E3EC720E8}"/>
              </a:ext>
            </a:extLst>
          </p:cNvPr>
          <p:cNvPicPr>
            <a:picLocks noGrp="1" noChangeAspect="1"/>
          </p:cNvPicPr>
          <p:nvPr>
            <p:ph sz="half" idx="1"/>
          </p:nvPr>
        </p:nvPicPr>
        <p:blipFill>
          <a:blip r:embed="rId2"/>
          <a:stretch>
            <a:fillRect/>
          </a:stretch>
        </p:blipFill>
        <p:spPr>
          <a:xfrm>
            <a:off x="261258" y="1531764"/>
            <a:ext cx="5529941" cy="4901693"/>
          </a:xfrm>
        </p:spPr>
      </p:pic>
      <p:sp>
        <p:nvSpPr>
          <p:cNvPr id="4" name="Content Placeholder 3">
            <a:extLst>
              <a:ext uri="{FF2B5EF4-FFF2-40B4-BE49-F238E27FC236}">
                <a16:creationId xmlns:a16="http://schemas.microsoft.com/office/drawing/2014/main" id="{C996630B-720B-AFDB-EF10-A6132DB76D26}"/>
              </a:ext>
            </a:extLst>
          </p:cNvPr>
          <p:cNvSpPr>
            <a:spLocks noGrp="1"/>
          </p:cNvSpPr>
          <p:nvPr>
            <p:ph sz="half" idx="2"/>
          </p:nvPr>
        </p:nvSpPr>
        <p:spPr>
          <a:xfrm>
            <a:off x="6096000" y="1531764"/>
            <a:ext cx="5758543" cy="4773445"/>
          </a:xfrm>
        </p:spPr>
        <p:txBody>
          <a:bodyPr>
            <a:normAutofit fontScale="77500" lnSpcReduction="20000"/>
          </a:bodyPr>
          <a:lstStyle/>
          <a:p>
            <a:r>
              <a:rPr lang="en-US" b="1" dirty="0">
                <a:solidFill>
                  <a:srgbClr val="FFFF00"/>
                </a:solidFill>
                <a:latin typeface="Comic Sans MS" panose="030F0702030302020204" pitchFamily="66" charset="0"/>
              </a:rPr>
              <a:t>Intel</a:t>
            </a:r>
            <a:r>
              <a:rPr lang="en-US" dirty="0">
                <a:solidFill>
                  <a:srgbClr val="00B050"/>
                </a:solidFill>
                <a:latin typeface="Comic Sans MS" panose="030F0702030302020204" pitchFamily="66" charset="0"/>
              </a:rPr>
              <a:t> holds the </a:t>
            </a:r>
            <a:r>
              <a:rPr lang="en-US" b="1" dirty="0">
                <a:solidFill>
                  <a:srgbClr val="00B050"/>
                </a:solidFill>
                <a:latin typeface="Comic Sans MS" panose="030F0702030302020204" pitchFamily="66" charset="0"/>
              </a:rPr>
              <a:t>largest share</a:t>
            </a:r>
            <a:r>
              <a:rPr lang="en-US" dirty="0">
                <a:solidFill>
                  <a:srgbClr val="00B050"/>
                </a:solidFill>
                <a:latin typeface="Comic Sans MS" panose="030F0702030302020204" pitchFamily="66" charset="0"/>
              </a:rPr>
              <a:t> of the GPU market at </a:t>
            </a:r>
            <a:r>
              <a:rPr lang="en-US" b="1" dirty="0">
                <a:solidFill>
                  <a:srgbClr val="FFFF00"/>
                </a:solidFill>
                <a:latin typeface="Comic Sans MS" panose="030F0702030302020204" pitchFamily="66" charset="0"/>
              </a:rPr>
              <a:t>55.2%</a:t>
            </a:r>
            <a:r>
              <a:rPr lang="en-US" dirty="0">
                <a:solidFill>
                  <a:srgbClr val="00B050"/>
                </a:solidFill>
                <a:latin typeface="Comic Sans MS" panose="030F0702030302020204" pitchFamily="66" charset="0"/>
              </a:rPr>
              <a:t>.</a:t>
            </a:r>
          </a:p>
          <a:p>
            <a:endParaRPr lang="en-US" dirty="0">
              <a:solidFill>
                <a:srgbClr val="00B050"/>
              </a:solidFill>
              <a:latin typeface="Comic Sans MS" panose="030F0702030302020204" pitchFamily="66" charset="0"/>
            </a:endParaRPr>
          </a:p>
          <a:p>
            <a:r>
              <a:rPr lang="en-US" b="1" dirty="0">
                <a:solidFill>
                  <a:srgbClr val="FFFF00"/>
                </a:solidFill>
                <a:latin typeface="Comic Sans MS" panose="030F0702030302020204" pitchFamily="66" charset="0"/>
              </a:rPr>
              <a:t>NVIDIA</a:t>
            </a:r>
            <a:r>
              <a:rPr lang="en-US" dirty="0">
                <a:solidFill>
                  <a:srgbClr val="FFFF00"/>
                </a:solidFill>
                <a:latin typeface="Comic Sans MS" panose="030F0702030302020204" pitchFamily="66" charset="0"/>
              </a:rPr>
              <a:t> </a:t>
            </a:r>
            <a:r>
              <a:rPr lang="en-US" dirty="0">
                <a:solidFill>
                  <a:srgbClr val="00B050"/>
                </a:solidFill>
                <a:latin typeface="Comic Sans MS" panose="030F0702030302020204" pitchFamily="66" charset="0"/>
              </a:rPr>
              <a:t>is the second largest, with a </a:t>
            </a:r>
            <a:r>
              <a:rPr lang="en-US" b="1" dirty="0">
                <a:solidFill>
                  <a:srgbClr val="FFFF00"/>
                </a:solidFill>
                <a:latin typeface="Comic Sans MS" panose="030F0702030302020204" pitchFamily="66" charset="0"/>
              </a:rPr>
              <a:t>31.1%</a:t>
            </a:r>
            <a:r>
              <a:rPr lang="en-US" dirty="0">
                <a:solidFill>
                  <a:srgbClr val="FFFF00"/>
                </a:solidFill>
                <a:latin typeface="Comic Sans MS" panose="030F0702030302020204" pitchFamily="66" charset="0"/>
              </a:rPr>
              <a:t> share</a:t>
            </a:r>
            <a:r>
              <a:rPr lang="en-US" dirty="0">
                <a:solidFill>
                  <a:srgbClr val="00B050"/>
                </a:solidFill>
                <a:latin typeface="Comic Sans MS" panose="030F0702030302020204" pitchFamily="66" charset="0"/>
              </a:rPr>
              <a:t>.</a:t>
            </a:r>
          </a:p>
          <a:p>
            <a:endParaRPr lang="en-US" dirty="0">
              <a:solidFill>
                <a:srgbClr val="00B050"/>
              </a:solidFill>
              <a:latin typeface="Comic Sans MS" panose="030F0702030302020204" pitchFamily="66" charset="0"/>
            </a:endParaRPr>
          </a:p>
          <a:p>
            <a:r>
              <a:rPr lang="en-US" b="1" dirty="0">
                <a:solidFill>
                  <a:srgbClr val="FFFF00"/>
                </a:solidFill>
                <a:latin typeface="Comic Sans MS" panose="030F0702030302020204" pitchFamily="66" charset="0"/>
              </a:rPr>
              <a:t>AMD</a:t>
            </a:r>
            <a:r>
              <a:rPr lang="en-US" dirty="0">
                <a:solidFill>
                  <a:srgbClr val="00B050"/>
                </a:solidFill>
                <a:latin typeface="Comic Sans MS" panose="030F0702030302020204" pitchFamily="66" charset="0"/>
              </a:rPr>
              <a:t> accounts for </a:t>
            </a:r>
            <a:r>
              <a:rPr lang="en-US" b="1" dirty="0">
                <a:solidFill>
                  <a:srgbClr val="FFFF00"/>
                </a:solidFill>
                <a:latin typeface="Comic Sans MS" panose="030F0702030302020204" pitchFamily="66" charset="0"/>
              </a:rPr>
              <a:t>13.6%</a:t>
            </a:r>
            <a:r>
              <a:rPr lang="en-US" dirty="0">
                <a:solidFill>
                  <a:srgbClr val="00B050"/>
                </a:solidFill>
                <a:latin typeface="Comic Sans MS" panose="030F0702030302020204" pitchFamily="66" charset="0"/>
              </a:rPr>
              <a:t> of the market.</a:t>
            </a:r>
          </a:p>
          <a:p>
            <a:endParaRPr lang="en-US" dirty="0">
              <a:solidFill>
                <a:srgbClr val="00B050"/>
              </a:solidFill>
              <a:latin typeface="Comic Sans MS" panose="030F0702030302020204" pitchFamily="66" charset="0"/>
            </a:endParaRPr>
          </a:p>
          <a:p>
            <a:r>
              <a:rPr lang="en-US" b="1" dirty="0">
                <a:solidFill>
                  <a:srgbClr val="FFFF00"/>
                </a:solidFill>
                <a:latin typeface="Comic Sans MS" panose="030F0702030302020204" pitchFamily="66" charset="0"/>
              </a:rPr>
              <a:t>ARM</a:t>
            </a:r>
            <a:r>
              <a:rPr lang="en-US" dirty="0">
                <a:solidFill>
                  <a:srgbClr val="FFFF00"/>
                </a:solidFill>
                <a:latin typeface="Comic Sans MS" panose="030F0702030302020204" pitchFamily="66" charset="0"/>
              </a:rPr>
              <a:t> </a:t>
            </a:r>
            <a:r>
              <a:rPr lang="en-US" dirty="0">
                <a:solidFill>
                  <a:srgbClr val="00B050"/>
                </a:solidFill>
                <a:latin typeface="Comic Sans MS" panose="030F0702030302020204" pitchFamily="66" charset="0"/>
              </a:rPr>
              <a:t>has a </a:t>
            </a:r>
            <a:r>
              <a:rPr lang="en-US" b="1" dirty="0">
                <a:solidFill>
                  <a:srgbClr val="00B050"/>
                </a:solidFill>
                <a:latin typeface="Comic Sans MS" panose="030F0702030302020204" pitchFamily="66" charset="0"/>
              </a:rPr>
              <a:t>very minimal presence</a:t>
            </a:r>
            <a:r>
              <a:rPr lang="en-US" dirty="0">
                <a:solidFill>
                  <a:srgbClr val="00B050"/>
                </a:solidFill>
                <a:latin typeface="Comic Sans MS" panose="030F0702030302020204" pitchFamily="66" charset="0"/>
              </a:rPr>
              <a:t>, with only </a:t>
            </a:r>
            <a:r>
              <a:rPr lang="en-US" b="1" dirty="0">
                <a:solidFill>
                  <a:srgbClr val="FFFF00"/>
                </a:solidFill>
                <a:latin typeface="Comic Sans MS" panose="030F0702030302020204" pitchFamily="66" charset="0"/>
              </a:rPr>
              <a:t>0.1%</a:t>
            </a:r>
            <a:r>
              <a:rPr lang="en-US" dirty="0">
                <a:solidFill>
                  <a:srgbClr val="FFFF00"/>
                </a:solidFill>
                <a:latin typeface="Comic Sans MS" panose="030F0702030302020204" pitchFamily="66" charset="0"/>
              </a:rPr>
              <a:t> share.</a:t>
            </a:r>
          </a:p>
          <a:p>
            <a:endParaRPr lang="en-US" dirty="0">
              <a:solidFill>
                <a:srgbClr val="00B050"/>
              </a:solidFill>
              <a:latin typeface="Comic Sans MS" panose="030F0702030302020204" pitchFamily="66" charset="0"/>
            </a:endParaRPr>
          </a:p>
          <a:p>
            <a:r>
              <a:rPr lang="en-US" dirty="0">
                <a:solidFill>
                  <a:srgbClr val="00B050"/>
                </a:solidFill>
                <a:latin typeface="Comic Sans MS" panose="030F0702030302020204" pitchFamily="66" charset="0"/>
              </a:rPr>
              <a:t>Overall</a:t>
            </a:r>
            <a:r>
              <a:rPr lang="en-US" dirty="0">
                <a:solidFill>
                  <a:srgbClr val="FFFF00"/>
                </a:solidFill>
                <a:latin typeface="Comic Sans MS" panose="030F0702030302020204" pitchFamily="66" charset="0"/>
              </a:rPr>
              <a:t>, </a:t>
            </a:r>
            <a:r>
              <a:rPr lang="en-US" b="1" dirty="0">
                <a:solidFill>
                  <a:srgbClr val="FFFF00"/>
                </a:solidFill>
                <a:latin typeface="Comic Sans MS" panose="030F0702030302020204" pitchFamily="66" charset="0"/>
              </a:rPr>
              <a:t>Intel clearly dominates</a:t>
            </a:r>
            <a:r>
              <a:rPr lang="en-US" dirty="0">
                <a:solidFill>
                  <a:srgbClr val="FFFF00"/>
                </a:solidFill>
                <a:latin typeface="Comic Sans MS" panose="030F0702030302020204" pitchFamily="66" charset="0"/>
              </a:rPr>
              <a:t> the GPU market among the listed companies</a:t>
            </a:r>
            <a:r>
              <a:rPr lang="en-US" dirty="0">
                <a:solidFill>
                  <a:srgbClr val="00B050"/>
                </a:solidFill>
                <a:latin typeface="Comic Sans MS" panose="030F0702030302020204" pitchFamily="66" charset="0"/>
              </a:rPr>
              <a:t>.</a:t>
            </a:r>
          </a:p>
          <a:p>
            <a:endParaRPr lang="en-IN" dirty="0">
              <a:solidFill>
                <a:srgbClr val="FFFF00"/>
              </a:solidFill>
              <a:latin typeface="Comic Sans MS" panose="030F0702030302020204" pitchFamily="66" charset="0"/>
            </a:endParaRPr>
          </a:p>
        </p:txBody>
      </p:sp>
    </p:spTree>
    <p:extLst>
      <p:ext uri="{BB962C8B-B14F-4D97-AF65-F5344CB8AC3E}">
        <p14:creationId xmlns:p14="http://schemas.microsoft.com/office/powerpoint/2010/main" val="9977698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1C26-E94A-BA5F-537C-94D23F7F3CDE}"/>
              </a:ext>
            </a:extLst>
          </p:cNvPr>
          <p:cNvSpPr>
            <a:spLocks noGrp="1"/>
          </p:cNvSpPr>
          <p:nvPr>
            <p:ph type="title"/>
          </p:nvPr>
        </p:nvSpPr>
        <p:spPr>
          <a:xfrm>
            <a:off x="272143" y="206830"/>
            <a:ext cx="11081657" cy="1055914"/>
          </a:xfrm>
        </p:spPr>
        <p:txBody>
          <a:bodyPr/>
          <a:lstStyle/>
          <a:p>
            <a:r>
              <a:rPr lang="en-US" b="1" dirty="0">
                <a:solidFill>
                  <a:srgbClr val="00B050"/>
                </a:solidFill>
                <a:latin typeface="+mn-lt"/>
              </a:rPr>
              <a:t>15.1 Average Price of Laptop by GPU Company</a:t>
            </a:r>
            <a:endParaRPr lang="en-IN" b="1" dirty="0">
              <a:solidFill>
                <a:srgbClr val="00B050"/>
              </a:solidFill>
              <a:latin typeface="+mn-lt"/>
            </a:endParaRPr>
          </a:p>
        </p:txBody>
      </p:sp>
      <p:pic>
        <p:nvPicPr>
          <p:cNvPr id="7" name="Content Placeholder 6">
            <a:extLst>
              <a:ext uri="{FF2B5EF4-FFF2-40B4-BE49-F238E27FC236}">
                <a16:creationId xmlns:a16="http://schemas.microsoft.com/office/drawing/2014/main" id="{41C980F9-1B5F-BBB5-639F-31E3D5CDD653}"/>
              </a:ext>
            </a:extLst>
          </p:cNvPr>
          <p:cNvPicPr>
            <a:picLocks noGrp="1" noChangeAspect="1"/>
          </p:cNvPicPr>
          <p:nvPr>
            <p:ph sz="half" idx="1"/>
          </p:nvPr>
        </p:nvPicPr>
        <p:blipFill>
          <a:blip r:embed="rId2"/>
          <a:stretch>
            <a:fillRect/>
          </a:stretch>
        </p:blipFill>
        <p:spPr>
          <a:xfrm>
            <a:off x="152399" y="1262744"/>
            <a:ext cx="6302829" cy="5388426"/>
          </a:xfrm>
        </p:spPr>
      </p:pic>
      <p:sp>
        <p:nvSpPr>
          <p:cNvPr id="5" name="Rectangle 1">
            <a:extLst>
              <a:ext uri="{FF2B5EF4-FFF2-40B4-BE49-F238E27FC236}">
                <a16:creationId xmlns:a16="http://schemas.microsoft.com/office/drawing/2014/main" id="{92F94F7C-017A-3C37-2949-BA84FC407CCD}"/>
              </a:ext>
            </a:extLst>
          </p:cNvPr>
          <p:cNvSpPr>
            <a:spLocks noGrp="1" noChangeArrowheads="1"/>
          </p:cNvSpPr>
          <p:nvPr>
            <p:ph sz="half" idx="2"/>
          </p:nvPr>
        </p:nvSpPr>
        <p:spPr bwMode="auto">
          <a:xfrm>
            <a:off x="6759574" y="1301623"/>
            <a:ext cx="5203825"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FFFF00"/>
                </a:solidFill>
                <a:effectLst/>
                <a:latin typeface="Comic Sans MS" panose="030F0702030302020204" pitchFamily="66" charset="0"/>
              </a:rPr>
              <a:t>Laptops with NVIDIA GPUs</a:t>
            </a:r>
            <a:r>
              <a:rPr kumimoji="0" lang="en-US" altLang="en-US" sz="2000" b="0" i="0" u="none" strike="noStrike" cap="none" normalizeH="0" baseline="0" dirty="0">
                <a:ln>
                  <a:noFill/>
                </a:ln>
                <a:solidFill>
                  <a:srgbClr val="FFFF00"/>
                </a:solidFill>
                <a:effectLst/>
                <a:latin typeface="Comic Sans MS" panose="030F0702030302020204" pitchFamily="66" charset="0"/>
              </a:rPr>
              <a:t> have the </a:t>
            </a:r>
            <a:r>
              <a:rPr kumimoji="0" lang="en-US" altLang="en-US" sz="2000" b="1" i="0" u="none" strike="noStrike" cap="none" normalizeH="0" baseline="0" dirty="0">
                <a:ln>
                  <a:noFill/>
                </a:ln>
                <a:solidFill>
                  <a:srgbClr val="FFFF00"/>
                </a:solidFill>
                <a:effectLst/>
                <a:latin typeface="Comic Sans MS" panose="030F0702030302020204" pitchFamily="66" charset="0"/>
              </a:rPr>
              <a:t>highest average price</a:t>
            </a:r>
            <a:r>
              <a:rPr kumimoji="0" lang="en-US" altLang="en-US" sz="2000" b="0" i="0" u="none" strike="noStrike" cap="none" normalizeH="0" baseline="0" dirty="0">
                <a:ln>
                  <a:noFill/>
                </a:ln>
                <a:solidFill>
                  <a:srgbClr val="FFFF00"/>
                </a:solidFill>
                <a:effectLst/>
                <a:latin typeface="Comic Sans MS" panose="030F0702030302020204" pitchFamily="66" charset="0"/>
              </a:rPr>
              <a:t> (€1496</a:t>
            </a:r>
            <a:r>
              <a:rPr kumimoji="0" lang="en-US" altLang="en-US" sz="2000" b="0" i="0" u="none" strike="noStrike" cap="none" normalizeH="0" baseline="0" dirty="0">
                <a:ln>
                  <a:noFill/>
                </a:ln>
                <a:solidFill>
                  <a:srgbClr val="00B0F0"/>
                </a:solidFill>
                <a:effectLst/>
                <a:latin typeface="Comic Sans MS" panose="030F0702030302020204" pitchFamily="66" charset="0"/>
              </a:rPr>
              <a:t>), indicating their presence in high-performance and gaming laptops.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00B0F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FFFF00"/>
                </a:solidFill>
                <a:effectLst/>
                <a:latin typeface="Comic Sans MS" panose="030F0702030302020204" pitchFamily="66" charset="0"/>
              </a:rPr>
              <a:t>Intel GPU laptops</a:t>
            </a:r>
            <a:r>
              <a:rPr kumimoji="0" lang="en-US" altLang="en-US" sz="2000" b="0" i="0" u="none" strike="noStrike" cap="none" normalizeH="0" baseline="0" dirty="0">
                <a:ln>
                  <a:noFill/>
                </a:ln>
                <a:solidFill>
                  <a:srgbClr val="FFFF00"/>
                </a:solidFill>
                <a:effectLst/>
                <a:latin typeface="Comic Sans MS" panose="030F0702030302020204" pitchFamily="66" charset="0"/>
              </a:rPr>
              <a:t> are </a:t>
            </a:r>
            <a:r>
              <a:rPr kumimoji="0" lang="en-US" altLang="en-US" sz="2000" b="1" i="0" u="none" strike="noStrike" cap="none" normalizeH="0" baseline="0" dirty="0">
                <a:ln>
                  <a:noFill/>
                </a:ln>
                <a:solidFill>
                  <a:srgbClr val="FFFF00"/>
                </a:solidFill>
                <a:effectLst/>
                <a:latin typeface="Comic Sans MS" panose="030F0702030302020204" pitchFamily="66" charset="0"/>
              </a:rPr>
              <a:t>mid-range</a:t>
            </a:r>
            <a:r>
              <a:rPr kumimoji="0" lang="en-US" altLang="en-US" sz="2000" b="0" i="0" u="none" strike="noStrike" cap="none" normalizeH="0" baseline="0" dirty="0">
                <a:ln>
                  <a:noFill/>
                </a:ln>
                <a:solidFill>
                  <a:srgbClr val="FFFF00"/>
                </a:solidFill>
                <a:effectLst/>
                <a:latin typeface="Comic Sans MS" panose="030F0702030302020204" pitchFamily="66" charset="0"/>
              </a:rPr>
              <a:t> in price (€1020</a:t>
            </a:r>
            <a:r>
              <a:rPr kumimoji="0" lang="en-US" altLang="en-US" sz="2000" b="0" i="0" u="none" strike="noStrike" cap="none" normalizeH="0" baseline="0" dirty="0">
                <a:ln>
                  <a:noFill/>
                </a:ln>
                <a:solidFill>
                  <a:srgbClr val="00B0F0"/>
                </a:solidFill>
                <a:effectLst/>
                <a:latin typeface="Comic Sans MS" panose="030F0702030302020204" pitchFamily="66" charset="0"/>
              </a:rPr>
              <a:t>), commonly found in general-purpose and </a:t>
            </a:r>
            <a:r>
              <a:rPr kumimoji="0" lang="en-US" altLang="en-US" sz="2000" b="0" i="0" u="none" strike="noStrike" cap="none" normalizeH="0" baseline="0" dirty="0" err="1">
                <a:ln>
                  <a:noFill/>
                </a:ln>
                <a:solidFill>
                  <a:srgbClr val="00B0F0"/>
                </a:solidFill>
                <a:effectLst/>
                <a:latin typeface="Comic Sans MS" panose="030F0702030302020204" pitchFamily="66" charset="0"/>
              </a:rPr>
              <a:t>ultrabook</a:t>
            </a:r>
            <a:r>
              <a:rPr kumimoji="0" lang="en-US" altLang="en-US" sz="2000" b="0" i="0" u="none" strike="noStrike" cap="none" normalizeH="0" baseline="0" dirty="0">
                <a:ln>
                  <a:noFill/>
                </a:ln>
                <a:solidFill>
                  <a:srgbClr val="00B0F0"/>
                </a:solidFill>
                <a:effectLst/>
                <a:latin typeface="Comic Sans MS" panose="030F0702030302020204" pitchFamily="66" charset="0"/>
              </a:rPr>
              <a:t> devices.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00B0F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FFFF00"/>
                </a:solidFill>
                <a:effectLst/>
                <a:latin typeface="Comic Sans MS" panose="030F0702030302020204" pitchFamily="66" charset="0"/>
              </a:rPr>
              <a:t>AMD GPU laptops</a:t>
            </a:r>
            <a:r>
              <a:rPr kumimoji="0" lang="en-US" altLang="en-US" sz="2000" b="0" i="0" u="none" strike="noStrike" cap="none" normalizeH="0" baseline="0" dirty="0">
                <a:ln>
                  <a:noFill/>
                </a:ln>
                <a:solidFill>
                  <a:srgbClr val="FFFF00"/>
                </a:solidFill>
                <a:effectLst/>
                <a:latin typeface="Comic Sans MS" panose="030F0702030302020204" pitchFamily="66" charset="0"/>
              </a:rPr>
              <a:t> are more </a:t>
            </a:r>
            <a:r>
              <a:rPr kumimoji="0" lang="en-US" altLang="en-US" sz="2000" b="1" i="0" u="none" strike="noStrike" cap="none" normalizeH="0" baseline="0" dirty="0">
                <a:ln>
                  <a:noFill/>
                </a:ln>
                <a:solidFill>
                  <a:srgbClr val="FFFF00"/>
                </a:solidFill>
                <a:effectLst/>
                <a:latin typeface="Comic Sans MS" panose="030F0702030302020204" pitchFamily="66" charset="0"/>
              </a:rPr>
              <a:t>budget-friendly</a:t>
            </a:r>
            <a:r>
              <a:rPr kumimoji="0" lang="en-US" altLang="en-US" sz="2000" b="0" i="0" u="none" strike="noStrike" cap="none" normalizeH="0" baseline="0" dirty="0">
                <a:ln>
                  <a:noFill/>
                </a:ln>
                <a:solidFill>
                  <a:srgbClr val="FFFF00"/>
                </a:solidFill>
                <a:effectLst/>
                <a:latin typeface="Comic Sans MS" panose="030F0702030302020204" pitchFamily="66" charset="0"/>
              </a:rPr>
              <a:t>, </a:t>
            </a:r>
            <a:r>
              <a:rPr kumimoji="0" lang="en-US" altLang="en-US" sz="2000" b="0" i="0" u="none" strike="noStrike" cap="none" normalizeH="0" baseline="0" dirty="0">
                <a:ln>
                  <a:noFill/>
                </a:ln>
                <a:solidFill>
                  <a:srgbClr val="00B0F0"/>
                </a:solidFill>
                <a:effectLst/>
                <a:latin typeface="Comic Sans MS" panose="030F0702030302020204" pitchFamily="66" charset="0"/>
              </a:rPr>
              <a:t>with an average price of </a:t>
            </a:r>
            <a:r>
              <a:rPr kumimoji="0" lang="en-US" altLang="en-US" sz="2000" b="1" i="0" u="none" strike="noStrike" cap="none" normalizeH="0" baseline="0" dirty="0">
                <a:ln>
                  <a:noFill/>
                </a:ln>
                <a:solidFill>
                  <a:srgbClr val="00B0F0"/>
                </a:solidFill>
                <a:effectLst/>
                <a:latin typeface="Comic Sans MS" panose="030F0702030302020204" pitchFamily="66" charset="0"/>
              </a:rPr>
              <a:t>€778</a:t>
            </a:r>
            <a:r>
              <a:rPr kumimoji="0" lang="en-US" altLang="en-US" sz="2000" b="0" i="0" u="none" strike="noStrike" cap="none" normalizeH="0" baseline="0" dirty="0">
                <a:ln>
                  <a:noFill/>
                </a:ln>
                <a:solidFill>
                  <a:srgbClr val="00B0F0"/>
                </a:solidFill>
                <a:effectLst/>
                <a:latin typeface="Comic Sans MS" panose="030F0702030302020204" pitchFamily="66"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rgbClr val="00B0F0"/>
              </a:solidFill>
              <a:effectLst/>
              <a:latin typeface="Comic Sans MS" panose="030F0702030302020204" pitchFamily="66"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FFFF00"/>
                </a:solidFill>
                <a:effectLst/>
                <a:latin typeface="Comic Sans MS" panose="030F0702030302020204" pitchFamily="66" charset="0"/>
              </a:rPr>
              <a:t>ARM-based GPU laptops</a:t>
            </a:r>
            <a:r>
              <a:rPr kumimoji="0" lang="en-US" altLang="en-US" sz="2000" b="0" i="0" u="none" strike="noStrike" cap="none" normalizeH="0" baseline="0" dirty="0">
                <a:ln>
                  <a:noFill/>
                </a:ln>
                <a:solidFill>
                  <a:srgbClr val="FFFF00"/>
                </a:solidFill>
                <a:effectLst/>
                <a:latin typeface="Comic Sans MS" panose="030F0702030302020204" pitchFamily="66" charset="0"/>
              </a:rPr>
              <a:t> are the </a:t>
            </a:r>
            <a:r>
              <a:rPr kumimoji="0" lang="en-US" altLang="en-US" sz="2000" b="1" i="0" u="none" strike="noStrike" cap="none" normalizeH="0" baseline="0" dirty="0">
                <a:ln>
                  <a:noFill/>
                </a:ln>
                <a:solidFill>
                  <a:srgbClr val="FFFF00"/>
                </a:solidFill>
                <a:effectLst/>
                <a:latin typeface="Comic Sans MS" panose="030F0702030302020204" pitchFamily="66" charset="0"/>
              </a:rPr>
              <a:t>least expensive</a:t>
            </a:r>
            <a:r>
              <a:rPr kumimoji="0" lang="en-US" altLang="en-US" sz="2000" b="0" i="0" u="none" strike="noStrike" cap="none" normalizeH="0" baseline="0" dirty="0">
                <a:ln>
                  <a:noFill/>
                </a:ln>
                <a:solidFill>
                  <a:srgbClr val="FFFF00"/>
                </a:solidFill>
                <a:effectLst/>
                <a:latin typeface="Comic Sans MS" panose="030F0702030302020204" pitchFamily="66" charset="0"/>
              </a:rPr>
              <a:t>, averaging just </a:t>
            </a:r>
            <a:r>
              <a:rPr kumimoji="0" lang="en-US" altLang="en-US" sz="2000" b="1" i="0" u="none" strike="noStrike" cap="none" normalizeH="0" baseline="0" dirty="0">
                <a:ln>
                  <a:noFill/>
                </a:ln>
                <a:solidFill>
                  <a:srgbClr val="FFFF00"/>
                </a:solidFill>
                <a:effectLst/>
                <a:latin typeface="Comic Sans MS" panose="030F0702030302020204" pitchFamily="66" charset="0"/>
              </a:rPr>
              <a:t>€659</a:t>
            </a:r>
            <a:r>
              <a:rPr kumimoji="0" lang="en-US" altLang="en-US" sz="2000" b="0" i="0" u="none" strike="noStrike" cap="none" normalizeH="0" baseline="0" dirty="0">
                <a:ln>
                  <a:noFill/>
                </a:ln>
                <a:solidFill>
                  <a:srgbClr val="FFFF00"/>
                </a:solidFill>
                <a:effectLst/>
                <a:latin typeface="Comic Sans MS" panose="030F0702030302020204" pitchFamily="66" charset="0"/>
              </a:rPr>
              <a:t>, </a:t>
            </a:r>
            <a:r>
              <a:rPr kumimoji="0" lang="en-US" altLang="en-US" sz="2000" b="0" i="0" u="none" strike="noStrike" cap="none" normalizeH="0" baseline="0" dirty="0">
                <a:ln>
                  <a:noFill/>
                </a:ln>
                <a:solidFill>
                  <a:srgbClr val="00B0F0"/>
                </a:solidFill>
                <a:effectLst/>
                <a:latin typeface="Comic Sans MS" panose="030F0702030302020204" pitchFamily="66" charset="0"/>
              </a:rPr>
              <a:t>reflecting their limited performance and usage scope.</a:t>
            </a:r>
          </a:p>
        </p:txBody>
      </p:sp>
    </p:spTree>
    <p:extLst>
      <p:ext uri="{BB962C8B-B14F-4D97-AF65-F5344CB8AC3E}">
        <p14:creationId xmlns:p14="http://schemas.microsoft.com/office/powerpoint/2010/main" val="3623690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42504-240D-17DC-8F7E-07508F0266E4}"/>
              </a:ext>
            </a:extLst>
          </p:cNvPr>
          <p:cNvSpPr>
            <a:spLocks noGrp="1"/>
          </p:cNvSpPr>
          <p:nvPr>
            <p:ph type="title"/>
          </p:nvPr>
        </p:nvSpPr>
        <p:spPr>
          <a:xfrm>
            <a:off x="304799" y="119743"/>
            <a:ext cx="11669487" cy="1415143"/>
          </a:xfrm>
        </p:spPr>
        <p:txBody>
          <a:bodyPr/>
          <a:lstStyle/>
          <a:p>
            <a:r>
              <a:rPr lang="en-US" b="1" dirty="0">
                <a:solidFill>
                  <a:srgbClr val="00B050"/>
                </a:solidFill>
                <a:latin typeface="+mn-lt"/>
              </a:rPr>
              <a:t>16. Company with the highest number of laptops for each screen type:</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62192554-466B-6631-F810-F5014A0F57BE}"/>
              </a:ext>
            </a:extLst>
          </p:cNvPr>
          <p:cNvPicPr>
            <a:picLocks noGrp="1" noChangeAspect="1"/>
          </p:cNvPicPr>
          <p:nvPr>
            <p:ph sz="half" idx="1"/>
          </p:nvPr>
        </p:nvPicPr>
        <p:blipFill>
          <a:blip r:embed="rId2"/>
          <a:stretch>
            <a:fillRect/>
          </a:stretch>
        </p:blipFill>
        <p:spPr>
          <a:xfrm>
            <a:off x="130629" y="1825625"/>
            <a:ext cx="5780314" cy="4803775"/>
          </a:xfrm>
        </p:spPr>
      </p:pic>
      <p:sp>
        <p:nvSpPr>
          <p:cNvPr id="4" name="Content Placeholder 3">
            <a:extLst>
              <a:ext uri="{FF2B5EF4-FFF2-40B4-BE49-F238E27FC236}">
                <a16:creationId xmlns:a16="http://schemas.microsoft.com/office/drawing/2014/main" id="{A7A7CBBC-B576-84BA-E22F-B77ED83086A1}"/>
              </a:ext>
            </a:extLst>
          </p:cNvPr>
          <p:cNvSpPr>
            <a:spLocks noGrp="1"/>
          </p:cNvSpPr>
          <p:nvPr>
            <p:ph sz="half" idx="2"/>
          </p:nvPr>
        </p:nvSpPr>
        <p:spPr>
          <a:xfrm>
            <a:off x="6281059" y="1825625"/>
            <a:ext cx="5431969" cy="4803774"/>
          </a:xfrm>
        </p:spPr>
        <p:txBody>
          <a:bodyPr>
            <a:normAutofit/>
          </a:bodyPr>
          <a:lstStyle/>
          <a:p>
            <a:r>
              <a:rPr lang="en-US" sz="2400" dirty="0">
                <a:solidFill>
                  <a:srgbClr val="FFFF00"/>
                </a:solidFill>
                <a:latin typeface="Comic Sans MS" panose="030F0702030302020204" pitchFamily="66" charset="0"/>
              </a:rPr>
              <a:t>Lenovo </a:t>
            </a:r>
            <a:r>
              <a:rPr lang="en-US" sz="2400" dirty="0">
                <a:solidFill>
                  <a:srgbClr val="00B0F0"/>
                </a:solidFill>
                <a:latin typeface="Comic Sans MS" panose="030F0702030302020204" pitchFamily="66" charset="0"/>
              </a:rPr>
              <a:t>shows strong dominance across both </a:t>
            </a:r>
            <a:r>
              <a:rPr lang="en-US" sz="2400" dirty="0">
                <a:solidFill>
                  <a:srgbClr val="FFFF00"/>
                </a:solidFill>
                <a:latin typeface="Comic Sans MS" panose="030F0702030302020204" pitchFamily="66" charset="0"/>
              </a:rPr>
              <a:t>Full HD and Standard resolutions</a:t>
            </a:r>
            <a:r>
              <a:rPr lang="en-US" sz="2400" dirty="0">
                <a:solidFill>
                  <a:srgbClr val="00B0F0"/>
                </a:solidFill>
                <a:latin typeface="Comic Sans MS" panose="030F0702030302020204" pitchFamily="66" charset="0"/>
              </a:rPr>
              <a:t>, highlighting its broad product portfolio from budget to mid-range.</a:t>
            </a:r>
          </a:p>
          <a:p>
            <a:endParaRPr lang="en-US" sz="2400" dirty="0">
              <a:solidFill>
                <a:srgbClr val="00B0F0"/>
              </a:solidFill>
              <a:latin typeface="Comic Sans MS" panose="030F0702030302020204" pitchFamily="66" charset="0"/>
            </a:endParaRPr>
          </a:p>
          <a:p>
            <a:r>
              <a:rPr lang="en-US" sz="2400" dirty="0">
                <a:solidFill>
                  <a:srgbClr val="FFFF00"/>
                </a:solidFill>
                <a:latin typeface="Comic Sans MS" panose="030F0702030302020204" pitchFamily="66" charset="0"/>
              </a:rPr>
              <a:t>Dell is focusing more on high-resolution screens like 4K Ultra HD and Quad HD+, </a:t>
            </a:r>
            <a:r>
              <a:rPr lang="en-US" sz="2400" dirty="0">
                <a:solidFill>
                  <a:srgbClr val="00B0F0"/>
                </a:solidFill>
                <a:latin typeface="Comic Sans MS" panose="030F0702030302020204" pitchFamily="66" charset="0"/>
              </a:rPr>
              <a:t>indicating a push toward premium and professional markets.</a:t>
            </a:r>
            <a:endParaRPr lang="en-IN" sz="2400" dirty="0">
              <a:solidFill>
                <a:srgbClr val="00B0F0"/>
              </a:solidFill>
              <a:latin typeface="Comic Sans MS" panose="030F0702030302020204" pitchFamily="66" charset="0"/>
            </a:endParaRPr>
          </a:p>
        </p:txBody>
      </p:sp>
    </p:spTree>
    <p:extLst>
      <p:ext uri="{BB962C8B-B14F-4D97-AF65-F5344CB8AC3E}">
        <p14:creationId xmlns:p14="http://schemas.microsoft.com/office/powerpoint/2010/main" val="37734591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3F78C-BC49-E007-58C2-A4B197A080E5}"/>
              </a:ext>
            </a:extLst>
          </p:cNvPr>
          <p:cNvSpPr>
            <a:spLocks noGrp="1"/>
          </p:cNvSpPr>
          <p:nvPr>
            <p:ph type="title"/>
          </p:nvPr>
        </p:nvSpPr>
        <p:spPr>
          <a:xfrm>
            <a:off x="348343" y="76201"/>
            <a:ext cx="11419114" cy="1328056"/>
          </a:xfrm>
        </p:spPr>
        <p:txBody>
          <a:bodyPr/>
          <a:lstStyle/>
          <a:p>
            <a:r>
              <a:rPr lang="en-US" b="1" dirty="0">
                <a:solidFill>
                  <a:srgbClr val="00B050"/>
                </a:solidFill>
                <a:latin typeface="+mn-lt"/>
              </a:rPr>
              <a:t>16.1.Average Price of Laptops BY Screen Type:</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2518AA23-338A-5086-A4BD-4C3789A2A8F2}"/>
              </a:ext>
            </a:extLst>
          </p:cNvPr>
          <p:cNvPicPr>
            <a:picLocks noGrp="1" noChangeAspect="1"/>
          </p:cNvPicPr>
          <p:nvPr>
            <p:ph sz="half" idx="1"/>
          </p:nvPr>
        </p:nvPicPr>
        <p:blipFill>
          <a:blip r:embed="rId2"/>
          <a:stretch>
            <a:fillRect/>
          </a:stretch>
        </p:blipFill>
        <p:spPr>
          <a:xfrm>
            <a:off x="109538" y="1625375"/>
            <a:ext cx="6073548" cy="4786310"/>
          </a:xfrm>
        </p:spPr>
      </p:pic>
      <p:sp>
        <p:nvSpPr>
          <p:cNvPr id="4" name="Content Placeholder 3">
            <a:extLst>
              <a:ext uri="{FF2B5EF4-FFF2-40B4-BE49-F238E27FC236}">
                <a16:creationId xmlns:a16="http://schemas.microsoft.com/office/drawing/2014/main" id="{F8ACA576-CDEC-B679-D725-A535C0FD1464}"/>
              </a:ext>
            </a:extLst>
          </p:cNvPr>
          <p:cNvSpPr>
            <a:spLocks noGrp="1"/>
          </p:cNvSpPr>
          <p:nvPr>
            <p:ph sz="half" idx="2"/>
          </p:nvPr>
        </p:nvSpPr>
        <p:spPr>
          <a:xfrm>
            <a:off x="6651170" y="1625376"/>
            <a:ext cx="5236029" cy="4786310"/>
          </a:xfrm>
        </p:spPr>
        <p:txBody>
          <a:bodyPr>
            <a:normAutofit fontScale="77500" lnSpcReduction="20000"/>
          </a:bodyPr>
          <a:lstStyle/>
          <a:p>
            <a:r>
              <a:rPr lang="en-US" b="1" dirty="0">
                <a:solidFill>
                  <a:srgbClr val="FFFF00"/>
                </a:solidFill>
                <a:latin typeface="Comic Sans MS" panose="030F0702030302020204" pitchFamily="66" charset="0"/>
              </a:rPr>
              <a:t>4K Ultra HD</a:t>
            </a:r>
            <a:r>
              <a:rPr lang="en-US" dirty="0">
                <a:solidFill>
                  <a:srgbClr val="FFFF00"/>
                </a:solidFill>
                <a:latin typeface="Comic Sans MS" panose="030F0702030302020204" pitchFamily="66" charset="0"/>
              </a:rPr>
              <a:t>: </a:t>
            </a:r>
            <a:r>
              <a:rPr lang="en-US" dirty="0">
                <a:solidFill>
                  <a:srgbClr val="00B0F0"/>
                </a:solidFill>
                <a:latin typeface="Comic Sans MS" panose="030F0702030302020204" pitchFamily="66" charset="0"/>
              </a:rPr>
              <a:t>Highest average price ($2,424.76) — used in premium, professional-grade laptops.</a:t>
            </a:r>
          </a:p>
          <a:p>
            <a:endParaRPr lang="en-US" dirty="0">
              <a:solidFill>
                <a:srgbClr val="00B0F0"/>
              </a:solidFill>
              <a:latin typeface="Comic Sans MS" panose="030F0702030302020204" pitchFamily="66" charset="0"/>
            </a:endParaRPr>
          </a:p>
          <a:p>
            <a:r>
              <a:rPr lang="en-US" b="1" dirty="0">
                <a:solidFill>
                  <a:srgbClr val="FFFF00"/>
                </a:solidFill>
                <a:latin typeface="Comic Sans MS" panose="030F0702030302020204" pitchFamily="66" charset="0"/>
              </a:rPr>
              <a:t>Quad HD+</a:t>
            </a:r>
            <a:r>
              <a:rPr lang="en-US" dirty="0">
                <a:solidFill>
                  <a:srgbClr val="FFFF00"/>
                </a:solidFill>
                <a:latin typeface="Comic Sans MS" panose="030F0702030302020204" pitchFamily="66" charset="0"/>
              </a:rPr>
              <a:t>: </a:t>
            </a:r>
            <a:r>
              <a:rPr lang="en-US" dirty="0">
                <a:solidFill>
                  <a:srgbClr val="00B0F0"/>
                </a:solidFill>
                <a:latin typeface="Comic Sans MS" panose="030F0702030302020204" pitchFamily="66" charset="0"/>
              </a:rPr>
              <a:t>Mid-high range ($1,616.96) — offers sharp visuals at a slightly lower cost than 4K.</a:t>
            </a:r>
          </a:p>
          <a:p>
            <a:endParaRPr lang="en-US" dirty="0">
              <a:solidFill>
                <a:srgbClr val="00B0F0"/>
              </a:solidFill>
              <a:latin typeface="Comic Sans MS" panose="030F0702030302020204" pitchFamily="66" charset="0"/>
            </a:endParaRPr>
          </a:p>
          <a:p>
            <a:r>
              <a:rPr lang="en-US" b="1" dirty="0">
                <a:solidFill>
                  <a:srgbClr val="FFFF00"/>
                </a:solidFill>
                <a:latin typeface="Comic Sans MS" panose="030F0702030302020204" pitchFamily="66" charset="0"/>
              </a:rPr>
              <a:t>Full HD</a:t>
            </a:r>
            <a:r>
              <a:rPr lang="en-US" dirty="0">
                <a:solidFill>
                  <a:srgbClr val="FFFF00"/>
                </a:solidFill>
                <a:latin typeface="Comic Sans MS" panose="030F0702030302020204" pitchFamily="66" charset="0"/>
              </a:rPr>
              <a:t>: </a:t>
            </a:r>
            <a:r>
              <a:rPr lang="en-US" dirty="0">
                <a:solidFill>
                  <a:srgbClr val="00B0F0"/>
                </a:solidFill>
                <a:latin typeface="Comic Sans MS" panose="030F0702030302020204" pitchFamily="66" charset="0"/>
              </a:rPr>
              <a:t>Most common and balanced option ($1,231.20) — ideal for general users.</a:t>
            </a:r>
          </a:p>
          <a:p>
            <a:endParaRPr lang="en-US" dirty="0">
              <a:solidFill>
                <a:srgbClr val="00B0F0"/>
              </a:solidFill>
              <a:latin typeface="Comic Sans MS" panose="030F0702030302020204" pitchFamily="66" charset="0"/>
            </a:endParaRPr>
          </a:p>
          <a:p>
            <a:r>
              <a:rPr lang="en-US" b="1" dirty="0">
                <a:solidFill>
                  <a:srgbClr val="FFFF00"/>
                </a:solidFill>
                <a:latin typeface="Comic Sans MS" panose="030F0702030302020204" pitchFamily="66" charset="0"/>
              </a:rPr>
              <a:t>Standard</a:t>
            </a:r>
            <a:r>
              <a:rPr lang="en-US" dirty="0">
                <a:solidFill>
                  <a:srgbClr val="FFFF00"/>
                </a:solidFill>
                <a:latin typeface="Comic Sans MS" panose="030F0702030302020204" pitchFamily="66" charset="0"/>
              </a:rPr>
              <a:t>: </a:t>
            </a:r>
            <a:r>
              <a:rPr lang="en-US" dirty="0">
                <a:solidFill>
                  <a:srgbClr val="00B0F0"/>
                </a:solidFill>
                <a:latin typeface="Comic Sans MS" panose="030F0702030302020204" pitchFamily="66" charset="0"/>
              </a:rPr>
              <a:t>Lowest average price ($730.33) — found in budget or entry-level laptops.</a:t>
            </a:r>
          </a:p>
          <a:p>
            <a:endParaRPr lang="en-IN" dirty="0">
              <a:solidFill>
                <a:srgbClr val="00B0F0"/>
              </a:solidFill>
              <a:latin typeface="Comic Sans MS" panose="030F0702030302020204" pitchFamily="66" charset="0"/>
            </a:endParaRPr>
          </a:p>
        </p:txBody>
      </p:sp>
    </p:spTree>
    <p:extLst>
      <p:ext uri="{BB962C8B-B14F-4D97-AF65-F5344CB8AC3E}">
        <p14:creationId xmlns:p14="http://schemas.microsoft.com/office/powerpoint/2010/main" val="32770803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A61DA-7342-E824-033E-45903DAD4D81}"/>
              </a:ext>
            </a:extLst>
          </p:cNvPr>
          <p:cNvSpPr>
            <a:spLocks noGrp="1"/>
          </p:cNvSpPr>
          <p:nvPr>
            <p:ph type="title"/>
          </p:nvPr>
        </p:nvSpPr>
        <p:spPr>
          <a:xfrm>
            <a:off x="391886" y="174171"/>
            <a:ext cx="4354285" cy="868361"/>
          </a:xfrm>
        </p:spPr>
        <p:txBody>
          <a:bodyPr>
            <a:normAutofit/>
          </a:bodyPr>
          <a:lstStyle/>
          <a:p>
            <a:r>
              <a:rPr lang="en-US" b="1" dirty="0">
                <a:solidFill>
                  <a:srgbClr val="00B050"/>
                </a:solidFill>
                <a:latin typeface="+mn-lt"/>
              </a:rPr>
              <a:t>17 Screen Width</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7BF7DF86-A776-D089-F152-53C4B6BD084C}"/>
              </a:ext>
            </a:extLst>
          </p:cNvPr>
          <p:cNvPicPr>
            <a:picLocks noGrp="1" noChangeAspect="1"/>
          </p:cNvPicPr>
          <p:nvPr>
            <p:ph sz="half" idx="1"/>
          </p:nvPr>
        </p:nvPicPr>
        <p:blipFill>
          <a:blip r:embed="rId2"/>
          <a:stretch>
            <a:fillRect/>
          </a:stretch>
        </p:blipFill>
        <p:spPr>
          <a:xfrm>
            <a:off x="185057" y="1143000"/>
            <a:ext cx="6335486" cy="5540829"/>
          </a:xfrm>
        </p:spPr>
      </p:pic>
      <p:sp>
        <p:nvSpPr>
          <p:cNvPr id="4" name="Content Placeholder 3">
            <a:extLst>
              <a:ext uri="{FF2B5EF4-FFF2-40B4-BE49-F238E27FC236}">
                <a16:creationId xmlns:a16="http://schemas.microsoft.com/office/drawing/2014/main" id="{3436D24D-019B-5282-4B7D-64DD154759D1}"/>
              </a:ext>
            </a:extLst>
          </p:cNvPr>
          <p:cNvSpPr>
            <a:spLocks noGrp="1"/>
          </p:cNvSpPr>
          <p:nvPr>
            <p:ph sz="half" idx="2"/>
          </p:nvPr>
        </p:nvSpPr>
        <p:spPr>
          <a:xfrm>
            <a:off x="6705600" y="174171"/>
            <a:ext cx="5214256" cy="6509658"/>
          </a:xfrm>
        </p:spPr>
        <p:txBody>
          <a:bodyPr>
            <a:noAutofit/>
          </a:bodyPr>
          <a:lstStyle/>
          <a:p>
            <a:r>
              <a:rPr lang="en-US" sz="2000" dirty="0">
                <a:latin typeface="Comic Sans MS" panose="030F0702030302020204" pitchFamily="66" charset="0"/>
              </a:rPr>
              <a:t>Insight:</a:t>
            </a:r>
          </a:p>
          <a:p>
            <a:endParaRPr lang="en-US" sz="1600" dirty="0">
              <a:latin typeface="Comic Sans MS" panose="030F0702030302020204" pitchFamily="66" charset="0"/>
            </a:endParaRPr>
          </a:p>
          <a:p>
            <a:r>
              <a:rPr lang="en-US" sz="1600" dirty="0">
                <a:solidFill>
                  <a:srgbClr val="00B0F0"/>
                </a:solidFill>
                <a:latin typeface="Comic Sans MS" panose="030F0702030302020204" pitchFamily="66" charset="0"/>
              </a:rPr>
              <a:t>The data shows that laptop prices vary a lot based on screen width — from just a few hundred euros to over 6,000 euros.</a:t>
            </a:r>
          </a:p>
          <a:p>
            <a:endParaRPr lang="en-US" sz="1600" dirty="0">
              <a:solidFill>
                <a:srgbClr val="00B0F0"/>
              </a:solidFill>
              <a:latin typeface="Comic Sans MS" panose="030F0702030302020204" pitchFamily="66" charset="0"/>
            </a:endParaRPr>
          </a:p>
          <a:p>
            <a:r>
              <a:rPr lang="en-US" sz="1600" dirty="0">
                <a:solidFill>
                  <a:srgbClr val="00B0F0"/>
                </a:solidFill>
                <a:latin typeface="Comic Sans MS" panose="030F0702030302020204" pitchFamily="66" charset="0"/>
              </a:rPr>
              <a:t> In general, larger screen widths often cost more, but this isn't always true.</a:t>
            </a:r>
          </a:p>
          <a:p>
            <a:endParaRPr lang="en-US" sz="1600" dirty="0">
              <a:solidFill>
                <a:srgbClr val="00B0F0"/>
              </a:solidFill>
              <a:latin typeface="Comic Sans MS" panose="030F0702030302020204" pitchFamily="66" charset="0"/>
            </a:endParaRPr>
          </a:p>
          <a:p>
            <a:r>
              <a:rPr lang="en-US" sz="1600" dirty="0">
                <a:solidFill>
                  <a:srgbClr val="00B0F0"/>
                </a:solidFill>
                <a:latin typeface="Comic Sans MS" panose="030F0702030302020204" pitchFamily="66" charset="0"/>
              </a:rPr>
              <a:t>Some smaller screens are very expensive, and some larger ones are cheaper.</a:t>
            </a:r>
          </a:p>
          <a:p>
            <a:pPr marL="0" indent="0">
              <a:buNone/>
            </a:pPr>
            <a:r>
              <a:rPr lang="en-US" sz="1600" dirty="0">
                <a:solidFill>
                  <a:srgbClr val="00B0F0"/>
                </a:solidFill>
                <a:latin typeface="Comic Sans MS" panose="030F0702030302020204" pitchFamily="66" charset="0"/>
              </a:rPr>
              <a:t> This means that price doesn’t depend only on screen    size — other things like brand, features, and build quality also play a big role. Overall, the laptop market is very diverse, with a wide range of prices for all kinds of screen sizes.</a:t>
            </a:r>
          </a:p>
          <a:p>
            <a:pPr marL="0" indent="0">
              <a:buNone/>
            </a:pPr>
            <a:r>
              <a:rPr lang="en-US" sz="1600" dirty="0">
                <a:solidFill>
                  <a:srgbClr val="00B0F0"/>
                </a:solidFill>
                <a:latin typeface="Comic Sans MS" panose="030F0702030302020204" pitchFamily="66" charset="0"/>
              </a:rPr>
              <a:t>     </a:t>
            </a:r>
            <a:r>
              <a:rPr lang="en-US" sz="1600" dirty="0">
                <a:solidFill>
                  <a:srgbClr val="00B050"/>
                </a:solidFill>
                <a:latin typeface="Comic Sans MS" panose="030F0702030302020204" pitchFamily="66" charset="0"/>
              </a:rPr>
              <a:t>Other Insight:</a:t>
            </a:r>
          </a:p>
          <a:p>
            <a:r>
              <a:rPr lang="en-US" sz="1600" dirty="0">
                <a:solidFill>
                  <a:srgbClr val="FFFF00"/>
                </a:solidFill>
                <a:latin typeface="Comic Sans MS" panose="030F0702030302020204" pitchFamily="66" charset="0"/>
              </a:rPr>
              <a:t>Maximum number of Laptops(838) has the </a:t>
            </a:r>
            <a:r>
              <a:rPr lang="en-US" sz="1600" dirty="0" err="1">
                <a:solidFill>
                  <a:srgbClr val="FFFF00"/>
                </a:solidFill>
                <a:latin typeface="Comic Sans MS" panose="030F0702030302020204" pitchFamily="66" charset="0"/>
              </a:rPr>
              <a:t>ScreenW</a:t>
            </a:r>
            <a:r>
              <a:rPr lang="en-US" sz="1600" dirty="0">
                <a:solidFill>
                  <a:srgbClr val="FFFF00"/>
                </a:solidFill>
                <a:latin typeface="Comic Sans MS" panose="030F0702030302020204" pitchFamily="66" charset="0"/>
              </a:rPr>
              <a:t> (1920)</a:t>
            </a:r>
          </a:p>
          <a:p>
            <a:r>
              <a:rPr lang="en-US" sz="1600" dirty="0">
                <a:solidFill>
                  <a:srgbClr val="FFFF00"/>
                </a:solidFill>
                <a:latin typeface="Comic Sans MS" panose="030F0702030302020204" pitchFamily="66" charset="0"/>
              </a:rPr>
              <a:t>Laptops with the Screen W (2880) has the highest </a:t>
            </a:r>
            <a:r>
              <a:rPr lang="en-US" sz="1600" dirty="0" err="1">
                <a:solidFill>
                  <a:srgbClr val="FFFF00"/>
                </a:solidFill>
                <a:latin typeface="Comic Sans MS" panose="030F0702030302020204" pitchFamily="66" charset="0"/>
              </a:rPr>
              <a:t>Average_Price</a:t>
            </a:r>
            <a:r>
              <a:rPr lang="en-US" sz="1600" dirty="0">
                <a:solidFill>
                  <a:srgbClr val="FFFF00"/>
                </a:solidFill>
                <a:latin typeface="Comic Sans MS" panose="030F0702030302020204" pitchFamily="66" charset="0"/>
              </a:rPr>
              <a:t>(2493.84)</a:t>
            </a:r>
            <a:endParaRPr lang="en-IN" sz="1600" dirty="0">
              <a:solidFill>
                <a:srgbClr val="FFFF00"/>
              </a:solidFill>
              <a:latin typeface="Comic Sans MS" panose="030F0702030302020204" pitchFamily="66" charset="0"/>
            </a:endParaRPr>
          </a:p>
        </p:txBody>
      </p:sp>
    </p:spTree>
    <p:extLst>
      <p:ext uri="{BB962C8B-B14F-4D97-AF65-F5344CB8AC3E}">
        <p14:creationId xmlns:p14="http://schemas.microsoft.com/office/powerpoint/2010/main" val="3999780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F7150-8B58-BA0A-991F-282A31685C2E}"/>
              </a:ext>
            </a:extLst>
          </p:cNvPr>
          <p:cNvSpPr>
            <a:spLocks noGrp="1"/>
          </p:cNvSpPr>
          <p:nvPr>
            <p:ph type="title"/>
          </p:nvPr>
        </p:nvSpPr>
        <p:spPr>
          <a:xfrm>
            <a:off x="261257" y="174172"/>
            <a:ext cx="11092543" cy="914400"/>
          </a:xfrm>
        </p:spPr>
        <p:txBody>
          <a:bodyPr/>
          <a:lstStyle/>
          <a:p>
            <a:r>
              <a:rPr lang="en-US" b="1" dirty="0">
                <a:solidFill>
                  <a:srgbClr val="00B050"/>
                </a:solidFill>
                <a:latin typeface="+mn-lt"/>
              </a:rPr>
              <a:t>17.ScreenH</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4429BB2E-04B2-44C7-2094-7DA5DB64ACB2}"/>
              </a:ext>
            </a:extLst>
          </p:cNvPr>
          <p:cNvPicPr>
            <a:picLocks noGrp="1" noChangeAspect="1"/>
          </p:cNvPicPr>
          <p:nvPr>
            <p:ph sz="half" idx="1"/>
          </p:nvPr>
        </p:nvPicPr>
        <p:blipFill>
          <a:blip r:embed="rId2"/>
          <a:stretch>
            <a:fillRect/>
          </a:stretch>
        </p:blipFill>
        <p:spPr>
          <a:xfrm>
            <a:off x="97970" y="1186543"/>
            <a:ext cx="6466115" cy="5497285"/>
          </a:xfrm>
        </p:spPr>
      </p:pic>
      <p:sp>
        <p:nvSpPr>
          <p:cNvPr id="4" name="Content Placeholder 3">
            <a:extLst>
              <a:ext uri="{FF2B5EF4-FFF2-40B4-BE49-F238E27FC236}">
                <a16:creationId xmlns:a16="http://schemas.microsoft.com/office/drawing/2014/main" id="{A850BDD5-0F23-DD73-C050-D4D96808D7D1}"/>
              </a:ext>
            </a:extLst>
          </p:cNvPr>
          <p:cNvSpPr>
            <a:spLocks noGrp="1"/>
          </p:cNvSpPr>
          <p:nvPr>
            <p:ph sz="half" idx="2"/>
          </p:nvPr>
        </p:nvSpPr>
        <p:spPr>
          <a:xfrm>
            <a:off x="6760029" y="174172"/>
            <a:ext cx="5334000" cy="6509656"/>
          </a:xfrm>
        </p:spPr>
        <p:txBody>
          <a:bodyPr>
            <a:normAutofit fontScale="92500" lnSpcReduction="10000"/>
          </a:bodyPr>
          <a:lstStyle/>
          <a:p>
            <a:r>
              <a:rPr lang="en-US" sz="3200" b="1" dirty="0">
                <a:solidFill>
                  <a:srgbClr val="00B050"/>
                </a:solidFill>
              </a:rPr>
              <a:t>Insight:</a:t>
            </a:r>
          </a:p>
          <a:p>
            <a:endParaRPr lang="en-US" sz="2000" dirty="0"/>
          </a:p>
          <a:p>
            <a:r>
              <a:rPr lang="en-US" sz="2000" dirty="0">
                <a:solidFill>
                  <a:srgbClr val="00B0F0"/>
                </a:solidFill>
                <a:latin typeface="Comic Sans MS" panose="030F0702030302020204" pitchFamily="66" charset="0"/>
              </a:rPr>
              <a:t>The scatter plot shows that while laptops with higher screen heights often cost more, the relationship isn't consistent.</a:t>
            </a:r>
          </a:p>
          <a:p>
            <a:r>
              <a:rPr lang="en-US" sz="2000" dirty="0">
                <a:solidFill>
                  <a:srgbClr val="00B0F0"/>
                </a:solidFill>
                <a:latin typeface="Comic Sans MS" panose="030F0702030302020204" pitchFamily="66" charset="0"/>
              </a:rPr>
              <a:t>Prices vary widely—even among laptops with similar screen heights—indicating that factors like brand, features,</a:t>
            </a:r>
          </a:p>
          <a:p>
            <a:r>
              <a:rPr lang="en-US" sz="2000" dirty="0">
                <a:solidFill>
                  <a:srgbClr val="00B0F0"/>
                </a:solidFill>
                <a:latin typeface="Comic Sans MS" panose="030F0702030302020204" pitchFamily="66" charset="0"/>
              </a:rPr>
              <a:t>and performance also play a major role. Overall, the market is diverse, and screen height alone doesn't determine price</a:t>
            </a:r>
          </a:p>
          <a:p>
            <a:endParaRPr lang="en-US" sz="2000" dirty="0"/>
          </a:p>
          <a:p>
            <a:r>
              <a:rPr lang="en-US" b="1" dirty="0">
                <a:solidFill>
                  <a:srgbClr val="00B050"/>
                </a:solidFill>
              </a:rPr>
              <a:t>Other Insight:</a:t>
            </a:r>
          </a:p>
          <a:p>
            <a:endParaRPr lang="en-US" sz="2000" dirty="0"/>
          </a:p>
          <a:p>
            <a:r>
              <a:rPr lang="en-US" sz="2000" dirty="0">
                <a:solidFill>
                  <a:srgbClr val="FFFF00"/>
                </a:solidFill>
                <a:latin typeface="Comic Sans MS" panose="030F0702030302020204" pitchFamily="66" charset="0"/>
              </a:rPr>
              <a:t>Maximum number of Laptops(833) has </a:t>
            </a:r>
            <a:r>
              <a:rPr lang="en-US" sz="2000" dirty="0" err="1">
                <a:solidFill>
                  <a:srgbClr val="FFFF00"/>
                </a:solidFill>
                <a:latin typeface="Comic Sans MS" panose="030F0702030302020204" pitchFamily="66" charset="0"/>
              </a:rPr>
              <a:t>ScreenH</a:t>
            </a:r>
            <a:r>
              <a:rPr lang="en-US" sz="2000" dirty="0">
                <a:solidFill>
                  <a:srgbClr val="FFFF00"/>
                </a:solidFill>
                <a:latin typeface="Comic Sans MS" panose="030F0702030302020204" pitchFamily="66" charset="0"/>
              </a:rPr>
              <a:t>(1080)</a:t>
            </a:r>
          </a:p>
          <a:p>
            <a:endParaRPr lang="en-US" sz="2000" dirty="0">
              <a:solidFill>
                <a:srgbClr val="FFFF00"/>
              </a:solidFill>
              <a:latin typeface="Comic Sans MS" panose="030F0702030302020204" pitchFamily="66" charset="0"/>
            </a:endParaRPr>
          </a:p>
          <a:p>
            <a:r>
              <a:rPr lang="en-US" sz="2000" dirty="0">
                <a:solidFill>
                  <a:srgbClr val="FFFF00"/>
                </a:solidFill>
                <a:latin typeface="Comic Sans MS" panose="030F0702030302020204" pitchFamily="66" charset="0"/>
              </a:rPr>
              <a:t>Laptops with the </a:t>
            </a:r>
            <a:r>
              <a:rPr lang="en-US" sz="2000" dirty="0" err="1">
                <a:solidFill>
                  <a:srgbClr val="FFFF00"/>
                </a:solidFill>
                <a:latin typeface="Comic Sans MS" panose="030F0702030302020204" pitchFamily="66" charset="0"/>
              </a:rPr>
              <a:t>ScreenH</a:t>
            </a:r>
            <a:r>
              <a:rPr lang="en-US" sz="2000" dirty="0">
                <a:solidFill>
                  <a:srgbClr val="FFFF00"/>
                </a:solidFill>
                <a:latin typeface="Comic Sans MS" panose="030F0702030302020204" pitchFamily="66" charset="0"/>
              </a:rPr>
              <a:t>(2160) has the highest </a:t>
            </a:r>
            <a:r>
              <a:rPr lang="en-US" sz="2000" dirty="0" err="1">
                <a:solidFill>
                  <a:srgbClr val="FFFF00"/>
                </a:solidFill>
                <a:latin typeface="Comic Sans MS" panose="030F0702030302020204" pitchFamily="66" charset="0"/>
              </a:rPr>
              <a:t>mean_price</a:t>
            </a:r>
            <a:r>
              <a:rPr lang="en-US" sz="2000" dirty="0">
                <a:solidFill>
                  <a:srgbClr val="FFFF00"/>
                </a:solidFill>
                <a:latin typeface="Comic Sans MS" panose="030F0702030302020204" pitchFamily="66" charset="0"/>
              </a:rPr>
              <a:t>(2424.76)</a:t>
            </a:r>
          </a:p>
          <a:p>
            <a:endParaRPr lang="en-US" sz="2000" dirty="0">
              <a:solidFill>
                <a:srgbClr val="00B0F0"/>
              </a:solidFill>
            </a:endParaRPr>
          </a:p>
          <a:p>
            <a:endParaRPr lang="en-IN" sz="2000" dirty="0"/>
          </a:p>
        </p:txBody>
      </p:sp>
    </p:spTree>
    <p:extLst>
      <p:ext uri="{BB962C8B-B14F-4D97-AF65-F5344CB8AC3E}">
        <p14:creationId xmlns:p14="http://schemas.microsoft.com/office/powerpoint/2010/main" val="23363472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5A939-720E-464D-795D-4FEB5A832D77}"/>
              </a:ext>
            </a:extLst>
          </p:cNvPr>
          <p:cNvSpPr>
            <a:spLocks noGrp="1"/>
          </p:cNvSpPr>
          <p:nvPr>
            <p:ph type="title"/>
          </p:nvPr>
        </p:nvSpPr>
        <p:spPr>
          <a:xfrm>
            <a:off x="250371" y="206829"/>
            <a:ext cx="11527972" cy="642257"/>
          </a:xfrm>
        </p:spPr>
        <p:txBody>
          <a:bodyPr>
            <a:normAutofit/>
          </a:bodyPr>
          <a:lstStyle/>
          <a:p>
            <a:r>
              <a:rPr lang="en-US" sz="4000" b="1" dirty="0">
                <a:solidFill>
                  <a:srgbClr val="00B050"/>
                </a:solidFill>
                <a:latin typeface="+mn-lt"/>
              </a:rPr>
              <a:t>18. Type Screen , IPS PANEL , Retina Display:</a:t>
            </a:r>
            <a:endParaRPr lang="en-IN" sz="4000" b="1" dirty="0">
              <a:solidFill>
                <a:srgbClr val="00B050"/>
              </a:solidFill>
              <a:latin typeface="+mn-lt"/>
            </a:endParaRPr>
          </a:p>
        </p:txBody>
      </p:sp>
      <p:sp>
        <p:nvSpPr>
          <p:cNvPr id="3" name="Content Placeholder 2">
            <a:extLst>
              <a:ext uri="{FF2B5EF4-FFF2-40B4-BE49-F238E27FC236}">
                <a16:creationId xmlns:a16="http://schemas.microsoft.com/office/drawing/2014/main" id="{AC9D19D4-7986-116E-742D-2FD6DC5599D5}"/>
              </a:ext>
            </a:extLst>
          </p:cNvPr>
          <p:cNvSpPr>
            <a:spLocks noGrp="1"/>
          </p:cNvSpPr>
          <p:nvPr>
            <p:ph idx="1"/>
          </p:nvPr>
        </p:nvSpPr>
        <p:spPr>
          <a:xfrm>
            <a:off x="97971" y="1164771"/>
            <a:ext cx="11985172" cy="5562600"/>
          </a:xfrm>
        </p:spPr>
        <p:txBody>
          <a:bodyPr>
            <a:normAutofit lnSpcReduction="10000"/>
          </a:bodyPr>
          <a:lstStyle/>
          <a:p>
            <a:r>
              <a:rPr lang="en-US" dirty="0">
                <a:solidFill>
                  <a:srgbClr val="FFFF00"/>
                </a:solidFill>
                <a:latin typeface="Comic Sans MS" panose="030F0702030302020204" pitchFamily="66" charset="0"/>
              </a:rPr>
              <a:t>1. All laptops in out dataset are Touch Screen.</a:t>
            </a:r>
          </a:p>
          <a:p>
            <a:endParaRPr lang="en-US" dirty="0">
              <a:latin typeface="Comic Sans MS" panose="030F0702030302020204" pitchFamily="66" charset="0"/>
            </a:endParaRPr>
          </a:p>
          <a:p>
            <a:r>
              <a:rPr lang="en-US" dirty="0">
                <a:solidFill>
                  <a:schemeClr val="accent2">
                    <a:lumMod val="75000"/>
                  </a:schemeClr>
                </a:solidFill>
                <a:latin typeface="Comic Sans MS" panose="030F0702030302020204" pitchFamily="66" charset="0"/>
              </a:rPr>
              <a:t>2. IPS stands for In-Plane Switching — it's a type of LCD display technology used in many laptop screens.</a:t>
            </a:r>
          </a:p>
          <a:p>
            <a:endParaRPr lang="en-US" dirty="0">
              <a:solidFill>
                <a:schemeClr val="accent2">
                  <a:lumMod val="75000"/>
                </a:schemeClr>
              </a:solidFill>
              <a:latin typeface="Comic Sans MS" panose="030F0702030302020204" pitchFamily="66" charset="0"/>
            </a:endParaRPr>
          </a:p>
          <a:p>
            <a:r>
              <a:rPr lang="en-US" dirty="0">
                <a:solidFill>
                  <a:schemeClr val="accent2">
                    <a:lumMod val="75000"/>
                  </a:schemeClr>
                </a:solidFill>
                <a:latin typeface="Comic Sans MS" panose="030F0702030302020204" pitchFamily="66" charset="0"/>
              </a:rPr>
              <a:t>In our dataset all laptops contains the IPS panel technology.</a:t>
            </a:r>
          </a:p>
          <a:p>
            <a:endParaRPr lang="en-US" dirty="0">
              <a:solidFill>
                <a:schemeClr val="accent2">
                  <a:lumMod val="75000"/>
                </a:schemeClr>
              </a:solidFill>
              <a:latin typeface="Comic Sans MS" panose="030F0702030302020204" pitchFamily="66" charset="0"/>
            </a:endParaRPr>
          </a:p>
          <a:p>
            <a:r>
              <a:rPr lang="en-US" dirty="0">
                <a:solidFill>
                  <a:srgbClr val="00B0F0"/>
                </a:solidFill>
                <a:latin typeface="Comic Sans MS" panose="030F0702030302020204" pitchFamily="66" charset="0"/>
              </a:rPr>
              <a:t>3. Retina Display is a marketing term by Apple for screens that have such a high pixel density that the human eye cannot see individual pixels at a normal viewing distance.</a:t>
            </a:r>
          </a:p>
          <a:p>
            <a:endParaRPr lang="en-US" dirty="0">
              <a:solidFill>
                <a:srgbClr val="00B0F0"/>
              </a:solidFill>
              <a:latin typeface="Comic Sans MS" panose="030F0702030302020204" pitchFamily="66" charset="0"/>
            </a:endParaRPr>
          </a:p>
          <a:p>
            <a:r>
              <a:rPr lang="en-US" dirty="0">
                <a:solidFill>
                  <a:srgbClr val="00B0F0"/>
                </a:solidFill>
                <a:latin typeface="Comic Sans MS" panose="030F0702030302020204" pitchFamily="66" charset="0"/>
              </a:rPr>
              <a:t>In Our Dataset all laptops have the Retina Display.</a:t>
            </a:r>
          </a:p>
          <a:p>
            <a:endParaRPr lang="en-US" dirty="0">
              <a:solidFill>
                <a:srgbClr val="00B0F0"/>
              </a:solidFill>
            </a:endParaRPr>
          </a:p>
          <a:p>
            <a:endParaRPr lang="en-IN" dirty="0"/>
          </a:p>
        </p:txBody>
      </p:sp>
    </p:spTree>
    <p:extLst>
      <p:ext uri="{BB962C8B-B14F-4D97-AF65-F5344CB8AC3E}">
        <p14:creationId xmlns:p14="http://schemas.microsoft.com/office/powerpoint/2010/main" val="40143128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6E2DA-8D62-B8B6-4892-D3DA0F48958F}"/>
              </a:ext>
            </a:extLst>
          </p:cNvPr>
          <p:cNvSpPr>
            <a:spLocks noGrp="1"/>
          </p:cNvSpPr>
          <p:nvPr>
            <p:ph type="title"/>
          </p:nvPr>
        </p:nvSpPr>
        <p:spPr>
          <a:xfrm>
            <a:off x="413657" y="119744"/>
            <a:ext cx="11419114" cy="816428"/>
          </a:xfrm>
        </p:spPr>
        <p:txBody>
          <a:bodyPr/>
          <a:lstStyle/>
          <a:p>
            <a:r>
              <a:rPr lang="en-US" b="1" dirty="0">
                <a:solidFill>
                  <a:srgbClr val="00B050"/>
                </a:solidFill>
                <a:latin typeface="+mn-lt"/>
              </a:rPr>
              <a:t>21. CPU Company</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0A9386B7-1474-79DF-2245-9F73FB14B1F0}"/>
              </a:ext>
            </a:extLst>
          </p:cNvPr>
          <p:cNvPicPr>
            <a:picLocks noGrp="1" noChangeAspect="1"/>
          </p:cNvPicPr>
          <p:nvPr>
            <p:ph sz="half" idx="1"/>
          </p:nvPr>
        </p:nvPicPr>
        <p:blipFill>
          <a:blip r:embed="rId2"/>
          <a:stretch>
            <a:fillRect/>
          </a:stretch>
        </p:blipFill>
        <p:spPr>
          <a:xfrm>
            <a:off x="255292" y="1553060"/>
            <a:ext cx="5840708" cy="4945711"/>
          </a:xfrm>
        </p:spPr>
      </p:pic>
      <p:sp>
        <p:nvSpPr>
          <p:cNvPr id="4" name="Content Placeholder 3">
            <a:extLst>
              <a:ext uri="{FF2B5EF4-FFF2-40B4-BE49-F238E27FC236}">
                <a16:creationId xmlns:a16="http://schemas.microsoft.com/office/drawing/2014/main" id="{9D627755-1F7F-A803-974D-FD2D65F79387}"/>
              </a:ext>
            </a:extLst>
          </p:cNvPr>
          <p:cNvSpPr>
            <a:spLocks noGrp="1"/>
          </p:cNvSpPr>
          <p:nvPr>
            <p:ph sz="half" idx="2"/>
          </p:nvPr>
        </p:nvSpPr>
        <p:spPr>
          <a:xfrm>
            <a:off x="6379029" y="587829"/>
            <a:ext cx="5606141" cy="5910942"/>
          </a:xfrm>
        </p:spPr>
        <p:txBody>
          <a:bodyPr/>
          <a:lstStyle/>
          <a:p>
            <a:r>
              <a:rPr lang="en-US" sz="4000" b="1" dirty="0">
                <a:solidFill>
                  <a:srgbClr val="00B050"/>
                </a:solidFill>
              </a:rPr>
              <a:t>Insight:</a:t>
            </a:r>
          </a:p>
          <a:p>
            <a:endParaRPr lang="en-US" dirty="0"/>
          </a:p>
          <a:p>
            <a:r>
              <a:rPr lang="en-US" dirty="0">
                <a:solidFill>
                  <a:srgbClr val="FFFF00"/>
                </a:solidFill>
                <a:latin typeface="Comic Sans MS" panose="030F0702030302020204" pitchFamily="66" charset="0"/>
              </a:rPr>
              <a:t>Intel dominates the market, accounting for 95.2% </a:t>
            </a:r>
            <a:r>
              <a:rPr lang="en-US" dirty="0">
                <a:solidFill>
                  <a:srgbClr val="00B0F0"/>
                </a:solidFill>
                <a:latin typeface="Comic Sans MS" panose="030F0702030302020204" pitchFamily="66" charset="0"/>
              </a:rPr>
              <a:t>of laptops with CPU companies.</a:t>
            </a:r>
          </a:p>
          <a:p>
            <a:endParaRPr lang="en-US" dirty="0">
              <a:solidFill>
                <a:srgbClr val="00B0F0"/>
              </a:solidFill>
              <a:latin typeface="Comic Sans MS" panose="030F0702030302020204" pitchFamily="66" charset="0"/>
            </a:endParaRPr>
          </a:p>
          <a:p>
            <a:r>
              <a:rPr lang="en-US" dirty="0">
                <a:solidFill>
                  <a:srgbClr val="00B0F0"/>
                </a:solidFill>
                <a:latin typeface="Comic Sans MS" panose="030F0702030302020204" pitchFamily="66" charset="0"/>
              </a:rPr>
              <a:t>AMD has a small presence, making up 4.7% of the market.   </a:t>
            </a:r>
          </a:p>
          <a:p>
            <a:endParaRPr lang="en-US" dirty="0">
              <a:solidFill>
                <a:srgbClr val="00B0F0"/>
              </a:solidFill>
              <a:latin typeface="Comic Sans MS" panose="030F0702030302020204" pitchFamily="66" charset="0"/>
            </a:endParaRPr>
          </a:p>
          <a:p>
            <a:r>
              <a:rPr lang="en-US" dirty="0">
                <a:solidFill>
                  <a:srgbClr val="00B0F0"/>
                </a:solidFill>
                <a:latin typeface="Comic Sans MS" panose="030F0702030302020204" pitchFamily="66" charset="0"/>
              </a:rPr>
              <a:t> Samsung has a minimal share, representing only 0.1%.</a:t>
            </a:r>
            <a:endParaRPr lang="en-IN" dirty="0">
              <a:solidFill>
                <a:srgbClr val="00B0F0"/>
              </a:solidFill>
              <a:latin typeface="Comic Sans MS" panose="030F0702030302020204" pitchFamily="66" charset="0"/>
            </a:endParaRPr>
          </a:p>
        </p:txBody>
      </p:sp>
    </p:spTree>
    <p:extLst>
      <p:ext uri="{BB962C8B-B14F-4D97-AF65-F5344CB8AC3E}">
        <p14:creationId xmlns:p14="http://schemas.microsoft.com/office/powerpoint/2010/main" val="36816918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F7F6A-6EAA-7E08-BEF6-2D7FAD7148F7}"/>
              </a:ext>
            </a:extLst>
          </p:cNvPr>
          <p:cNvSpPr>
            <a:spLocks noGrp="1"/>
          </p:cNvSpPr>
          <p:nvPr>
            <p:ph type="title"/>
          </p:nvPr>
        </p:nvSpPr>
        <p:spPr>
          <a:xfrm>
            <a:off x="391886" y="365126"/>
            <a:ext cx="10961914" cy="788760"/>
          </a:xfrm>
        </p:spPr>
        <p:txBody>
          <a:bodyPr/>
          <a:lstStyle/>
          <a:p>
            <a:r>
              <a:rPr lang="en-US" b="1" dirty="0">
                <a:solidFill>
                  <a:srgbClr val="00B050"/>
                </a:solidFill>
                <a:latin typeface="+mn-lt"/>
              </a:rPr>
              <a:t>21.1 Average Price By CPU company:</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A5C7AFCE-AF11-F039-DEFF-AD9CE1BE1F9D}"/>
              </a:ext>
            </a:extLst>
          </p:cNvPr>
          <p:cNvPicPr>
            <a:picLocks noGrp="1" noChangeAspect="1"/>
          </p:cNvPicPr>
          <p:nvPr>
            <p:ph sz="half" idx="1"/>
          </p:nvPr>
        </p:nvPicPr>
        <p:blipFill>
          <a:blip r:embed="rId2"/>
          <a:stretch>
            <a:fillRect/>
          </a:stretch>
        </p:blipFill>
        <p:spPr>
          <a:xfrm>
            <a:off x="152399" y="1447800"/>
            <a:ext cx="6879772" cy="5181600"/>
          </a:xfrm>
        </p:spPr>
      </p:pic>
      <p:sp>
        <p:nvSpPr>
          <p:cNvPr id="4" name="Content Placeholder 3">
            <a:extLst>
              <a:ext uri="{FF2B5EF4-FFF2-40B4-BE49-F238E27FC236}">
                <a16:creationId xmlns:a16="http://schemas.microsoft.com/office/drawing/2014/main" id="{9FDDA687-887C-DE14-9CDD-8E60537D6FD1}"/>
              </a:ext>
            </a:extLst>
          </p:cNvPr>
          <p:cNvSpPr>
            <a:spLocks noGrp="1"/>
          </p:cNvSpPr>
          <p:nvPr>
            <p:ph sz="half" idx="2"/>
          </p:nvPr>
        </p:nvSpPr>
        <p:spPr>
          <a:xfrm>
            <a:off x="7141029" y="1447800"/>
            <a:ext cx="4822370" cy="5045074"/>
          </a:xfrm>
        </p:spPr>
        <p:txBody>
          <a:bodyPr>
            <a:normAutofit fontScale="77500" lnSpcReduction="20000"/>
          </a:bodyPr>
          <a:lstStyle/>
          <a:p>
            <a:r>
              <a:rPr lang="en-US" sz="4100" b="1" dirty="0">
                <a:solidFill>
                  <a:srgbClr val="00B050"/>
                </a:solidFill>
              </a:rPr>
              <a:t>Insight</a:t>
            </a:r>
          </a:p>
          <a:p>
            <a:endParaRPr lang="en-US" dirty="0"/>
          </a:p>
          <a:p>
            <a:r>
              <a:rPr lang="en-US" b="1" dirty="0">
                <a:solidFill>
                  <a:srgbClr val="FFFF00"/>
                </a:solidFill>
                <a:latin typeface="Comic Sans MS" panose="030F0702030302020204" pitchFamily="66" charset="0"/>
              </a:rPr>
              <a:t>Intel-based laptops</a:t>
            </a:r>
            <a:r>
              <a:rPr lang="en-US" dirty="0">
                <a:solidFill>
                  <a:srgbClr val="FFFF00"/>
                </a:solidFill>
                <a:latin typeface="Comic Sans MS" panose="030F0702030302020204" pitchFamily="66" charset="0"/>
              </a:rPr>
              <a:t> have the </a:t>
            </a:r>
            <a:r>
              <a:rPr lang="en-US" b="1" dirty="0">
                <a:solidFill>
                  <a:srgbClr val="FFFF00"/>
                </a:solidFill>
                <a:latin typeface="Comic Sans MS" panose="030F0702030302020204" pitchFamily="66" charset="0"/>
              </a:rPr>
              <a:t>highest average price</a:t>
            </a:r>
            <a:r>
              <a:rPr lang="en-US" dirty="0">
                <a:solidFill>
                  <a:srgbClr val="FFFF00"/>
                </a:solidFill>
                <a:latin typeface="Comic Sans MS" panose="030F0702030302020204" pitchFamily="66" charset="0"/>
              </a:rPr>
              <a:t> (€1163.73</a:t>
            </a:r>
            <a:r>
              <a:rPr lang="en-US" dirty="0">
                <a:solidFill>
                  <a:srgbClr val="00B0F0"/>
                </a:solidFill>
                <a:latin typeface="Comic Sans MS" panose="030F0702030302020204" pitchFamily="66" charset="0"/>
              </a:rPr>
              <a:t>), indicating their dominance in mid-to-high-end and performance-focused devices.</a:t>
            </a:r>
          </a:p>
          <a:p>
            <a:endParaRPr lang="en-US" dirty="0">
              <a:solidFill>
                <a:srgbClr val="00B0F0"/>
              </a:solidFill>
              <a:latin typeface="Comic Sans MS" panose="030F0702030302020204" pitchFamily="66" charset="0"/>
            </a:endParaRPr>
          </a:p>
          <a:p>
            <a:r>
              <a:rPr lang="en-US" b="1" dirty="0">
                <a:solidFill>
                  <a:srgbClr val="FFFF00"/>
                </a:solidFill>
                <a:latin typeface="Comic Sans MS" panose="030F0702030302020204" pitchFamily="66" charset="0"/>
              </a:rPr>
              <a:t>Samsung CPU laptops</a:t>
            </a:r>
            <a:r>
              <a:rPr lang="en-US" dirty="0">
                <a:solidFill>
                  <a:srgbClr val="FFFF00"/>
                </a:solidFill>
                <a:latin typeface="Comic Sans MS" panose="030F0702030302020204" pitchFamily="66" charset="0"/>
              </a:rPr>
              <a:t> are </a:t>
            </a:r>
            <a:r>
              <a:rPr lang="en-US" b="1" dirty="0">
                <a:solidFill>
                  <a:srgbClr val="FFFF00"/>
                </a:solidFill>
                <a:latin typeface="Comic Sans MS" panose="030F0702030302020204" pitchFamily="66" charset="0"/>
              </a:rPr>
              <a:t>moderately priced</a:t>
            </a:r>
            <a:r>
              <a:rPr lang="en-US" dirty="0">
                <a:solidFill>
                  <a:srgbClr val="FFFF00"/>
                </a:solidFill>
                <a:latin typeface="Comic Sans MS" panose="030F0702030302020204" pitchFamily="66" charset="0"/>
              </a:rPr>
              <a:t> (€659), </a:t>
            </a:r>
            <a:r>
              <a:rPr lang="en-US" dirty="0">
                <a:solidFill>
                  <a:srgbClr val="00B0F0"/>
                </a:solidFill>
                <a:latin typeface="Comic Sans MS" panose="030F0702030302020204" pitchFamily="66" charset="0"/>
              </a:rPr>
              <a:t>likely used in niche or compact devices.</a:t>
            </a:r>
          </a:p>
          <a:p>
            <a:endParaRPr lang="en-US" dirty="0">
              <a:solidFill>
                <a:srgbClr val="00B0F0"/>
              </a:solidFill>
              <a:latin typeface="Comic Sans MS" panose="030F0702030302020204" pitchFamily="66" charset="0"/>
            </a:endParaRPr>
          </a:p>
          <a:p>
            <a:r>
              <a:rPr lang="en-US" b="1" dirty="0">
                <a:solidFill>
                  <a:srgbClr val="FFFF00"/>
                </a:solidFill>
                <a:latin typeface="Comic Sans MS" panose="030F0702030302020204" pitchFamily="66" charset="0"/>
              </a:rPr>
              <a:t>AMD-based laptops</a:t>
            </a:r>
            <a:r>
              <a:rPr lang="en-US" dirty="0">
                <a:solidFill>
                  <a:srgbClr val="FFFF00"/>
                </a:solidFill>
                <a:latin typeface="Comic Sans MS" panose="030F0702030302020204" pitchFamily="66" charset="0"/>
              </a:rPr>
              <a:t> have the </a:t>
            </a:r>
            <a:r>
              <a:rPr lang="en-US" b="1" dirty="0">
                <a:solidFill>
                  <a:srgbClr val="FFFF00"/>
                </a:solidFill>
                <a:latin typeface="Comic Sans MS" panose="030F0702030302020204" pitchFamily="66" charset="0"/>
              </a:rPr>
              <a:t>lowest average price</a:t>
            </a:r>
            <a:r>
              <a:rPr lang="en-US" dirty="0">
                <a:solidFill>
                  <a:srgbClr val="FFFF00"/>
                </a:solidFill>
                <a:latin typeface="Comic Sans MS" panose="030F0702030302020204" pitchFamily="66" charset="0"/>
              </a:rPr>
              <a:t> (€560.99), </a:t>
            </a:r>
            <a:r>
              <a:rPr lang="en-US" dirty="0">
                <a:solidFill>
                  <a:srgbClr val="00B0F0"/>
                </a:solidFill>
                <a:latin typeface="Comic Sans MS" panose="030F0702030302020204" pitchFamily="66" charset="0"/>
              </a:rPr>
              <a:t>reflecting their popularity in </a:t>
            </a:r>
            <a:r>
              <a:rPr lang="en-US" b="1" dirty="0">
                <a:solidFill>
                  <a:srgbClr val="00B0F0"/>
                </a:solidFill>
                <a:latin typeface="Comic Sans MS" panose="030F0702030302020204" pitchFamily="66" charset="0"/>
              </a:rPr>
              <a:t>budget-friendly</a:t>
            </a:r>
            <a:r>
              <a:rPr lang="en-US" dirty="0">
                <a:solidFill>
                  <a:srgbClr val="00B0F0"/>
                </a:solidFill>
                <a:latin typeface="Comic Sans MS" panose="030F0702030302020204" pitchFamily="66" charset="0"/>
              </a:rPr>
              <a:t> and </a:t>
            </a:r>
            <a:r>
              <a:rPr lang="en-US" b="1" dirty="0">
                <a:solidFill>
                  <a:srgbClr val="00B0F0"/>
                </a:solidFill>
                <a:latin typeface="Comic Sans MS" panose="030F0702030302020204" pitchFamily="66" charset="0"/>
              </a:rPr>
              <a:t>value-for-money</a:t>
            </a:r>
            <a:r>
              <a:rPr lang="en-US" dirty="0">
                <a:solidFill>
                  <a:srgbClr val="00B0F0"/>
                </a:solidFill>
                <a:latin typeface="Comic Sans MS" panose="030F0702030302020204" pitchFamily="66" charset="0"/>
              </a:rPr>
              <a:t> segments.</a:t>
            </a:r>
          </a:p>
          <a:p>
            <a:endParaRPr lang="en-IN" dirty="0"/>
          </a:p>
        </p:txBody>
      </p:sp>
    </p:spTree>
    <p:extLst>
      <p:ext uri="{BB962C8B-B14F-4D97-AF65-F5344CB8AC3E}">
        <p14:creationId xmlns:p14="http://schemas.microsoft.com/office/powerpoint/2010/main" val="29118466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13827-D6F1-5CF9-F75B-21D644287D92}"/>
              </a:ext>
            </a:extLst>
          </p:cNvPr>
          <p:cNvSpPr>
            <a:spLocks noGrp="1"/>
          </p:cNvSpPr>
          <p:nvPr>
            <p:ph type="title"/>
          </p:nvPr>
        </p:nvSpPr>
        <p:spPr>
          <a:xfrm>
            <a:off x="185057" y="250371"/>
            <a:ext cx="11647714" cy="740229"/>
          </a:xfrm>
        </p:spPr>
        <p:txBody>
          <a:bodyPr/>
          <a:lstStyle/>
          <a:p>
            <a:r>
              <a:rPr lang="en-US" b="1" dirty="0">
                <a:solidFill>
                  <a:srgbClr val="00B050"/>
                </a:solidFill>
                <a:latin typeface="+mn-lt"/>
              </a:rPr>
              <a:t>22.Cpu Model: Top 5 Most Frequent CPU Model</a:t>
            </a:r>
            <a:endParaRPr lang="en-IN" b="1" dirty="0">
              <a:solidFill>
                <a:srgbClr val="00B050"/>
              </a:solidFill>
              <a:latin typeface="+mn-lt"/>
            </a:endParaRPr>
          </a:p>
        </p:txBody>
      </p:sp>
      <p:graphicFrame>
        <p:nvGraphicFramePr>
          <p:cNvPr id="4" name="Content Placeholder 3">
            <a:extLst>
              <a:ext uri="{FF2B5EF4-FFF2-40B4-BE49-F238E27FC236}">
                <a16:creationId xmlns:a16="http://schemas.microsoft.com/office/drawing/2014/main" id="{F7606CDF-B9BD-DE30-46CA-F402819F41CB}"/>
              </a:ext>
            </a:extLst>
          </p:cNvPr>
          <p:cNvGraphicFramePr>
            <a:graphicFrameLocks noGrp="1"/>
          </p:cNvGraphicFramePr>
          <p:nvPr>
            <p:ph idx="1"/>
            <p:extLst>
              <p:ext uri="{D42A27DB-BD31-4B8C-83A1-F6EECF244321}">
                <p14:modId xmlns:p14="http://schemas.microsoft.com/office/powerpoint/2010/main" val="1627443208"/>
              </p:ext>
            </p:extLst>
          </p:nvPr>
        </p:nvGraphicFramePr>
        <p:xfrm>
          <a:off x="272143" y="1175656"/>
          <a:ext cx="11647713" cy="5448064"/>
        </p:xfrm>
        <a:graphic>
          <a:graphicData uri="http://schemas.openxmlformats.org/drawingml/2006/table">
            <a:tbl>
              <a:tblPr>
                <a:tableStyleId>{616DA210-FB5B-4158-B5E0-FEB733F419BA}</a:tableStyleId>
              </a:tblPr>
              <a:tblGrid>
                <a:gridCol w="2569028">
                  <a:extLst>
                    <a:ext uri="{9D8B030D-6E8A-4147-A177-3AD203B41FA5}">
                      <a16:colId xmlns:a16="http://schemas.microsoft.com/office/drawing/2014/main" val="1974584429"/>
                    </a:ext>
                  </a:extLst>
                </a:gridCol>
                <a:gridCol w="1698172">
                  <a:extLst>
                    <a:ext uri="{9D8B030D-6E8A-4147-A177-3AD203B41FA5}">
                      <a16:colId xmlns:a16="http://schemas.microsoft.com/office/drawing/2014/main" val="63918420"/>
                    </a:ext>
                  </a:extLst>
                </a:gridCol>
                <a:gridCol w="7380513">
                  <a:extLst>
                    <a:ext uri="{9D8B030D-6E8A-4147-A177-3AD203B41FA5}">
                      <a16:colId xmlns:a16="http://schemas.microsoft.com/office/drawing/2014/main" val="2534841074"/>
                    </a:ext>
                  </a:extLst>
                </a:gridCol>
              </a:tblGrid>
              <a:tr h="424883">
                <a:tc>
                  <a:txBody>
                    <a:bodyPr/>
                    <a:lstStyle/>
                    <a:p>
                      <a:r>
                        <a:rPr lang="en-IN" sz="2000" b="1">
                          <a:solidFill>
                            <a:srgbClr val="00B050"/>
                          </a:solidFill>
                          <a:latin typeface="Comic Sans MS" panose="030F0702030302020204" pitchFamily="66" charset="0"/>
                        </a:rPr>
                        <a:t>CPU Model</a:t>
                      </a:r>
                    </a:p>
                  </a:txBody>
                  <a:tcPr marL="75214" marR="75214" marT="37607" marB="37607" anchor="ctr"/>
                </a:tc>
                <a:tc>
                  <a:txBody>
                    <a:bodyPr/>
                    <a:lstStyle/>
                    <a:p>
                      <a:r>
                        <a:rPr lang="en-IN" sz="2400" dirty="0">
                          <a:solidFill>
                            <a:srgbClr val="FFFF00"/>
                          </a:solidFill>
                          <a:latin typeface="Comic Sans MS" panose="030F0702030302020204" pitchFamily="66" charset="0"/>
                        </a:rPr>
                        <a:t> </a:t>
                      </a:r>
                      <a:r>
                        <a:rPr lang="en-IN" sz="2400" b="1" dirty="0">
                          <a:solidFill>
                            <a:srgbClr val="FFFF00"/>
                          </a:solidFill>
                          <a:latin typeface="Comic Sans MS" panose="030F0702030302020204" pitchFamily="66" charset="0"/>
                        </a:rPr>
                        <a:t>Count</a:t>
                      </a:r>
                      <a:endParaRPr lang="en-IN" sz="2400" dirty="0">
                        <a:solidFill>
                          <a:srgbClr val="FFFF00"/>
                        </a:solidFill>
                        <a:latin typeface="Comic Sans MS" panose="030F0702030302020204" pitchFamily="66" charset="0"/>
                      </a:endParaRPr>
                    </a:p>
                  </a:txBody>
                  <a:tcPr marL="75214" marR="75214" marT="37607" marB="37607" anchor="ctr"/>
                </a:tc>
                <a:tc>
                  <a:txBody>
                    <a:bodyPr/>
                    <a:lstStyle/>
                    <a:p>
                      <a:r>
                        <a:rPr lang="en-IN" sz="2000" b="1" dirty="0">
                          <a:solidFill>
                            <a:srgbClr val="00B0F0"/>
                          </a:solidFill>
                          <a:latin typeface="Comic Sans MS" panose="030F0702030302020204" pitchFamily="66" charset="0"/>
                        </a:rPr>
                        <a:t>Insight</a:t>
                      </a:r>
                      <a:endParaRPr lang="en-IN" sz="2000" dirty="0">
                        <a:solidFill>
                          <a:srgbClr val="00B0F0"/>
                        </a:solidFill>
                        <a:latin typeface="Comic Sans MS" panose="030F0702030302020204" pitchFamily="66" charset="0"/>
                      </a:endParaRPr>
                    </a:p>
                  </a:txBody>
                  <a:tcPr marL="75214" marR="75214" marT="37607" marB="37607" anchor="ctr"/>
                </a:tc>
                <a:extLst>
                  <a:ext uri="{0D108BD9-81ED-4DB2-BD59-A6C34878D82A}">
                    <a16:rowId xmlns:a16="http://schemas.microsoft.com/office/drawing/2014/main" val="3961164464"/>
                  </a:ext>
                </a:extLst>
              </a:tr>
              <a:tr h="1030279">
                <a:tc>
                  <a:txBody>
                    <a:bodyPr/>
                    <a:lstStyle/>
                    <a:p>
                      <a:r>
                        <a:rPr lang="en-IN" sz="2000" b="1">
                          <a:solidFill>
                            <a:srgbClr val="00B050"/>
                          </a:solidFill>
                          <a:latin typeface="Comic Sans MS" panose="030F0702030302020204" pitchFamily="66" charset="0"/>
                        </a:rPr>
                        <a:t>Core i5 7200U</a:t>
                      </a:r>
                    </a:p>
                  </a:txBody>
                  <a:tcPr marL="75214" marR="75214" marT="37607" marB="37607" anchor="ctr"/>
                </a:tc>
                <a:tc>
                  <a:txBody>
                    <a:bodyPr/>
                    <a:lstStyle/>
                    <a:p>
                      <a:r>
                        <a:rPr lang="en-IN" sz="2400" b="1" dirty="0">
                          <a:solidFill>
                            <a:srgbClr val="FFFF00"/>
                          </a:solidFill>
                          <a:latin typeface="Comic Sans MS" panose="030F0702030302020204" pitchFamily="66" charset="0"/>
                        </a:rPr>
                        <a:t>193</a:t>
                      </a:r>
                    </a:p>
                  </a:txBody>
                  <a:tcPr marL="75214" marR="75214" marT="37607" marB="37607" anchor="ctr"/>
                </a:tc>
                <a:tc>
                  <a:txBody>
                    <a:bodyPr/>
                    <a:lstStyle/>
                    <a:p>
                      <a:r>
                        <a:rPr lang="en-US" sz="2000">
                          <a:solidFill>
                            <a:srgbClr val="00B0F0"/>
                          </a:solidFill>
                          <a:latin typeface="Comic Sans MS" panose="030F0702030302020204" pitchFamily="66" charset="0"/>
                        </a:rPr>
                        <a:t>Most commonly used CPU — a popular </a:t>
                      </a:r>
                      <a:r>
                        <a:rPr lang="en-US" sz="2000" b="1">
                          <a:solidFill>
                            <a:srgbClr val="00B0F0"/>
                          </a:solidFill>
                          <a:latin typeface="Comic Sans MS" panose="030F0702030302020204" pitchFamily="66" charset="0"/>
                        </a:rPr>
                        <a:t>mid-range processor</a:t>
                      </a:r>
                      <a:r>
                        <a:rPr lang="en-US" sz="2000">
                          <a:solidFill>
                            <a:srgbClr val="00B0F0"/>
                          </a:solidFill>
                          <a:latin typeface="Comic Sans MS" panose="030F0702030302020204" pitchFamily="66" charset="0"/>
                        </a:rPr>
                        <a:t> suitable for office work, browsing, and light multitasking.</a:t>
                      </a:r>
                    </a:p>
                  </a:txBody>
                  <a:tcPr marL="75214" marR="75214" marT="37607" marB="37607" anchor="ctr"/>
                </a:tc>
                <a:extLst>
                  <a:ext uri="{0D108BD9-81ED-4DB2-BD59-A6C34878D82A}">
                    <a16:rowId xmlns:a16="http://schemas.microsoft.com/office/drawing/2014/main" val="3084280762"/>
                  </a:ext>
                </a:extLst>
              </a:tr>
              <a:tr h="792521">
                <a:tc>
                  <a:txBody>
                    <a:bodyPr/>
                    <a:lstStyle/>
                    <a:p>
                      <a:r>
                        <a:rPr lang="en-IN" sz="2000" b="1">
                          <a:solidFill>
                            <a:srgbClr val="00B050"/>
                          </a:solidFill>
                          <a:latin typeface="Comic Sans MS" panose="030F0702030302020204" pitchFamily="66" charset="0"/>
                        </a:rPr>
                        <a:t>Core i7 7700HQ</a:t>
                      </a:r>
                    </a:p>
                  </a:txBody>
                  <a:tcPr marL="75214" marR="75214" marT="37607" marB="37607" anchor="ctr"/>
                </a:tc>
                <a:tc>
                  <a:txBody>
                    <a:bodyPr/>
                    <a:lstStyle/>
                    <a:p>
                      <a:r>
                        <a:rPr lang="en-IN" sz="2400" b="1">
                          <a:solidFill>
                            <a:srgbClr val="FFFF00"/>
                          </a:solidFill>
                          <a:latin typeface="Comic Sans MS" panose="030F0702030302020204" pitchFamily="66" charset="0"/>
                        </a:rPr>
                        <a:t>147</a:t>
                      </a:r>
                    </a:p>
                  </a:txBody>
                  <a:tcPr marL="75214" marR="75214" marT="37607" marB="37607" anchor="ctr"/>
                </a:tc>
                <a:tc>
                  <a:txBody>
                    <a:bodyPr/>
                    <a:lstStyle/>
                    <a:p>
                      <a:r>
                        <a:rPr lang="en-US" sz="2000" dirty="0">
                          <a:solidFill>
                            <a:srgbClr val="00B0F0"/>
                          </a:solidFill>
                          <a:latin typeface="Comic Sans MS" panose="030F0702030302020204" pitchFamily="66" charset="0"/>
                        </a:rPr>
                        <a:t>A </a:t>
                      </a:r>
                      <a:r>
                        <a:rPr lang="en-US" sz="2000" b="1" dirty="0">
                          <a:solidFill>
                            <a:srgbClr val="00B0F0"/>
                          </a:solidFill>
                          <a:latin typeface="Comic Sans MS" panose="030F0702030302020204" pitchFamily="66" charset="0"/>
                        </a:rPr>
                        <a:t>high-performance quad-core</a:t>
                      </a:r>
                      <a:r>
                        <a:rPr lang="en-US" sz="2000" dirty="0">
                          <a:solidFill>
                            <a:srgbClr val="00B0F0"/>
                          </a:solidFill>
                          <a:latin typeface="Comic Sans MS" panose="030F0702030302020204" pitchFamily="66" charset="0"/>
                        </a:rPr>
                        <a:t> CPU, often found in </a:t>
                      </a:r>
                      <a:r>
                        <a:rPr lang="en-US" sz="2000" b="1" dirty="0">
                          <a:solidFill>
                            <a:srgbClr val="00B0F0"/>
                          </a:solidFill>
                          <a:latin typeface="Comic Sans MS" panose="030F0702030302020204" pitchFamily="66" charset="0"/>
                        </a:rPr>
                        <a:t>gaming and high-end laptops</a:t>
                      </a:r>
                      <a:r>
                        <a:rPr lang="en-US" sz="2000" dirty="0">
                          <a:solidFill>
                            <a:srgbClr val="00B0F0"/>
                          </a:solidFill>
                          <a:latin typeface="Comic Sans MS" panose="030F0702030302020204" pitchFamily="66" charset="0"/>
                        </a:rPr>
                        <a:t>.</a:t>
                      </a:r>
                    </a:p>
                  </a:txBody>
                  <a:tcPr marL="75214" marR="75214" marT="37607" marB="37607" anchor="ctr"/>
                </a:tc>
                <a:extLst>
                  <a:ext uri="{0D108BD9-81ED-4DB2-BD59-A6C34878D82A}">
                    <a16:rowId xmlns:a16="http://schemas.microsoft.com/office/drawing/2014/main" val="1332876512"/>
                  </a:ext>
                </a:extLst>
              </a:tr>
              <a:tr h="1030279">
                <a:tc>
                  <a:txBody>
                    <a:bodyPr/>
                    <a:lstStyle/>
                    <a:p>
                      <a:r>
                        <a:rPr lang="en-IN" sz="2000" b="1" dirty="0">
                          <a:solidFill>
                            <a:srgbClr val="00B050"/>
                          </a:solidFill>
                          <a:latin typeface="Comic Sans MS" panose="030F0702030302020204" pitchFamily="66" charset="0"/>
                        </a:rPr>
                        <a:t>Core i7 7500U</a:t>
                      </a:r>
                    </a:p>
                  </a:txBody>
                  <a:tcPr marL="75214" marR="75214" marT="37607" marB="37607" anchor="ctr"/>
                </a:tc>
                <a:tc>
                  <a:txBody>
                    <a:bodyPr/>
                    <a:lstStyle/>
                    <a:p>
                      <a:r>
                        <a:rPr lang="en-IN" sz="2400" b="1">
                          <a:solidFill>
                            <a:srgbClr val="FFFF00"/>
                          </a:solidFill>
                          <a:latin typeface="Comic Sans MS" panose="030F0702030302020204" pitchFamily="66" charset="0"/>
                        </a:rPr>
                        <a:t>133</a:t>
                      </a:r>
                    </a:p>
                  </a:txBody>
                  <a:tcPr marL="75214" marR="75214" marT="37607" marB="37607" anchor="ctr"/>
                </a:tc>
                <a:tc>
                  <a:txBody>
                    <a:bodyPr/>
                    <a:lstStyle/>
                    <a:p>
                      <a:r>
                        <a:rPr lang="en-US" sz="2000" dirty="0">
                          <a:solidFill>
                            <a:srgbClr val="00B0F0"/>
                          </a:solidFill>
                          <a:latin typeface="Comic Sans MS" panose="030F0702030302020204" pitchFamily="66" charset="0"/>
                        </a:rPr>
                        <a:t>A </a:t>
                      </a:r>
                      <a:r>
                        <a:rPr lang="en-US" sz="2000" b="1" dirty="0">
                          <a:solidFill>
                            <a:srgbClr val="00B0F0"/>
                          </a:solidFill>
                          <a:latin typeface="Comic Sans MS" panose="030F0702030302020204" pitchFamily="66" charset="0"/>
                        </a:rPr>
                        <a:t>power-efficient i7</a:t>
                      </a:r>
                      <a:r>
                        <a:rPr lang="en-US" sz="2000" dirty="0">
                          <a:solidFill>
                            <a:srgbClr val="00B0F0"/>
                          </a:solidFill>
                          <a:latin typeface="Comic Sans MS" panose="030F0702030302020204" pitchFamily="66" charset="0"/>
                        </a:rPr>
                        <a:t>, commonly seen in </a:t>
                      </a:r>
                      <a:r>
                        <a:rPr lang="en-US" sz="2000" b="1" dirty="0" err="1">
                          <a:solidFill>
                            <a:srgbClr val="00B0F0"/>
                          </a:solidFill>
                          <a:latin typeface="Comic Sans MS" panose="030F0702030302020204" pitchFamily="66" charset="0"/>
                        </a:rPr>
                        <a:t>ultrabook</a:t>
                      </a:r>
                      <a:r>
                        <a:rPr lang="en-US" sz="2000" b="1" dirty="0">
                          <a:solidFill>
                            <a:srgbClr val="00B0F0"/>
                          </a:solidFill>
                          <a:latin typeface="Comic Sans MS" panose="030F0702030302020204" pitchFamily="66" charset="0"/>
                        </a:rPr>
                        <a:t> and thin premium laptops</a:t>
                      </a:r>
                      <a:r>
                        <a:rPr lang="en-US" sz="2000" dirty="0">
                          <a:solidFill>
                            <a:srgbClr val="00B0F0"/>
                          </a:solidFill>
                          <a:latin typeface="Comic Sans MS" panose="030F0702030302020204" pitchFamily="66" charset="0"/>
                        </a:rPr>
                        <a:t>, balancing performance and energy use.</a:t>
                      </a:r>
                    </a:p>
                  </a:txBody>
                  <a:tcPr marL="75214" marR="75214" marT="37607" marB="37607" anchor="ctr"/>
                </a:tc>
                <a:extLst>
                  <a:ext uri="{0D108BD9-81ED-4DB2-BD59-A6C34878D82A}">
                    <a16:rowId xmlns:a16="http://schemas.microsoft.com/office/drawing/2014/main" val="2769288056"/>
                  </a:ext>
                </a:extLst>
              </a:tr>
              <a:tr h="885975">
                <a:tc>
                  <a:txBody>
                    <a:bodyPr/>
                    <a:lstStyle/>
                    <a:p>
                      <a:r>
                        <a:rPr lang="en-IN" sz="2000" b="1">
                          <a:solidFill>
                            <a:srgbClr val="00B050"/>
                          </a:solidFill>
                          <a:latin typeface="Comic Sans MS" panose="030F0702030302020204" pitchFamily="66" charset="0"/>
                        </a:rPr>
                        <a:t>Core i3 6006U</a:t>
                      </a:r>
                    </a:p>
                  </a:txBody>
                  <a:tcPr marL="75214" marR="75214" marT="37607" marB="37607" anchor="ctr"/>
                </a:tc>
                <a:tc>
                  <a:txBody>
                    <a:bodyPr/>
                    <a:lstStyle/>
                    <a:p>
                      <a:r>
                        <a:rPr lang="en-IN" sz="2400" b="1" dirty="0">
                          <a:solidFill>
                            <a:srgbClr val="FFFF00"/>
                          </a:solidFill>
                          <a:latin typeface="Comic Sans MS" panose="030F0702030302020204" pitchFamily="66" charset="0"/>
                        </a:rPr>
                        <a:t>81</a:t>
                      </a:r>
                    </a:p>
                  </a:txBody>
                  <a:tcPr marL="75214" marR="75214" marT="37607" marB="37607" anchor="ctr"/>
                </a:tc>
                <a:tc>
                  <a:txBody>
                    <a:bodyPr/>
                    <a:lstStyle/>
                    <a:p>
                      <a:r>
                        <a:rPr lang="en-US" sz="2000" dirty="0">
                          <a:solidFill>
                            <a:srgbClr val="00B0F0"/>
                          </a:solidFill>
                          <a:latin typeface="Comic Sans MS" panose="030F0702030302020204" pitchFamily="66" charset="0"/>
                        </a:rPr>
                        <a:t>An </a:t>
                      </a:r>
                      <a:r>
                        <a:rPr lang="en-US" sz="2000" b="1" dirty="0">
                          <a:solidFill>
                            <a:srgbClr val="00B0F0"/>
                          </a:solidFill>
                          <a:latin typeface="Comic Sans MS" panose="030F0702030302020204" pitchFamily="66" charset="0"/>
                        </a:rPr>
                        <a:t>entry-level processor</a:t>
                      </a:r>
                      <a:r>
                        <a:rPr lang="en-US" sz="2000" dirty="0">
                          <a:solidFill>
                            <a:srgbClr val="00B0F0"/>
                          </a:solidFill>
                          <a:latin typeface="Comic Sans MS" panose="030F0702030302020204" pitchFamily="66" charset="0"/>
                        </a:rPr>
                        <a:t>, mostly used in </a:t>
                      </a:r>
                      <a:r>
                        <a:rPr lang="en-US" sz="2000" b="1" dirty="0">
                          <a:solidFill>
                            <a:srgbClr val="00B0F0"/>
                          </a:solidFill>
                          <a:latin typeface="Comic Sans MS" panose="030F0702030302020204" pitchFamily="66" charset="0"/>
                        </a:rPr>
                        <a:t>budget or student laptops</a:t>
                      </a:r>
                      <a:r>
                        <a:rPr lang="en-US" sz="2000" dirty="0">
                          <a:solidFill>
                            <a:srgbClr val="00B0F0"/>
                          </a:solidFill>
                          <a:latin typeface="Comic Sans MS" panose="030F0702030302020204" pitchFamily="66" charset="0"/>
                        </a:rPr>
                        <a:t> for basic tasks.</a:t>
                      </a:r>
                    </a:p>
                  </a:txBody>
                  <a:tcPr marL="75214" marR="75214" marT="37607" marB="37607" anchor="ctr"/>
                </a:tc>
                <a:extLst>
                  <a:ext uri="{0D108BD9-81ED-4DB2-BD59-A6C34878D82A}">
                    <a16:rowId xmlns:a16="http://schemas.microsoft.com/office/drawing/2014/main" val="2264946522"/>
                  </a:ext>
                </a:extLst>
              </a:tr>
              <a:tr h="1268036">
                <a:tc>
                  <a:txBody>
                    <a:bodyPr/>
                    <a:lstStyle/>
                    <a:p>
                      <a:r>
                        <a:rPr lang="en-IN" sz="2000" b="1" dirty="0">
                          <a:solidFill>
                            <a:srgbClr val="00B050"/>
                          </a:solidFill>
                          <a:latin typeface="Comic Sans MS" panose="030F0702030302020204" pitchFamily="66" charset="0"/>
                        </a:rPr>
                        <a:t>Core i7 8550U</a:t>
                      </a:r>
                    </a:p>
                  </a:txBody>
                  <a:tcPr marL="75214" marR="75214" marT="37607" marB="37607" anchor="ctr"/>
                </a:tc>
                <a:tc>
                  <a:txBody>
                    <a:bodyPr/>
                    <a:lstStyle/>
                    <a:p>
                      <a:r>
                        <a:rPr lang="en-IN" sz="2400" b="1" dirty="0">
                          <a:solidFill>
                            <a:srgbClr val="FFFF00"/>
                          </a:solidFill>
                          <a:latin typeface="Comic Sans MS" panose="030F0702030302020204" pitchFamily="66" charset="0"/>
                        </a:rPr>
                        <a:t>73</a:t>
                      </a:r>
                    </a:p>
                  </a:txBody>
                  <a:tcPr marL="75214" marR="75214" marT="37607" marB="37607" anchor="ctr"/>
                </a:tc>
                <a:tc>
                  <a:txBody>
                    <a:bodyPr/>
                    <a:lstStyle/>
                    <a:p>
                      <a:r>
                        <a:rPr lang="en-US" sz="2000" dirty="0">
                          <a:solidFill>
                            <a:srgbClr val="00B0F0"/>
                          </a:solidFill>
                          <a:latin typeface="Comic Sans MS" panose="030F0702030302020204" pitchFamily="66" charset="0"/>
                        </a:rPr>
                        <a:t>A newer </a:t>
                      </a:r>
                      <a:r>
                        <a:rPr lang="en-US" sz="2000" b="1" dirty="0">
                          <a:solidFill>
                            <a:srgbClr val="00B0F0"/>
                          </a:solidFill>
                          <a:latin typeface="Comic Sans MS" panose="030F0702030302020204" pitchFamily="66" charset="0"/>
                        </a:rPr>
                        <a:t>8th-gen quad-core i7</a:t>
                      </a:r>
                      <a:r>
                        <a:rPr lang="en-US" sz="2000" dirty="0">
                          <a:solidFill>
                            <a:srgbClr val="00B0F0"/>
                          </a:solidFill>
                          <a:latin typeface="Comic Sans MS" panose="030F0702030302020204" pitchFamily="66" charset="0"/>
                        </a:rPr>
                        <a:t>, featured in </a:t>
                      </a:r>
                      <a:r>
                        <a:rPr lang="en-US" sz="2000" b="1" dirty="0">
                          <a:solidFill>
                            <a:srgbClr val="00B0F0"/>
                          </a:solidFill>
                          <a:latin typeface="Comic Sans MS" panose="030F0702030302020204" pitchFamily="66" charset="0"/>
                        </a:rPr>
                        <a:t>modern </a:t>
                      </a:r>
                      <a:r>
                        <a:rPr lang="en-US" sz="2000" b="1" dirty="0" err="1">
                          <a:solidFill>
                            <a:srgbClr val="00B0F0"/>
                          </a:solidFill>
                          <a:latin typeface="Comic Sans MS" panose="030F0702030302020204" pitchFamily="66" charset="0"/>
                        </a:rPr>
                        <a:t>ultrabook</a:t>
                      </a:r>
                      <a:r>
                        <a:rPr lang="en-US" sz="2000" b="1" dirty="0">
                          <a:solidFill>
                            <a:srgbClr val="00B0F0"/>
                          </a:solidFill>
                          <a:latin typeface="Comic Sans MS" panose="030F0702030302020204" pitchFamily="66" charset="0"/>
                        </a:rPr>
                        <a:t> ,</a:t>
                      </a:r>
                      <a:r>
                        <a:rPr lang="en-US" sz="2000" dirty="0">
                          <a:solidFill>
                            <a:srgbClr val="00B0F0"/>
                          </a:solidFill>
                          <a:latin typeface="Comic Sans MS" panose="030F0702030302020204" pitchFamily="66" charset="0"/>
                        </a:rPr>
                        <a:t> highlighting a shift toward better multi-core performance in slim devices.</a:t>
                      </a:r>
                    </a:p>
                  </a:txBody>
                  <a:tcPr marL="75214" marR="75214" marT="37607" marB="37607" anchor="ctr"/>
                </a:tc>
                <a:extLst>
                  <a:ext uri="{0D108BD9-81ED-4DB2-BD59-A6C34878D82A}">
                    <a16:rowId xmlns:a16="http://schemas.microsoft.com/office/drawing/2014/main" val="3221669736"/>
                  </a:ext>
                </a:extLst>
              </a:tr>
            </a:tbl>
          </a:graphicData>
        </a:graphic>
      </p:graphicFrame>
    </p:spTree>
    <p:extLst>
      <p:ext uri="{BB962C8B-B14F-4D97-AF65-F5344CB8AC3E}">
        <p14:creationId xmlns:p14="http://schemas.microsoft.com/office/powerpoint/2010/main" val="2411526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CD08F-A229-4DF1-3E31-7060A7C7CD35}"/>
              </a:ext>
            </a:extLst>
          </p:cNvPr>
          <p:cNvSpPr>
            <a:spLocks noGrp="1"/>
          </p:cNvSpPr>
          <p:nvPr>
            <p:ph type="title"/>
          </p:nvPr>
        </p:nvSpPr>
        <p:spPr>
          <a:xfrm>
            <a:off x="457200" y="250371"/>
            <a:ext cx="10896600" cy="729344"/>
          </a:xfrm>
        </p:spPr>
        <p:txBody>
          <a:bodyPr>
            <a:normAutofit/>
          </a:bodyPr>
          <a:lstStyle/>
          <a:p>
            <a:r>
              <a:rPr lang="en-US" sz="4000" b="1" dirty="0">
                <a:solidFill>
                  <a:srgbClr val="00B050"/>
                </a:solidFill>
                <a:latin typeface="+mn-lt"/>
              </a:rPr>
              <a:t>23 .Primary Storage:</a:t>
            </a:r>
            <a:endParaRPr lang="en-IN" sz="4000" b="1" dirty="0">
              <a:solidFill>
                <a:srgbClr val="00B050"/>
              </a:solidFill>
              <a:latin typeface="+mn-lt"/>
            </a:endParaRPr>
          </a:p>
        </p:txBody>
      </p:sp>
      <p:pic>
        <p:nvPicPr>
          <p:cNvPr id="6" name="Content Placeholder 5">
            <a:extLst>
              <a:ext uri="{FF2B5EF4-FFF2-40B4-BE49-F238E27FC236}">
                <a16:creationId xmlns:a16="http://schemas.microsoft.com/office/drawing/2014/main" id="{532DA92F-944C-B377-C9A2-9FED3ED2D9BF}"/>
              </a:ext>
            </a:extLst>
          </p:cNvPr>
          <p:cNvPicPr>
            <a:picLocks noGrp="1" noChangeAspect="1"/>
          </p:cNvPicPr>
          <p:nvPr>
            <p:ph sz="half" idx="1"/>
          </p:nvPr>
        </p:nvPicPr>
        <p:blipFill>
          <a:blip r:embed="rId2"/>
          <a:stretch>
            <a:fillRect/>
          </a:stretch>
        </p:blipFill>
        <p:spPr>
          <a:xfrm>
            <a:off x="163286" y="1251857"/>
            <a:ext cx="6346371" cy="5355772"/>
          </a:xfrm>
        </p:spPr>
      </p:pic>
      <p:sp>
        <p:nvSpPr>
          <p:cNvPr id="4" name="Content Placeholder 3">
            <a:extLst>
              <a:ext uri="{FF2B5EF4-FFF2-40B4-BE49-F238E27FC236}">
                <a16:creationId xmlns:a16="http://schemas.microsoft.com/office/drawing/2014/main" id="{25A6DA31-1F0D-43E2-C9AB-F620A9777072}"/>
              </a:ext>
            </a:extLst>
          </p:cNvPr>
          <p:cNvSpPr>
            <a:spLocks noGrp="1"/>
          </p:cNvSpPr>
          <p:nvPr>
            <p:ph sz="half" idx="2"/>
          </p:nvPr>
        </p:nvSpPr>
        <p:spPr>
          <a:xfrm>
            <a:off x="6770913" y="119743"/>
            <a:ext cx="5170715" cy="6618514"/>
          </a:xfrm>
        </p:spPr>
        <p:txBody>
          <a:bodyPr>
            <a:noAutofit/>
          </a:bodyPr>
          <a:lstStyle/>
          <a:p>
            <a:r>
              <a:rPr lang="en-US" sz="3200" dirty="0">
                <a:solidFill>
                  <a:srgbClr val="00B050"/>
                </a:solidFill>
                <a:latin typeface="Comic Sans MS" panose="030F0702030302020204" pitchFamily="66" charset="0"/>
              </a:rPr>
              <a:t># Insight</a:t>
            </a:r>
            <a:r>
              <a:rPr lang="en-US" sz="2400" dirty="0">
                <a:solidFill>
                  <a:srgbClr val="00B050"/>
                </a:solidFill>
                <a:latin typeface="Comic Sans MS" panose="030F0702030302020204" pitchFamily="66" charset="0"/>
              </a:rPr>
              <a:t>:</a:t>
            </a:r>
          </a:p>
          <a:p>
            <a:endParaRPr lang="en-US" sz="2400" dirty="0"/>
          </a:p>
          <a:p>
            <a:r>
              <a:rPr lang="en-US" sz="1800" dirty="0">
                <a:solidFill>
                  <a:srgbClr val="00B0F0"/>
                </a:solidFill>
                <a:latin typeface="Comic Sans MS" panose="030F0702030302020204" pitchFamily="66" charset="0"/>
              </a:rPr>
              <a:t>The scatter plot shows that laptops with smaller storage (≤500 GB) span a wide price range, from budget to high-end.</a:t>
            </a:r>
          </a:p>
          <a:p>
            <a:r>
              <a:rPr lang="en-US" sz="1800" dirty="0">
                <a:solidFill>
                  <a:srgbClr val="00B0F0"/>
                </a:solidFill>
                <a:latin typeface="Comic Sans MS" panose="030F0702030302020204" pitchFamily="66" charset="0"/>
              </a:rPr>
              <a:t> As storage increases laptops become less common, especially above 1000 GB, often appearing in premium models.</a:t>
            </a:r>
          </a:p>
          <a:p>
            <a:r>
              <a:rPr lang="en-US" sz="1800" dirty="0">
                <a:solidFill>
                  <a:srgbClr val="00B0F0"/>
                </a:solidFill>
                <a:latin typeface="Comic Sans MS" panose="030F0702030302020204" pitchFamily="66" charset="0"/>
              </a:rPr>
              <a:t>While higher storage can increase price, it's not the only factor — many laptops with similar storage have very different prices, suggesting that brand, performance, and features also heavily influence cost.</a:t>
            </a:r>
          </a:p>
          <a:p>
            <a:endParaRPr lang="en-US" sz="1800" dirty="0">
              <a:latin typeface="Comic Sans MS" panose="030F0702030302020204" pitchFamily="66" charset="0"/>
            </a:endParaRPr>
          </a:p>
          <a:p>
            <a:r>
              <a:rPr lang="en-US" sz="2000" dirty="0">
                <a:solidFill>
                  <a:srgbClr val="00B050"/>
                </a:solidFill>
                <a:latin typeface="Comic Sans MS" panose="030F0702030302020204" pitchFamily="66" charset="0"/>
              </a:rPr>
              <a:t>Other Key Insight:</a:t>
            </a:r>
          </a:p>
          <a:p>
            <a:endParaRPr lang="en-US" sz="1800" dirty="0">
              <a:latin typeface="Comic Sans MS" panose="030F0702030302020204" pitchFamily="66" charset="0"/>
            </a:endParaRPr>
          </a:p>
          <a:p>
            <a:r>
              <a:rPr lang="en-US" sz="1800" dirty="0">
                <a:solidFill>
                  <a:srgbClr val="FFFF00"/>
                </a:solidFill>
                <a:latin typeface="Comic Sans MS" panose="030F0702030302020204" pitchFamily="66" charset="0"/>
              </a:rPr>
              <a:t>Most common Primary storage in Laptops is 256 </a:t>
            </a:r>
            <a:r>
              <a:rPr lang="en-US" sz="1800" dirty="0" err="1">
                <a:solidFill>
                  <a:srgbClr val="FFFF00"/>
                </a:solidFill>
                <a:latin typeface="Comic Sans MS" panose="030F0702030302020204" pitchFamily="66" charset="0"/>
              </a:rPr>
              <a:t>gb</a:t>
            </a:r>
            <a:r>
              <a:rPr lang="en-US" sz="1800" dirty="0">
                <a:solidFill>
                  <a:srgbClr val="FFFF00"/>
                </a:solidFill>
                <a:latin typeface="Comic Sans MS" panose="030F0702030302020204" pitchFamily="66" charset="0"/>
              </a:rPr>
              <a:t> (508 Laptops)  followed by 1024 </a:t>
            </a:r>
            <a:r>
              <a:rPr lang="en-US" sz="1800" dirty="0" err="1">
                <a:solidFill>
                  <a:srgbClr val="FFFF00"/>
                </a:solidFill>
                <a:latin typeface="Comic Sans MS" panose="030F0702030302020204" pitchFamily="66" charset="0"/>
              </a:rPr>
              <a:t>gb</a:t>
            </a:r>
            <a:r>
              <a:rPr lang="en-US" sz="1800" dirty="0">
                <a:solidFill>
                  <a:srgbClr val="FFFF00"/>
                </a:solidFill>
                <a:latin typeface="Comic Sans MS" panose="030F0702030302020204" pitchFamily="66" charset="0"/>
              </a:rPr>
              <a:t>(240 laptops) , 128 </a:t>
            </a:r>
            <a:r>
              <a:rPr lang="en-US" sz="1800" dirty="0" err="1">
                <a:solidFill>
                  <a:srgbClr val="FFFF00"/>
                </a:solidFill>
                <a:latin typeface="Comic Sans MS" panose="030F0702030302020204" pitchFamily="66" charset="0"/>
              </a:rPr>
              <a:t>gb</a:t>
            </a:r>
            <a:r>
              <a:rPr lang="en-US" sz="1800" dirty="0">
                <a:solidFill>
                  <a:srgbClr val="FFFF00"/>
                </a:solidFill>
                <a:latin typeface="Comic Sans MS" panose="030F0702030302020204" pitchFamily="66" charset="0"/>
              </a:rPr>
              <a:t> (175 laptops)</a:t>
            </a:r>
          </a:p>
          <a:p>
            <a:r>
              <a:rPr lang="en-US" sz="1800" dirty="0">
                <a:solidFill>
                  <a:srgbClr val="FFFF00"/>
                </a:solidFill>
                <a:latin typeface="Comic Sans MS" panose="030F0702030302020204" pitchFamily="66" charset="0"/>
              </a:rPr>
              <a:t>.The least common primary storage are ( 16gb , 180gb , 240gb , 8gb , 508gb)</a:t>
            </a:r>
            <a:endParaRPr lang="en-IN" sz="1800" dirty="0">
              <a:solidFill>
                <a:srgbClr val="FFFF00"/>
              </a:solidFill>
              <a:latin typeface="Comic Sans MS" panose="030F0702030302020204" pitchFamily="66" charset="0"/>
            </a:endParaRPr>
          </a:p>
        </p:txBody>
      </p:sp>
    </p:spTree>
    <p:extLst>
      <p:ext uri="{BB962C8B-B14F-4D97-AF65-F5344CB8AC3E}">
        <p14:creationId xmlns:p14="http://schemas.microsoft.com/office/powerpoint/2010/main" val="22964474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03677-1616-2818-7DD9-91FC74F53727}"/>
              </a:ext>
            </a:extLst>
          </p:cNvPr>
          <p:cNvSpPr>
            <a:spLocks noGrp="1"/>
          </p:cNvSpPr>
          <p:nvPr>
            <p:ph type="title"/>
          </p:nvPr>
        </p:nvSpPr>
        <p:spPr>
          <a:xfrm>
            <a:off x="391887" y="141514"/>
            <a:ext cx="10961914" cy="990600"/>
          </a:xfrm>
        </p:spPr>
        <p:txBody>
          <a:bodyPr/>
          <a:lstStyle/>
          <a:p>
            <a:r>
              <a:rPr lang="en-US" b="1" dirty="0">
                <a:solidFill>
                  <a:srgbClr val="00B050"/>
                </a:solidFill>
              </a:rPr>
              <a:t>24 .Secondary Storage:</a:t>
            </a:r>
            <a:endParaRPr lang="en-IN" b="1" dirty="0">
              <a:solidFill>
                <a:srgbClr val="00B050"/>
              </a:solidFill>
            </a:endParaRPr>
          </a:p>
        </p:txBody>
      </p:sp>
      <p:pic>
        <p:nvPicPr>
          <p:cNvPr id="6" name="Content Placeholder 5">
            <a:extLst>
              <a:ext uri="{FF2B5EF4-FFF2-40B4-BE49-F238E27FC236}">
                <a16:creationId xmlns:a16="http://schemas.microsoft.com/office/drawing/2014/main" id="{0C05E5A3-7693-036D-7F3C-CFC8252C3D02}"/>
              </a:ext>
            </a:extLst>
          </p:cNvPr>
          <p:cNvPicPr>
            <a:picLocks noGrp="1" noChangeAspect="1"/>
          </p:cNvPicPr>
          <p:nvPr>
            <p:ph sz="half" idx="1"/>
          </p:nvPr>
        </p:nvPicPr>
        <p:blipFill>
          <a:blip r:embed="rId2"/>
          <a:stretch>
            <a:fillRect/>
          </a:stretch>
        </p:blipFill>
        <p:spPr>
          <a:xfrm>
            <a:off x="163286" y="1132114"/>
            <a:ext cx="5856514" cy="5464629"/>
          </a:xfrm>
        </p:spPr>
      </p:pic>
      <p:sp>
        <p:nvSpPr>
          <p:cNvPr id="4" name="Content Placeholder 3">
            <a:extLst>
              <a:ext uri="{FF2B5EF4-FFF2-40B4-BE49-F238E27FC236}">
                <a16:creationId xmlns:a16="http://schemas.microsoft.com/office/drawing/2014/main" id="{5F25820B-FCF6-902C-72C5-0CF5E885E93C}"/>
              </a:ext>
            </a:extLst>
          </p:cNvPr>
          <p:cNvSpPr>
            <a:spLocks noGrp="1"/>
          </p:cNvSpPr>
          <p:nvPr>
            <p:ph sz="half" idx="2"/>
          </p:nvPr>
        </p:nvSpPr>
        <p:spPr>
          <a:xfrm>
            <a:off x="6324599" y="250371"/>
            <a:ext cx="5595257" cy="6270172"/>
          </a:xfrm>
        </p:spPr>
        <p:txBody>
          <a:bodyPr>
            <a:normAutofit lnSpcReduction="10000"/>
          </a:bodyPr>
          <a:lstStyle/>
          <a:p>
            <a:r>
              <a:rPr lang="en-US" sz="2000" dirty="0">
                <a:solidFill>
                  <a:srgbClr val="00B0F0"/>
                </a:solidFill>
                <a:latin typeface="Comic Sans MS" panose="030F0702030302020204" pitchFamily="66" charset="0"/>
              </a:rPr>
              <a:t>The scatter plot shows that secondary storage capacity has little direct impact on laptop prices.</a:t>
            </a:r>
          </a:p>
          <a:p>
            <a:r>
              <a:rPr lang="en-US" sz="2000" dirty="0">
                <a:solidFill>
                  <a:srgbClr val="00B0F0"/>
                </a:solidFill>
                <a:latin typeface="Comic Sans MS" panose="030F0702030302020204" pitchFamily="66" charset="0"/>
              </a:rPr>
              <a:t>Laptops with low or mid-range storage (0–1000 GB) span a wide price range, and even high-capacity models aren’t always the most expensive.</a:t>
            </a:r>
          </a:p>
          <a:p>
            <a:r>
              <a:rPr lang="en-US" sz="2000" dirty="0">
                <a:solidFill>
                  <a:srgbClr val="00B0F0"/>
                </a:solidFill>
                <a:latin typeface="Comic Sans MS" panose="030F0702030302020204" pitchFamily="66" charset="0"/>
              </a:rPr>
              <a:t>This suggests that other features like CPU, GPU, and brand play a bigger role in determining price.</a:t>
            </a:r>
          </a:p>
          <a:p>
            <a:r>
              <a:rPr lang="en-US" sz="2000" dirty="0">
                <a:solidFill>
                  <a:srgbClr val="00B0F0"/>
                </a:solidFill>
                <a:latin typeface="Comic Sans MS" panose="030F0702030302020204" pitchFamily="66" charset="0"/>
              </a:rPr>
              <a:t>Storage is important, but not the main driver of laptop cost.</a:t>
            </a:r>
          </a:p>
          <a:p>
            <a:endParaRPr lang="en-US" sz="2000" dirty="0">
              <a:latin typeface="Comic Sans MS" panose="030F0702030302020204" pitchFamily="66" charset="0"/>
            </a:endParaRPr>
          </a:p>
          <a:p>
            <a:r>
              <a:rPr lang="en-US" sz="2000" dirty="0">
                <a:latin typeface="Comic Sans MS" panose="030F0702030302020204" pitchFamily="66" charset="0"/>
              </a:rPr>
              <a:t>Other Key Insight:</a:t>
            </a:r>
          </a:p>
          <a:p>
            <a:r>
              <a:rPr lang="en-IN" sz="2000" dirty="0">
                <a:solidFill>
                  <a:srgbClr val="FFFF00"/>
                </a:solidFill>
                <a:latin typeface="Comic Sans MS" panose="030F0702030302020204" pitchFamily="66" charset="0"/>
              </a:rPr>
              <a:t>Most of the Laptops (1067) </a:t>
            </a:r>
            <a:r>
              <a:rPr lang="en-IN" sz="2000" dirty="0" err="1">
                <a:solidFill>
                  <a:srgbClr val="FFFF00"/>
                </a:solidFill>
                <a:latin typeface="Comic Sans MS" panose="030F0702030302020204" pitchFamily="66" charset="0"/>
              </a:rPr>
              <a:t>donot</a:t>
            </a:r>
            <a:r>
              <a:rPr lang="en-IN" sz="2000" dirty="0">
                <a:solidFill>
                  <a:srgbClr val="FFFF00"/>
                </a:solidFill>
                <a:latin typeface="Comic Sans MS" panose="030F0702030302020204" pitchFamily="66" charset="0"/>
              </a:rPr>
              <a:t> have </a:t>
            </a:r>
            <a:r>
              <a:rPr lang="en-IN" sz="2000" dirty="0" err="1">
                <a:solidFill>
                  <a:srgbClr val="FFFF00"/>
                </a:solidFill>
                <a:latin typeface="Comic Sans MS" panose="030F0702030302020204" pitchFamily="66" charset="0"/>
              </a:rPr>
              <a:t>secondaryStorage</a:t>
            </a:r>
            <a:r>
              <a:rPr lang="en-IN" sz="2000" dirty="0">
                <a:solidFill>
                  <a:srgbClr val="FFFF00"/>
                </a:solidFill>
                <a:latin typeface="Comic Sans MS" panose="030F0702030302020204" pitchFamily="66" charset="0"/>
              </a:rPr>
              <a:t> while 187 laptops have 1024gb </a:t>
            </a:r>
            <a:r>
              <a:rPr lang="en-IN" sz="2000" dirty="0" err="1">
                <a:solidFill>
                  <a:srgbClr val="FFFF00"/>
                </a:solidFill>
                <a:latin typeface="Comic Sans MS" panose="030F0702030302020204" pitchFamily="66" charset="0"/>
              </a:rPr>
              <a:t>secondarystorage</a:t>
            </a:r>
            <a:r>
              <a:rPr lang="en-IN" sz="2000" dirty="0">
                <a:solidFill>
                  <a:srgbClr val="FFFF00"/>
                </a:solidFill>
                <a:latin typeface="Comic Sans MS" panose="030F0702030302020204" pitchFamily="66" charset="0"/>
              </a:rPr>
              <a:t> ,15 laptops have 2048 </a:t>
            </a:r>
            <a:r>
              <a:rPr lang="en-IN" sz="2000" dirty="0" err="1">
                <a:solidFill>
                  <a:srgbClr val="FFFF00"/>
                </a:solidFill>
                <a:latin typeface="Comic Sans MS" panose="030F0702030302020204" pitchFamily="66" charset="0"/>
              </a:rPr>
              <a:t>secondarystorage</a:t>
            </a:r>
            <a:r>
              <a:rPr lang="en-IN" sz="2000" dirty="0">
                <a:latin typeface="Comic Sans MS" panose="030F0702030302020204" pitchFamily="66" charset="0"/>
              </a:rPr>
              <a:t>.</a:t>
            </a:r>
          </a:p>
          <a:p>
            <a:r>
              <a:rPr lang="en-IN" sz="2000" dirty="0">
                <a:solidFill>
                  <a:srgbClr val="FFFF00"/>
                </a:solidFill>
                <a:latin typeface="Comic Sans MS" panose="030F0702030302020204" pitchFamily="66" charset="0"/>
              </a:rPr>
              <a:t>The least common secondary storage are 256gb(3 laptop), 500gb(2 laptop) , 512gb( 1 laptop).</a:t>
            </a:r>
          </a:p>
        </p:txBody>
      </p:sp>
    </p:spTree>
    <p:extLst>
      <p:ext uri="{BB962C8B-B14F-4D97-AF65-F5344CB8AC3E}">
        <p14:creationId xmlns:p14="http://schemas.microsoft.com/office/powerpoint/2010/main" val="27690032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DE07F-AF93-0130-EB82-DDF9817923B2}"/>
              </a:ext>
            </a:extLst>
          </p:cNvPr>
          <p:cNvSpPr>
            <a:spLocks noGrp="1"/>
          </p:cNvSpPr>
          <p:nvPr>
            <p:ph type="title"/>
          </p:nvPr>
        </p:nvSpPr>
        <p:spPr>
          <a:xfrm>
            <a:off x="283029" y="250372"/>
            <a:ext cx="11070771" cy="849086"/>
          </a:xfrm>
        </p:spPr>
        <p:txBody>
          <a:bodyPr/>
          <a:lstStyle/>
          <a:p>
            <a:r>
              <a:rPr lang="en-US" b="1" dirty="0">
                <a:solidFill>
                  <a:srgbClr val="00B050"/>
                </a:solidFill>
                <a:latin typeface="+mn-lt"/>
              </a:rPr>
              <a:t>25. Primary Storage Type:</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D72D94CA-3E58-E213-5FCA-036FB9EA0DBB}"/>
              </a:ext>
            </a:extLst>
          </p:cNvPr>
          <p:cNvPicPr>
            <a:picLocks noGrp="1" noChangeAspect="1"/>
          </p:cNvPicPr>
          <p:nvPr>
            <p:ph sz="half" idx="1"/>
          </p:nvPr>
        </p:nvPicPr>
        <p:blipFill>
          <a:blip r:embed="rId2"/>
          <a:stretch>
            <a:fillRect/>
          </a:stretch>
        </p:blipFill>
        <p:spPr>
          <a:xfrm>
            <a:off x="283029" y="1415144"/>
            <a:ext cx="5464628" cy="4909456"/>
          </a:xfrm>
        </p:spPr>
      </p:pic>
      <p:sp>
        <p:nvSpPr>
          <p:cNvPr id="4" name="Content Placeholder 3">
            <a:extLst>
              <a:ext uri="{FF2B5EF4-FFF2-40B4-BE49-F238E27FC236}">
                <a16:creationId xmlns:a16="http://schemas.microsoft.com/office/drawing/2014/main" id="{2AF41CC3-33D8-EAD7-A089-38F6E122CAF2}"/>
              </a:ext>
            </a:extLst>
          </p:cNvPr>
          <p:cNvSpPr>
            <a:spLocks noGrp="1"/>
          </p:cNvSpPr>
          <p:nvPr>
            <p:ph sz="half" idx="2"/>
          </p:nvPr>
        </p:nvSpPr>
        <p:spPr>
          <a:xfrm>
            <a:off x="6204857" y="1175657"/>
            <a:ext cx="5704114" cy="5317218"/>
          </a:xfrm>
        </p:spPr>
        <p:txBody>
          <a:bodyPr>
            <a:normAutofit fontScale="92500" lnSpcReduction="10000"/>
          </a:bodyPr>
          <a:lstStyle/>
          <a:p>
            <a:r>
              <a:rPr lang="en-US" sz="2400" dirty="0">
                <a:solidFill>
                  <a:srgbClr val="FFFF00"/>
                </a:solidFill>
                <a:latin typeface="Comic Sans MS" panose="030F0702030302020204" pitchFamily="66" charset="0"/>
              </a:rPr>
              <a:t>1.SSD </a:t>
            </a:r>
            <a:r>
              <a:rPr lang="en-US" sz="2400" dirty="0">
                <a:solidFill>
                  <a:srgbClr val="00B0F0"/>
                </a:solidFill>
                <a:latin typeface="Comic Sans MS" panose="030F0702030302020204" pitchFamily="66" charset="0"/>
              </a:rPr>
              <a:t>is the dominant storage type, found in 837 laptops, highlighting its popularity due to speed and efficiency.</a:t>
            </a:r>
          </a:p>
          <a:p>
            <a:endParaRPr lang="en-US" sz="2400" dirty="0">
              <a:solidFill>
                <a:srgbClr val="00B0F0"/>
              </a:solidFill>
              <a:latin typeface="Comic Sans MS" panose="030F0702030302020204" pitchFamily="66" charset="0"/>
            </a:endParaRPr>
          </a:p>
          <a:p>
            <a:r>
              <a:rPr lang="en-US" sz="2400" dirty="0">
                <a:solidFill>
                  <a:srgbClr val="FFFF00"/>
                </a:solidFill>
                <a:latin typeface="Comic Sans MS" panose="030F0702030302020204" pitchFamily="66" charset="0"/>
              </a:rPr>
              <a:t>2.HDDs </a:t>
            </a:r>
            <a:r>
              <a:rPr lang="en-US" sz="2400" dirty="0">
                <a:solidFill>
                  <a:srgbClr val="00B0F0"/>
                </a:solidFill>
                <a:latin typeface="Comic Sans MS" panose="030F0702030302020204" pitchFamily="66" charset="0"/>
              </a:rPr>
              <a:t>are still fairly common with 359 units, likely due to their larger storage capacity at lower cost.</a:t>
            </a:r>
          </a:p>
          <a:p>
            <a:endParaRPr lang="en-US" sz="2400" dirty="0">
              <a:solidFill>
                <a:srgbClr val="00B0F0"/>
              </a:solidFill>
              <a:latin typeface="Comic Sans MS" panose="030F0702030302020204" pitchFamily="66" charset="0"/>
            </a:endParaRPr>
          </a:p>
          <a:p>
            <a:r>
              <a:rPr lang="en-US" sz="2400" dirty="0">
                <a:solidFill>
                  <a:srgbClr val="FFFF00"/>
                </a:solidFill>
                <a:latin typeface="Comic Sans MS" panose="030F0702030302020204" pitchFamily="66" charset="0"/>
              </a:rPr>
              <a:t>3.Flash Storage appears in 71 laptops, </a:t>
            </a:r>
            <a:r>
              <a:rPr lang="en-US" sz="2400" dirty="0">
                <a:solidFill>
                  <a:srgbClr val="00B0F0"/>
                </a:solidFill>
                <a:latin typeface="Comic Sans MS" panose="030F0702030302020204" pitchFamily="66" charset="0"/>
              </a:rPr>
              <a:t>typically in lightweight or budget models.</a:t>
            </a:r>
          </a:p>
          <a:p>
            <a:endParaRPr lang="en-US" sz="2400" dirty="0">
              <a:solidFill>
                <a:srgbClr val="00B0F0"/>
              </a:solidFill>
              <a:latin typeface="Comic Sans MS" panose="030F0702030302020204" pitchFamily="66" charset="0"/>
            </a:endParaRPr>
          </a:p>
          <a:p>
            <a:r>
              <a:rPr lang="en-US" sz="2400" dirty="0">
                <a:solidFill>
                  <a:srgbClr val="FFFF00"/>
                </a:solidFill>
                <a:latin typeface="Comic Sans MS" panose="030F0702030302020204" pitchFamily="66" charset="0"/>
              </a:rPr>
              <a:t>4.Hybrid storage </a:t>
            </a:r>
            <a:r>
              <a:rPr lang="en-US" sz="2400" dirty="0">
                <a:solidFill>
                  <a:srgbClr val="00B0F0"/>
                </a:solidFill>
                <a:latin typeface="Comic Sans MS" panose="030F0702030302020204" pitchFamily="66" charset="0"/>
              </a:rPr>
              <a:t>is the least common, with only 8 laptops, indicating minimal use of combined SSD + HDD setups.</a:t>
            </a:r>
            <a:endParaRPr lang="en-IN" sz="2400" dirty="0">
              <a:solidFill>
                <a:srgbClr val="00B0F0"/>
              </a:solidFill>
              <a:latin typeface="Comic Sans MS" panose="030F0702030302020204" pitchFamily="66" charset="0"/>
            </a:endParaRPr>
          </a:p>
        </p:txBody>
      </p:sp>
    </p:spTree>
    <p:extLst>
      <p:ext uri="{BB962C8B-B14F-4D97-AF65-F5344CB8AC3E}">
        <p14:creationId xmlns:p14="http://schemas.microsoft.com/office/powerpoint/2010/main" val="34681320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B7323-FBE5-9689-42CB-5AD16C540514}"/>
              </a:ext>
            </a:extLst>
          </p:cNvPr>
          <p:cNvSpPr>
            <a:spLocks noGrp="1"/>
          </p:cNvSpPr>
          <p:nvPr>
            <p:ph type="title"/>
          </p:nvPr>
        </p:nvSpPr>
        <p:spPr>
          <a:xfrm>
            <a:off x="315686" y="365126"/>
            <a:ext cx="11506200" cy="984704"/>
          </a:xfrm>
        </p:spPr>
        <p:txBody>
          <a:bodyPr>
            <a:normAutofit/>
          </a:bodyPr>
          <a:lstStyle/>
          <a:p>
            <a:r>
              <a:rPr lang="en-US" sz="3600" b="1" dirty="0">
                <a:solidFill>
                  <a:srgbClr val="00B050"/>
                </a:solidFill>
                <a:latin typeface="+mn-lt"/>
              </a:rPr>
              <a:t>25.1 Average Price of Laptops BY Primary Storage Type </a:t>
            </a:r>
            <a:endParaRPr lang="en-IN" sz="3600" b="1" dirty="0">
              <a:solidFill>
                <a:srgbClr val="00B050"/>
              </a:solidFill>
              <a:latin typeface="+mn-lt"/>
            </a:endParaRPr>
          </a:p>
        </p:txBody>
      </p:sp>
      <p:pic>
        <p:nvPicPr>
          <p:cNvPr id="6" name="Content Placeholder 5">
            <a:extLst>
              <a:ext uri="{FF2B5EF4-FFF2-40B4-BE49-F238E27FC236}">
                <a16:creationId xmlns:a16="http://schemas.microsoft.com/office/drawing/2014/main" id="{51D9329A-6210-52BA-0330-3B5134E66CAE}"/>
              </a:ext>
            </a:extLst>
          </p:cNvPr>
          <p:cNvPicPr>
            <a:picLocks noGrp="1" noChangeAspect="1"/>
          </p:cNvPicPr>
          <p:nvPr>
            <p:ph sz="half" idx="1"/>
          </p:nvPr>
        </p:nvPicPr>
        <p:blipFill>
          <a:blip r:embed="rId2"/>
          <a:stretch>
            <a:fillRect/>
          </a:stretch>
        </p:blipFill>
        <p:spPr>
          <a:xfrm>
            <a:off x="97972" y="1513114"/>
            <a:ext cx="5431972" cy="4833257"/>
          </a:xfrm>
        </p:spPr>
      </p:pic>
      <p:sp>
        <p:nvSpPr>
          <p:cNvPr id="4" name="Content Placeholder 3">
            <a:extLst>
              <a:ext uri="{FF2B5EF4-FFF2-40B4-BE49-F238E27FC236}">
                <a16:creationId xmlns:a16="http://schemas.microsoft.com/office/drawing/2014/main" id="{34104751-5EFA-60B5-2866-2DDC4364D963}"/>
              </a:ext>
            </a:extLst>
          </p:cNvPr>
          <p:cNvSpPr>
            <a:spLocks noGrp="1"/>
          </p:cNvSpPr>
          <p:nvPr>
            <p:ph sz="half" idx="2"/>
          </p:nvPr>
        </p:nvSpPr>
        <p:spPr>
          <a:xfrm>
            <a:off x="5910943" y="1513114"/>
            <a:ext cx="5910943" cy="4833257"/>
          </a:xfrm>
        </p:spPr>
        <p:txBody>
          <a:bodyPr>
            <a:normAutofit fontScale="77500" lnSpcReduction="20000"/>
          </a:bodyPr>
          <a:lstStyle/>
          <a:p>
            <a:r>
              <a:rPr lang="en-US" dirty="0">
                <a:solidFill>
                  <a:srgbClr val="FFC000"/>
                </a:solidFill>
                <a:latin typeface="Comic Sans MS" panose="030F0702030302020204" pitchFamily="66" charset="0"/>
              </a:rPr>
              <a:t>1.SSDs are associated with the highest average price (€1391.90), </a:t>
            </a:r>
            <a:r>
              <a:rPr lang="en-US" dirty="0">
                <a:solidFill>
                  <a:srgbClr val="00B0F0"/>
                </a:solidFill>
                <a:latin typeface="Comic Sans MS" panose="030F0702030302020204" pitchFamily="66" charset="0"/>
              </a:rPr>
              <a:t>reflecting their performance advantages and common use in premium models.</a:t>
            </a:r>
          </a:p>
          <a:p>
            <a:endParaRPr lang="en-US" dirty="0">
              <a:solidFill>
                <a:srgbClr val="00B0F0"/>
              </a:solidFill>
              <a:latin typeface="Comic Sans MS" panose="030F0702030302020204" pitchFamily="66" charset="0"/>
            </a:endParaRPr>
          </a:p>
          <a:p>
            <a:r>
              <a:rPr lang="en-US" dirty="0">
                <a:solidFill>
                  <a:srgbClr val="FFC000"/>
                </a:solidFill>
                <a:latin typeface="Comic Sans MS" panose="030F0702030302020204" pitchFamily="66" charset="0"/>
              </a:rPr>
              <a:t>2.Hybrid storage has a moderate average price (€875.93), </a:t>
            </a:r>
            <a:r>
              <a:rPr lang="en-US" dirty="0">
                <a:solidFill>
                  <a:srgbClr val="00B0F0"/>
                </a:solidFill>
                <a:latin typeface="Comic Sans MS" panose="030F0702030302020204" pitchFamily="66" charset="0"/>
              </a:rPr>
              <a:t>indicating a balance of speed and capacity.</a:t>
            </a:r>
          </a:p>
          <a:p>
            <a:endParaRPr lang="en-US" dirty="0">
              <a:solidFill>
                <a:srgbClr val="00B0F0"/>
              </a:solidFill>
              <a:latin typeface="Comic Sans MS" panose="030F0702030302020204" pitchFamily="66" charset="0"/>
            </a:endParaRPr>
          </a:p>
          <a:p>
            <a:r>
              <a:rPr lang="en-US" dirty="0">
                <a:solidFill>
                  <a:srgbClr val="FFC000"/>
                </a:solidFill>
                <a:latin typeface="Comic Sans MS" panose="030F0702030302020204" pitchFamily="66" charset="0"/>
              </a:rPr>
              <a:t>3.HDD-based laptops average at €658.40, </a:t>
            </a:r>
            <a:r>
              <a:rPr lang="en-US" dirty="0">
                <a:solidFill>
                  <a:srgbClr val="00B0F0"/>
                </a:solidFill>
                <a:latin typeface="Comic Sans MS" panose="030F0702030302020204" pitchFamily="66" charset="0"/>
              </a:rPr>
              <a:t>often found in budget or older systems.</a:t>
            </a:r>
          </a:p>
          <a:p>
            <a:endParaRPr lang="en-US" dirty="0">
              <a:solidFill>
                <a:srgbClr val="00B0F0"/>
              </a:solidFill>
              <a:latin typeface="Comic Sans MS" panose="030F0702030302020204" pitchFamily="66" charset="0"/>
            </a:endParaRPr>
          </a:p>
          <a:p>
            <a:r>
              <a:rPr lang="en-US" dirty="0">
                <a:solidFill>
                  <a:srgbClr val="FFC000"/>
                </a:solidFill>
                <a:latin typeface="Comic Sans MS" panose="030F0702030302020204" pitchFamily="66" charset="0"/>
              </a:rPr>
              <a:t>4.Flash Storage laptops have the lowest average price (€544.99), </a:t>
            </a:r>
            <a:r>
              <a:rPr lang="en-US" dirty="0">
                <a:solidFill>
                  <a:srgbClr val="00B0F0"/>
                </a:solidFill>
                <a:latin typeface="Comic Sans MS" panose="030F0702030302020204" pitchFamily="66" charset="0"/>
              </a:rPr>
              <a:t>suggesting use in low-cost, ultra-portable devices.</a:t>
            </a:r>
            <a:endParaRPr lang="en-IN" dirty="0">
              <a:solidFill>
                <a:srgbClr val="00B0F0"/>
              </a:solidFill>
              <a:latin typeface="Comic Sans MS" panose="030F0702030302020204" pitchFamily="66" charset="0"/>
            </a:endParaRPr>
          </a:p>
        </p:txBody>
      </p:sp>
    </p:spTree>
    <p:extLst>
      <p:ext uri="{BB962C8B-B14F-4D97-AF65-F5344CB8AC3E}">
        <p14:creationId xmlns:p14="http://schemas.microsoft.com/office/powerpoint/2010/main" val="27244548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E584E-5695-3B7D-C542-9FF40D979089}"/>
              </a:ext>
            </a:extLst>
          </p:cNvPr>
          <p:cNvSpPr>
            <a:spLocks noGrp="1"/>
          </p:cNvSpPr>
          <p:nvPr>
            <p:ph type="title"/>
          </p:nvPr>
        </p:nvSpPr>
        <p:spPr>
          <a:xfrm>
            <a:off x="195943" y="195943"/>
            <a:ext cx="11157857" cy="892629"/>
          </a:xfrm>
        </p:spPr>
        <p:txBody>
          <a:bodyPr/>
          <a:lstStyle/>
          <a:p>
            <a:r>
              <a:rPr lang="en-US" b="1" dirty="0">
                <a:solidFill>
                  <a:srgbClr val="00B050"/>
                </a:solidFill>
                <a:latin typeface="+mn-lt"/>
              </a:rPr>
              <a:t>26.Secondary Storage Type</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F20D7762-DA0F-7D56-EF93-F3CE5CDB3935}"/>
              </a:ext>
            </a:extLst>
          </p:cNvPr>
          <p:cNvPicPr>
            <a:picLocks noGrp="1" noChangeAspect="1"/>
          </p:cNvPicPr>
          <p:nvPr>
            <p:ph sz="half" idx="1"/>
          </p:nvPr>
        </p:nvPicPr>
        <p:blipFill>
          <a:blip r:embed="rId2"/>
          <a:stretch>
            <a:fillRect/>
          </a:stretch>
        </p:blipFill>
        <p:spPr>
          <a:xfrm>
            <a:off x="359229" y="1404257"/>
            <a:ext cx="5736771" cy="5007429"/>
          </a:xfrm>
        </p:spPr>
      </p:pic>
      <p:sp>
        <p:nvSpPr>
          <p:cNvPr id="4" name="Content Placeholder 3">
            <a:extLst>
              <a:ext uri="{FF2B5EF4-FFF2-40B4-BE49-F238E27FC236}">
                <a16:creationId xmlns:a16="http://schemas.microsoft.com/office/drawing/2014/main" id="{86F66EC5-9611-3CCA-AFB5-EA37465E1B42}"/>
              </a:ext>
            </a:extLst>
          </p:cNvPr>
          <p:cNvSpPr>
            <a:spLocks noGrp="1"/>
          </p:cNvSpPr>
          <p:nvPr>
            <p:ph sz="half" idx="2"/>
          </p:nvPr>
        </p:nvSpPr>
        <p:spPr>
          <a:xfrm>
            <a:off x="6444343" y="1317170"/>
            <a:ext cx="5551713" cy="5246915"/>
          </a:xfrm>
        </p:spPr>
        <p:txBody>
          <a:bodyPr>
            <a:normAutofit lnSpcReduction="10000"/>
          </a:bodyPr>
          <a:lstStyle/>
          <a:p>
            <a:r>
              <a:rPr lang="en-US" sz="2400" dirty="0">
                <a:solidFill>
                  <a:srgbClr val="FFFF00"/>
                </a:solidFill>
                <a:latin typeface="Comic Sans MS" panose="030F0702030302020204" pitchFamily="66" charset="0"/>
              </a:rPr>
              <a:t>1 A majority of laptops (1067) have no secondary storage</a:t>
            </a:r>
            <a:r>
              <a:rPr lang="en-US" sz="2400" dirty="0">
                <a:solidFill>
                  <a:srgbClr val="00B0F0"/>
                </a:solidFill>
                <a:latin typeface="Comic Sans MS" panose="030F0702030302020204" pitchFamily="66" charset="0"/>
              </a:rPr>
              <a:t>, highlighting a market trend toward single-storage configurations (usually SSD-only).</a:t>
            </a:r>
          </a:p>
          <a:p>
            <a:endParaRPr lang="en-US" sz="2400" dirty="0">
              <a:solidFill>
                <a:srgbClr val="00B0F0"/>
              </a:solidFill>
              <a:latin typeface="Comic Sans MS" panose="030F0702030302020204" pitchFamily="66" charset="0"/>
            </a:endParaRPr>
          </a:p>
          <a:p>
            <a:r>
              <a:rPr lang="en-US" sz="2400" dirty="0">
                <a:solidFill>
                  <a:srgbClr val="00B0F0"/>
                </a:solidFill>
                <a:latin typeface="Comic Sans MS" panose="030F0702030302020204" pitchFamily="66" charset="0"/>
              </a:rPr>
              <a:t>2.HDDs are the most common form of secondary storage (202 laptops), likely added for extra capacity alongside a primary SSD.</a:t>
            </a:r>
          </a:p>
          <a:p>
            <a:endParaRPr lang="en-US" sz="2400" dirty="0">
              <a:solidFill>
                <a:srgbClr val="00B0F0"/>
              </a:solidFill>
              <a:latin typeface="Comic Sans MS" panose="030F0702030302020204" pitchFamily="66" charset="0"/>
            </a:endParaRPr>
          </a:p>
          <a:p>
            <a:r>
              <a:rPr lang="en-US" sz="2400" dirty="0">
                <a:solidFill>
                  <a:srgbClr val="00B0F0"/>
                </a:solidFill>
                <a:latin typeface="Comic Sans MS" panose="030F0702030302020204" pitchFamily="66" charset="0"/>
              </a:rPr>
              <a:t>3.Very few laptops have secondary SSDs (4) or Hybrid drives (2), indicating that these configurations are rare and likely limited to high-end or niche use cases.</a:t>
            </a:r>
            <a:endParaRPr lang="en-IN" sz="2400" dirty="0">
              <a:solidFill>
                <a:srgbClr val="00B0F0"/>
              </a:solidFill>
              <a:latin typeface="Comic Sans MS" panose="030F0702030302020204" pitchFamily="66" charset="0"/>
            </a:endParaRPr>
          </a:p>
        </p:txBody>
      </p:sp>
    </p:spTree>
    <p:extLst>
      <p:ext uri="{BB962C8B-B14F-4D97-AF65-F5344CB8AC3E}">
        <p14:creationId xmlns:p14="http://schemas.microsoft.com/office/powerpoint/2010/main" val="3248574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1FC44-AAE9-B46B-B5D1-7A13F901C19E}"/>
              </a:ext>
            </a:extLst>
          </p:cNvPr>
          <p:cNvSpPr>
            <a:spLocks noGrp="1"/>
          </p:cNvSpPr>
          <p:nvPr>
            <p:ph type="title"/>
          </p:nvPr>
        </p:nvSpPr>
        <p:spPr>
          <a:xfrm>
            <a:off x="337457" y="217714"/>
            <a:ext cx="11016343" cy="816429"/>
          </a:xfrm>
        </p:spPr>
        <p:txBody>
          <a:bodyPr>
            <a:normAutofit/>
          </a:bodyPr>
          <a:lstStyle/>
          <a:p>
            <a:r>
              <a:rPr lang="en-US" sz="4000" b="1" dirty="0">
                <a:solidFill>
                  <a:srgbClr val="00B050"/>
                </a:solidFill>
                <a:latin typeface="+mn-lt"/>
              </a:rPr>
              <a:t>27.Gpu Company:</a:t>
            </a:r>
            <a:endParaRPr lang="en-IN" sz="4000" b="1" dirty="0">
              <a:solidFill>
                <a:srgbClr val="00B050"/>
              </a:solidFill>
              <a:latin typeface="+mn-lt"/>
            </a:endParaRPr>
          </a:p>
        </p:txBody>
      </p:sp>
      <p:pic>
        <p:nvPicPr>
          <p:cNvPr id="6" name="Content Placeholder 5">
            <a:extLst>
              <a:ext uri="{FF2B5EF4-FFF2-40B4-BE49-F238E27FC236}">
                <a16:creationId xmlns:a16="http://schemas.microsoft.com/office/drawing/2014/main" id="{F4BBFECE-1B9C-8E1E-D575-BE5D84664CE2}"/>
              </a:ext>
            </a:extLst>
          </p:cNvPr>
          <p:cNvPicPr>
            <a:picLocks noGrp="1" noChangeAspect="1"/>
          </p:cNvPicPr>
          <p:nvPr>
            <p:ph sz="half" idx="1"/>
          </p:nvPr>
        </p:nvPicPr>
        <p:blipFill>
          <a:blip r:embed="rId2"/>
          <a:stretch>
            <a:fillRect/>
          </a:stretch>
        </p:blipFill>
        <p:spPr>
          <a:xfrm>
            <a:off x="195943" y="1273629"/>
            <a:ext cx="6694714" cy="5290457"/>
          </a:xfrm>
        </p:spPr>
      </p:pic>
      <p:sp>
        <p:nvSpPr>
          <p:cNvPr id="4" name="Content Placeholder 3">
            <a:extLst>
              <a:ext uri="{FF2B5EF4-FFF2-40B4-BE49-F238E27FC236}">
                <a16:creationId xmlns:a16="http://schemas.microsoft.com/office/drawing/2014/main" id="{4EBD4857-4C1B-8DD9-7DF7-CA1E729188DB}"/>
              </a:ext>
            </a:extLst>
          </p:cNvPr>
          <p:cNvSpPr>
            <a:spLocks noGrp="1"/>
          </p:cNvSpPr>
          <p:nvPr>
            <p:ph sz="half" idx="2"/>
          </p:nvPr>
        </p:nvSpPr>
        <p:spPr>
          <a:xfrm>
            <a:off x="7239000" y="359229"/>
            <a:ext cx="4757057" cy="6204857"/>
          </a:xfrm>
        </p:spPr>
        <p:txBody>
          <a:bodyPr>
            <a:normAutofit/>
          </a:bodyPr>
          <a:lstStyle/>
          <a:p>
            <a:r>
              <a:rPr lang="en-US" sz="2400" dirty="0">
                <a:solidFill>
                  <a:srgbClr val="00B0F0"/>
                </a:solidFill>
                <a:latin typeface="Comic Sans MS" panose="030F0702030302020204" pitchFamily="66" charset="0"/>
              </a:rPr>
              <a:t>1.Intel holds the largest share at 55.2%, indicating a dominant position in the GPU market. </a:t>
            </a:r>
          </a:p>
          <a:p>
            <a:endParaRPr lang="en-US" sz="2400" dirty="0">
              <a:solidFill>
                <a:srgbClr val="00B0F0"/>
              </a:solidFill>
              <a:latin typeface="Comic Sans MS" panose="030F0702030302020204" pitchFamily="66" charset="0"/>
            </a:endParaRPr>
          </a:p>
          <a:p>
            <a:r>
              <a:rPr lang="en-US" sz="2400" dirty="0">
                <a:solidFill>
                  <a:srgbClr val="00B0F0"/>
                </a:solidFill>
                <a:latin typeface="Comic Sans MS" panose="030F0702030302020204" pitchFamily="66" charset="0"/>
              </a:rPr>
              <a:t>   2.Nvidia is the second-largest with 31.1%, closely trailing Intel, highlighting strong competition. </a:t>
            </a:r>
          </a:p>
          <a:p>
            <a:endParaRPr lang="en-US" sz="2400" dirty="0">
              <a:solidFill>
                <a:srgbClr val="00B0F0"/>
              </a:solidFill>
              <a:latin typeface="Comic Sans MS" panose="030F0702030302020204" pitchFamily="66" charset="0"/>
            </a:endParaRPr>
          </a:p>
          <a:p>
            <a:r>
              <a:rPr lang="en-US" sz="2400" dirty="0">
                <a:solidFill>
                  <a:srgbClr val="00B0F0"/>
                </a:solidFill>
                <a:latin typeface="Comic Sans MS" panose="030F0702030302020204" pitchFamily="66" charset="0"/>
              </a:rPr>
              <a:t>   3.AMD and ARM have significantly smaller shares, at 13.6% and 0.1% respectively, suggesting a much smaller presence in the GPU market.</a:t>
            </a:r>
            <a:endParaRPr lang="en-IN" sz="2400" dirty="0">
              <a:solidFill>
                <a:srgbClr val="00B0F0"/>
              </a:solidFill>
              <a:latin typeface="Comic Sans MS" panose="030F0702030302020204" pitchFamily="66" charset="0"/>
            </a:endParaRPr>
          </a:p>
        </p:txBody>
      </p:sp>
    </p:spTree>
    <p:extLst>
      <p:ext uri="{BB962C8B-B14F-4D97-AF65-F5344CB8AC3E}">
        <p14:creationId xmlns:p14="http://schemas.microsoft.com/office/powerpoint/2010/main" val="31609947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2AB4A-3422-3BD9-0D9B-5EE288B600F1}"/>
              </a:ext>
            </a:extLst>
          </p:cNvPr>
          <p:cNvSpPr>
            <a:spLocks noGrp="1"/>
          </p:cNvSpPr>
          <p:nvPr>
            <p:ph type="title"/>
          </p:nvPr>
        </p:nvSpPr>
        <p:spPr>
          <a:xfrm>
            <a:off x="457200" y="174171"/>
            <a:ext cx="10896600" cy="1121229"/>
          </a:xfrm>
        </p:spPr>
        <p:txBody>
          <a:bodyPr/>
          <a:lstStyle/>
          <a:p>
            <a:r>
              <a:rPr lang="en-US" b="1" dirty="0">
                <a:solidFill>
                  <a:srgbClr val="00B050"/>
                </a:solidFill>
                <a:latin typeface="+mn-lt"/>
              </a:rPr>
              <a:t>27.1 Average Price BY GPU Company:</a:t>
            </a:r>
            <a:endParaRPr lang="en-IN" b="1" dirty="0">
              <a:solidFill>
                <a:srgbClr val="00B050"/>
              </a:solidFill>
              <a:latin typeface="+mn-lt"/>
            </a:endParaRPr>
          </a:p>
        </p:txBody>
      </p:sp>
      <p:pic>
        <p:nvPicPr>
          <p:cNvPr id="6" name="Content Placeholder 5">
            <a:extLst>
              <a:ext uri="{FF2B5EF4-FFF2-40B4-BE49-F238E27FC236}">
                <a16:creationId xmlns:a16="http://schemas.microsoft.com/office/drawing/2014/main" id="{5B7EFF8D-FE34-D26F-C61C-971AD519A8C1}"/>
              </a:ext>
            </a:extLst>
          </p:cNvPr>
          <p:cNvPicPr>
            <a:picLocks noGrp="1" noChangeAspect="1"/>
          </p:cNvPicPr>
          <p:nvPr>
            <p:ph sz="half" idx="1"/>
          </p:nvPr>
        </p:nvPicPr>
        <p:blipFill>
          <a:blip r:embed="rId2"/>
          <a:stretch>
            <a:fillRect/>
          </a:stretch>
        </p:blipFill>
        <p:spPr>
          <a:xfrm>
            <a:off x="261258" y="1589314"/>
            <a:ext cx="6106885" cy="4833257"/>
          </a:xfrm>
        </p:spPr>
      </p:pic>
      <p:sp>
        <p:nvSpPr>
          <p:cNvPr id="4" name="Content Placeholder 3">
            <a:extLst>
              <a:ext uri="{FF2B5EF4-FFF2-40B4-BE49-F238E27FC236}">
                <a16:creationId xmlns:a16="http://schemas.microsoft.com/office/drawing/2014/main" id="{08054832-C7ED-BB01-3D1F-1D151EF53830}"/>
              </a:ext>
            </a:extLst>
          </p:cNvPr>
          <p:cNvSpPr>
            <a:spLocks noGrp="1"/>
          </p:cNvSpPr>
          <p:nvPr>
            <p:ph sz="half" idx="2"/>
          </p:nvPr>
        </p:nvSpPr>
        <p:spPr>
          <a:xfrm>
            <a:off x="6672943" y="1295400"/>
            <a:ext cx="5257799" cy="5127169"/>
          </a:xfrm>
        </p:spPr>
        <p:txBody>
          <a:bodyPr>
            <a:normAutofit fontScale="92500" lnSpcReduction="20000"/>
          </a:bodyPr>
          <a:lstStyle/>
          <a:p>
            <a:r>
              <a:rPr lang="en-US" sz="2400" dirty="0">
                <a:solidFill>
                  <a:srgbClr val="FFFF00"/>
                </a:solidFill>
                <a:latin typeface="Comic Sans MS" panose="030F0702030302020204" pitchFamily="66" charset="0"/>
              </a:rPr>
              <a:t>1.Nvidia-powered laptops have the highest average price (~€1497), </a:t>
            </a:r>
            <a:r>
              <a:rPr lang="en-US" sz="2400" dirty="0">
                <a:solidFill>
                  <a:srgbClr val="00B0F0"/>
                </a:solidFill>
                <a:latin typeface="Comic Sans MS" panose="030F0702030302020204" pitchFamily="66" charset="0"/>
              </a:rPr>
              <a:t>indicating their presence in high-performance or gaming laptops.</a:t>
            </a:r>
          </a:p>
          <a:p>
            <a:endParaRPr lang="en-US" sz="2400" dirty="0">
              <a:solidFill>
                <a:srgbClr val="00B0F0"/>
              </a:solidFill>
              <a:latin typeface="Comic Sans MS" panose="030F0702030302020204" pitchFamily="66" charset="0"/>
            </a:endParaRPr>
          </a:p>
          <a:p>
            <a:r>
              <a:rPr lang="en-US" sz="2400" dirty="0">
                <a:solidFill>
                  <a:srgbClr val="FFFF00"/>
                </a:solidFill>
                <a:latin typeface="Comic Sans MS" panose="030F0702030302020204" pitchFamily="66" charset="0"/>
              </a:rPr>
              <a:t>2.Intel GPUs follow with an average of ~€1020</a:t>
            </a:r>
            <a:r>
              <a:rPr lang="en-US" sz="2400" dirty="0">
                <a:solidFill>
                  <a:srgbClr val="00B0F0"/>
                </a:solidFill>
                <a:latin typeface="Comic Sans MS" panose="030F0702030302020204" pitchFamily="66" charset="0"/>
              </a:rPr>
              <a:t>, often found in mid-range laptops.</a:t>
            </a:r>
          </a:p>
          <a:p>
            <a:endParaRPr lang="en-US" sz="2400" dirty="0">
              <a:solidFill>
                <a:srgbClr val="00B0F0"/>
              </a:solidFill>
              <a:latin typeface="Comic Sans MS" panose="030F0702030302020204" pitchFamily="66" charset="0"/>
            </a:endParaRPr>
          </a:p>
          <a:p>
            <a:r>
              <a:rPr lang="en-US" sz="2400" dirty="0">
                <a:solidFill>
                  <a:srgbClr val="FFFF00"/>
                </a:solidFill>
                <a:latin typeface="Comic Sans MS" panose="030F0702030302020204" pitchFamily="66" charset="0"/>
              </a:rPr>
              <a:t>3.AMD laptops average ~€778, </a:t>
            </a:r>
            <a:r>
              <a:rPr lang="en-US" sz="2400" dirty="0">
                <a:solidFill>
                  <a:srgbClr val="00B0F0"/>
                </a:solidFill>
                <a:latin typeface="Comic Sans MS" panose="030F0702030302020204" pitchFamily="66" charset="0"/>
              </a:rPr>
              <a:t>showing a balance of performance and affordability.</a:t>
            </a:r>
          </a:p>
          <a:p>
            <a:endParaRPr lang="en-US" sz="2400" dirty="0">
              <a:solidFill>
                <a:srgbClr val="00B0F0"/>
              </a:solidFill>
              <a:latin typeface="Comic Sans MS" panose="030F0702030302020204" pitchFamily="66" charset="0"/>
            </a:endParaRPr>
          </a:p>
          <a:p>
            <a:r>
              <a:rPr lang="en-US" sz="2400" dirty="0">
                <a:solidFill>
                  <a:srgbClr val="FFFF00"/>
                </a:solidFill>
                <a:latin typeface="Comic Sans MS" panose="030F0702030302020204" pitchFamily="66" charset="0"/>
              </a:rPr>
              <a:t>4.ARM-based GPUs have the lowest average price (~€659), </a:t>
            </a:r>
            <a:r>
              <a:rPr lang="en-US" sz="2400" dirty="0">
                <a:solidFill>
                  <a:srgbClr val="00B0F0"/>
                </a:solidFill>
                <a:latin typeface="Comic Sans MS" panose="030F0702030302020204" pitchFamily="66" charset="0"/>
              </a:rPr>
              <a:t>typically used in entry-level or lightweight devices.</a:t>
            </a:r>
            <a:endParaRPr lang="en-IN" sz="2400" dirty="0">
              <a:solidFill>
                <a:srgbClr val="00B0F0"/>
              </a:solidFill>
              <a:latin typeface="Comic Sans MS" panose="030F0702030302020204" pitchFamily="66" charset="0"/>
            </a:endParaRPr>
          </a:p>
        </p:txBody>
      </p:sp>
    </p:spTree>
    <p:extLst>
      <p:ext uri="{BB962C8B-B14F-4D97-AF65-F5344CB8AC3E}">
        <p14:creationId xmlns:p14="http://schemas.microsoft.com/office/powerpoint/2010/main" val="41207480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4A366-9657-433E-51E7-8012DDAEDFD7}"/>
              </a:ext>
            </a:extLst>
          </p:cNvPr>
          <p:cNvSpPr>
            <a:spLocks noGrp="1"/>
          </p:cNvSpPr>
          <p:nvPr>
            <p:ph type="title"/>
          </p:nvPr>
        </p:nvSpPr>
        <p:spPr>
          <a:xfrm>
            <a:off x="326571" y="195943"/>
            <a:ext cx="11647715" cy="1197429"/>
          </a:xfrm>
        </p:spPr>
        <p:txBody>
          <a:bodyPr>
            <a:normAutofit/>
          </a:bodyPr>
          <a:lstStyle/>
          <a:p>
            <a:r>
              <a:rPr lang="en-US" sz="3600" b="1" dirty="0">
                <a:solidFill>
                  <a:srgbClr val="00B050"/>
                </a:solidFill>
                <a:latin typeface="+mn-lt"/>
              </a:rPr>
              <a:t>28. Most frequent GPU MODEL used by Laptop Company</a:t>
            </a:r>
            <a:endParaRPr lang="en-IN" sz="3600" b="1" dirty="0">
              <a:solidFill>
                <a:srgbClr val="00B050"/>
              </a:solidFill>
              <a:latin typeface="+mn-lt"/>
            </a:endParaRPr>
          </a:p>
        </p:txBody>
      </p:sp>
      <p:pic>
        <p:nvPicPr>
          <p:cNvPr id="6" name="Content Placeholder 5">
            <a:extLst>
              <a:ext uri="{FF2B5EF4-FFF2-40B4-BE49-F238E27FC236}">
                <a16:creationId xmlns:a16="http://schemas.microsoft.com/office/drawing/2014/main" id="{C4ABCB66-B6AD-959B-D94B-A9DE72CB8060}"/>
              </a:ext>
            </a:extLst>
          </p:cNvPr>
          <p:cNvPicPr>
            <a:picLocks noGrp="1" noChangeAspect="1"/>
          </p:cNvPicPr>
          <p:nvPr>
            <p:ph sz="half" idx="1"/>
          </p:nvPr>
        </p:nvPicPr>
        <p:blipFill>
          <a:blip r:embed="rId2"/>
          <a:stretch>
            <a:fillRect/>
          </a:stretch>
        </p:blipFill>
        <p:spPr>
          <a:xfrm>
            <a:off x="326570" y="1393372"/>
            <a:ext cx="5301343" cy="5061857"/>
          </a:xfrm>
        </p:spPr>
      </p:pic>
      <p:sp>
        <p:nvSpPr>
          <p:cNvPr id="4" name="Content Placeholder 3">
            <a:extLst>
              <a:ext uri="{FF2B5EF4-FFF2-40B4-BE49-F238E27FC236}">
                <a16:creationId xmlns:a16="http://schemas.microsoft.com/office/drawing/2014/main" id="{DE4BFC7E-1ED8-18DC-EDF7-03F6F14E9417}"/>
              </a:ext>
            </a:extLst>
          </p:cNvPr>
          <p:cNvSpPr>
            <a:spLocks noGrp="1"/>
          </p:cNvSpPr>
          <p:nvPr>
            <p:ph sz="half" idx="2"/>
          </p:nvPr>
        </p:nvSpPr>
        <p:spPr>
          <a:xfrm>
            <a:off x="5932714" y="1393372"/>
            <a:ext cx="5932716" cy="5061857"/>
          </a:xfrm>
        </p:spPr>
        <p:txBody>
          <a:bodyPr>
            <a:normAutofit fontScale="92500" lnSpcReduction="20000"/>
          </a:bodyPr>
          <a:lstStyle/>
          <a:p>
            <a:r>
              <a:rPr lang="en-US" dirty="0">
                <a:solidFill>
                  <a:srgbClr val="FFC000"/>
                </a:solidFill>
              </a:rPr>
              <a:t>1.Intel HD Graphics 620 is the most common GPU in the dataset (280 laptops), followed by HD Graphics 520 (181 laptops</a:t>
            </a:r>
            <a:r>
              <a:rPr lang="en-US" dirty="0">
                <a:solidFill>
                  <a:srgbClr val="00B0F0"/>
                </a:solidFill>
              </a:rPr>
              <a:t>). These are integrated GPUs, commonly found in budget and productivity laptops.</a:t>
            </a:r>
          </a:p>
          <a:p>
            <a:endParaRPr lang="en-US" dirty="0">
              <a:solidFill>
                <a:srgbClr val="00B0F0"/>
              </a:solidFill>
            </a:endParaRPr>
          </a:p>
          <a:p>
            <a:r>
              <a:rPr lang="en-US" dirty="0">
                <a:solidFill>
                  <a:srgbClr val="00B0F0"/>
                </a:solidFill>
              </a:rPr>
              <a:t>2.UHD Graphics 620 (68 laptops) also indicates a preference for Intel's integrated solutions in newer models.</a:t>
            </a:r>
          </a:p>
          <a:p>
            <a:endParaRPr lang="en-US" dirty="0">
              <a:solidFill>
                <a:srgbClr val="00B0F0"/>
              </a:solidFill>
            </a:endParaRPr>
          </a:p>
          <a:p>
            <a:r>
              <a:rPr lang="en-US" dirty="0">
                <a:solidFill>
                  <a:srgbClr val="00B0F0"/>
                </a:solidFill>
              </a:rPr>
              <a:t>3.Nvidia GeForce GTX 1050 (66 laptops) and GTX 1060 (48 laptops) are the most popular dedicated GPUs, typically seen in gaming or high-performance laptops.</a:t>
            </a:r>
            <a:endParaRPr lang="en-IN" dirty="0">
              <a:solidFill>
                <a:srgbClr val="00B0F0"/>
              </a:solidFill>
            </a:endParaRPr>
          </a:p>
        </p:txBody>
      </p:sp>
    </p:spTree>
    <p:extLst>
      <p:ext uri="{BB962C8B-B14F-4D97-AF65-F5344CB8AC3E}">
        <p14:creationId xmlns:p14="http://schemas.microsoft.com/office/powerpoint/2010/main" val="22926238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4FE23-1BF1-272F-11DB-500E48731805}"/>
              </a:ext>
            </a:extLst>
          </p:cNvPr>
          <p:cNvSpPr>
            <a:spLocks noGrp="1"/>
          </p:cNvSpPr>
          <p:nvPr>
            <p:ph type="title"/>
          </p:nvPr>
        </p:nvSpPr>
        <p:spPr>
          <a:xfrm>
            <a:off x="283028" y="146958"/>
            <a:ext cx="6433458" cy="1126672"/>
          </a:xfrm>
        </p:spPr>
        <p:txBody>
          <a:bodyPr/>
          <a:lstStyle/>
          <a:p>
            <a:r>
              <a:rPr lang="en-US" b="1" dirty="0">
                <a:solidFill>
                  <a:srgbClr val="00B050"/>
                </a:solidFill>
              </a:rPr>
              <a:t>29.User Segment Analysis</a:t>
            </a:r>
            <a:endParaRPr lang="en-IN" b="1" dirty="0">
              <a:solidFill>
                <a:srgbClr val="00B050"/>
              </a:solidFill>
            </a:endParaRPr>
          </a:p>
        </p:txBody>
      </p:sp>
      <p:pic>
        <p:nvPicPr>
          <p:cNvPr id="6" name="Content Placeholder 5">
            <a:extLst>
              <a:ext uri="{FF2B5EF4-FFF2-40B4-BE49-F238E27FC236}">
                <a16:creationId xmlns:a16="http://schemas.microsoft.com/office/drawing/2014/main" id="{94792B4E-87C6-60F5-4167-B5C2ED8C9A10}"/>
              </a:ext>
            </a:extLst>
          </p:cNvPr>
          <p:cNvPicPr>
            <a:picLocks noGrp="1" noChangeAspect="1"/>
          </p:cNvPicPr>
          <p:nvPr>
            <p:ph sz="half" idx="1"/>
          </p:nvPr>
        </p:nvPicPr>
        <p:blipFill>
          <a:blip r:embed="rId2"/>
          <a:stretch>
            <a:fillRect/>
          </a:stretch>
        </p:blipFill>
        <p:spPr>
          <a:xfrm>
            <a:off x="283028" y="1812758"/>
            <a:ext cx="5924303" cy="4653356"/>
          </a:xfrm>
          <a:prstGeom prst="rect">
            <a:avLst/>
          </a:prstGeom>
        </p:spPr>
      </p:pic>
      <p:sp>
        <p:nvSpPr>
          <p:cNvPr id="4" name="Content Placeholder 3">
            <a:extLst>
              <a:ext uri="{FF2B5EF4-FFF2-40B4-BE49-F238E27FC236}">
                <a16:creationId xmlns:a16="http://schemas.microsoft.com/office/drawing/2014/main" id="{4BF38108-514D-A8F6-CD54-3A0646AD80CC}"/>
              </a:ext>
            </a:extLst>
          </p:cNvPr>
          <p:cNvSpPr>
            <a:spLocks noGrp="1"/>
          </p:cNvSpPr>
          <p:nvPr>
            <p:ph sz="half" idx="2"/>
          </p:nvPr>
        </p:nvSpPr>
        <p:spPr>
          <a:xfrm>
            <a:off x="6509084" y="1812759"/>
            <a:ext cx="5399888" cy="4408428"/>
          </a:xfrm>
        </p:spPr>
        <p:txBody>
          <a:bodyPr/>
          <a:lstStyle/>
          <a:p>
            <a:r>
              <a:rPr lang="en-US" b="1" dirty="0"/>
              <a:t>Insight:</a:t>
            </a:r>
          </a:p>
          <a:p>
            <a:endParaRPr lang="en-US" dirty="0"/>
          </a:p>
          <a:p>
            <a:r>
              <a:rPr lang="en-US" dirty="0">
                <a:solidFill>
                  <a:srgbClr val="00B0F0"/>
                </a:solidFill>
              </a:rPr>
              <a:t>Students dominate laptop distribution at 98.5%, while Professionals hold about 1.4 % and Gamers  hold about 0.1%</a:t>
            </a:r>
          </a:p>
          <a:p>
            <a:endParaRPr lang="en-IN" dirty="0"/>
          </a:p>
        </p:txBody>
      </p:sp>
    </p:spTree>
    <p:extLst>
      <p:ext uri="{BB962C8B-B14F-4D97-AF65-F5344CB8AC3E}">
        <p14:creationId xmlns:p14="http://schemas.microsoft.com/office/powerpoint/2010/main" val="27987768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EA0F8-BA61-79E7-E44A-11B5F4B4510A}"/>
              </a:ext>
            </a:extLst>
          </p:cNvPr>
          <p:cNvSpPr>
            <a:spLocks noGrp="1"/>
          </p:cNvSpPr>
          <p:nvPr>
            <p:ph type="title"/>
          </p:nvPr>
        </p:nvSpPr>
        <p:spPr>
          <a:xfrm>
            <a:off x="147296" y="87085"/>
            <a:ext cx="12044703" cy="1317171"/>
          </a:xfrm>
        </p:spPr>
        <p:txBody>
          <a:bodyPr>
            <a:normAutofit/>
          </a:bodyPr>
          <a:lstStyle/>
          <a:p>
            <a:r>
              <a:rPr lang="en-US" b="1" dirty="0"/>
              <a:t>Conclusion:</a:t>
            </a:r>
            <a:br>
              <a:rPr lang="en-US" b="1" dirty="0"/>
            </a:br>
            <a:r>
              <a:rPr lang="en-US" sz="2700" b="1" dirty="0">
                <a:solidFill>
                  <a:srgbClr val="FFFF00"/>
                </a:solidFill>
              </a:rPr>
              <a:t>Laptop price is mainly driven by RAM , CPU, Storage and Display Quality</a:t>
            </a:r>
            <a:endParaRPr lang="en-IN" sz="2700" b="1" dirty="0">
              <a:solidFill>
                <a:srgbClr val="FFFF00"/>
              </a:solidFill>
            </a:endParaRPr>
          </a:p>
        </p:txBody>
      </p:sp>
      <p:sp>
        <p:nvSpPr>
          <p:cNvPr id="6" name="Rectangle 3">
            <a:extLst>
              <a:ext uri="{FF2B5EF4-FFF2-40B4-BE49-F238E27FC236}">
                <a16:creationId xmlns:a16="http://schemas.microsoft.com/office/drawing/2014/main" id="{9846A739-1FF7-1856-1073-1A07129649E6}"/>
              </a:ext>
            </a:extLst>
          </p:cNvPr>
          <p:cNvSpPr>
            <a:spLocks noGrp="1" noChangeArrowheads="1"/>
          </p:cNvSpPr>
          <p:nvPr>
            <p:ph idx="1"/>
          </p:nvPr>
        </p:nvSpPr>
        <p:spPr bwMode="auto">
          <a:xfrm>
            <a:off x="147297" y="1631045"/>
            <a:ext cx="11897405"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FFFF00"/>
                </a:solidFill>
                <a:effectLst/>
                <a:latin typeface="Arial" panose="020B0604020202020204" pitchFamily="34" charset="0"/>
              </a:rPr>
              <a:t>1.Performance Components Drive Price: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Laptops with high-end </a:t>
            </a:r>
            <a:r>
              <a:rPr kumimoji="0" lang="en-US" altLang="en-US" sz="2000" b="1" i="0" u="none" strike="noStrike" cap="none" normalizeH="0" baseline="0" dirty="0">
                <a:ln>
                  <a:noFill/>
                </a:ln>
                <a:solidFill>
                  <a:schemeClr val="tx1"/>
                </a:solidFill>
                <a:effectLst/>
                <a:latin typeface="Arial" panose="020B0604020202020204" pitchFamily="34" charset="0"/>
              </a:rPr>
              <a:t>Intel or AMD CPUs</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dedicated NVIDIA GPUs</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SSD storage</a:t>
            </a:r>
            <a:r>
              <a:rPr kumimoji="0" lang="en-US" altLang="en-US" sz="2000" b="0" i="0" u="none" strike="noStrike" cap="none" normalizeH="0" baseline="0" dirty="0">
                <a:ln>
                  <a:noFill/>
                </a:ln>
                <a:solidFill>
                  <a:schemeClr val="tx1"/>
                </a:solidFill>
                <a:effectLst/>
                <a:latin typeface="Arial" panose="020B0604020202020204" pitchFamily="34" charset="0"/>
              </a:rPr>
              <a:t> are significantly more expensive.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RAM shows a strong positive correlation (</a:t>
            </a:r>
            <a:r>
              <a:rPr kumimoji="0" lang="en-US" altLang="en-US" sz="2000" b="1" i="0" u="none" strike="noStrike" cap="none" normalizeH="0" baseline="0" dirty="0">
                <a:ln>
                  <a:noFill/>
                </a:ln>
                <a:solidFill>
                  <a:schemeClr val="tx1"/>
                </a:solidFill>
                <a:effectLst/>
                <a:latin typeface="Arial" panose="020B0604020202020204" pitchFamily="34" charset="0"/>
              </a:rPr>
              <a:t>0.74</a:t>
            </a:r>
            <a:r>
              <a:rPr kumimoji="0" lang="en-US" altLang="en-US" sz="2000" b="0" i="0" u="none" strike="noStrike" cap="none" normalizeH="0" baseline="0" dirty="0">
                <a:ln>
                  <a:noFill/>
                </a:ln>
                <a:solidFill>
                  <a:schemeClr val="tx1"/>
                </a:solidFill>
                <a:effectLst/>
                <a:latin typeface="Arial" panose="020B0604020202020204" pitchFamily="34" charset="0"/>
              </a:rPr>
              <a:t>) with price, confirming it as a major cost factor.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FFFF00"/>
                </a:solidFill>
                <a:effectLst/>
                <a:latin typeface="Arial" panose="020B0604020202020204" pitchFamily="34" charset="0"/>
              </a:rPr>
              <a:t>2. </a:t>
            </a:r>
            <a:r>
              <a:rPr kumimoji="0" lang="en-US" altLang="en-US" sz="2000" b="1" i="0" u="none" strike="noStrike" cap="none" normalizeH="0" baseline="0" dirty="0">
                <a:ln>
                  <a:noFill/>
                </a:ln>
                <a:solidFill>
                  <a:srgbClr val="FFFF00"/>
                </a:solidFill>
                <a:effectLst/>
                <a:latin typeface="Arial" panose="020B0604020202020204" pitchFamily="34" charset="0"/>
              </a:rPr>
              <a:t>Storage Type and Capacity Matter:</a:t>
            </a:r>
            <a:endParaRPr kumimoji="0" lang="en-US" altLang="en-US" sz="2000" b="0" i="0" u="none" strike="noStrike" cap="none" normalizeH="0" baseline="0" dirty="0">
              <a:ln>
                <a:noFill/>
              </a:ln>
              <a:solidFill>
                <a:srgbClr val="FFFF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SSDs dominate</a:t>
            </a:r>
            <a:r>
              <a:rPr kumimoji="0" lang="en-US" altLang="en-US" sz="2000" b="0" i="0" u="none" strike="noStrike" cap="none" normalizeH="0" baseline="0" dirty="0">
                <a:ln>
                  <a:noFill/>
                </a:ln>
                <a:solidFill>
                  <a:schemeClr val="tx1"/>
                </a:solidFill>
                <a:effectLst/>
                <a:latin typeface="Arial" panose="020B0604020202020204" pitchFamily="34" charset="0"/>
              </a:rPr>
              <a:t> modern laptops for speed and reliability, replacing HDDs in most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Storage capacity alone doesn’t dictate price — premium devices often have less storage but faster SSDs.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FFFF00"/>
                </a:solidFill>
                <a:effectLst/>
                <a:latin typeface="Arial" panose="020B0604020202020204" pitchFamily="34" charset="0"/>
              </a:rPr>
              <a:t>3. </a:t>
            </a:r>
            <a:r>
              <a:rPr kumimoji="0" lang="en-US" altLang="en-US" sz="2000" b="1" i="0" u="none" strike="noStrike" cap="none" normalizeH="0" baseline="0" dirty="0">
                <a:ln>
                  <a:noFill/>
                </a:ln>
                <a:solidFill>
                  <a:srgbClr val="FFFF00"/>
                </a:solidFill>
                <a:effectLst/>
                <a:latin typeface="Arial" panose="020B0604020202020204" pitchFamily="34" charset="0"/>
              </a:rPr>
              <a:t>Display and Build Quality Add Premium Value:</a:t>
            </a:r>
            <a:endParaRPr kumimoji="0" lang="en-US" altLang="en-US" sz="2000" b="0" i="0" u="none" strike="noStrike" cap="none" normalizeH="0" baseline="0" dirty="0">
              <a:ln>
                <a:noFill/>
              </a:ln>
              <a:solidFill>
                <a:srgbClr val="FFFF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4K and Retina displays</a:t>
            </a:r>
            <a:r>
              <a:rPr kumimoji="0" lang="en-US" altLang="en-US" sz="2000" b="0" i="0" u="none" strike="noStrike" cap="none" normalizeH="0" baseline="0" dirty="0">
                <a:ln>
                  <a:noFill/>
                </a:ln>
                <a:solidFill>
                  <a:schemeClr val="tx1"/>
                </a:solidFill>
                <a:effectLst/>
                <a:latin typeface="Arial" panose="020B0604020202020204" pitchFamily="34" charset="0"/>
              </a:rPr>
              <a:t>, along with IPS technology, are found in higher-priced laptops due to their superior visuals.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Premium design and lightweight builds increase price even in mid-range configurations.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939531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D3450-EB51-880F-E4FE-5C9291DF9449}"/>
              </a:ext>
            </a:extLst>
          </p:cNvPr>
          <p:cNvSpPr>
            <a:spLocks noGrp="1"/>
          </p:cNvSpPr>
          <p:nvPr>
            <p:ph type="title"/>
          </p:nvPr>
        </p:nvSpPr>
        <p:spPr>
          <a:xfrm>
            <a:off x="174172" y="261257"/>
            <a:ext cx="11887200" cy="784461"/>
          </a:xfrm>
        </p:spPr>
        <p:txBody>
          <a:bodyPr/>
          <a:lstStyle/>
          <a:p>
            <a:r>
              <a:rPr lang="en-US" dirty="0"/>
              <a:t>Conclusion:</a:t>
            </a:r>
            <a:endParaRPr lang="en-IN" dirty="0"/>
          </a:p>
        </p:txBody>
      </p:sp>
      <p:sp>
        <p:nvSpPr>
          <p:cNvPr id="4" name="Rectangle 1">
            <a:extLst>
              <a:ext uri="{FF2B5EF4-FFF2-40B4-BE49-F238E27FC236}">
                <a16:creationId xmlns:a16="http://schemas.microsoft.com/office/drawing/2014/main" id="{50731C6E-61DE-0A84-2CE5-C63EB49975DF}"/>
              </a:ext>
            </a:extLst>
          </p:cNvPr>
          <p:cNvSpPr>
            <a:spLocks noGrp="1" noChangeArrowheads="1"/>
          </p:cNvSpPr>
          <p:nvPr>
            <p:ph idx="1"/>
          </p:nvPr>
        </p:nvSpPr>
        <p:spPr bwMode="auto">
          <a:xfrm>
            <a:off x="174172" y="1492915"/>
            <a:ext cx="118872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solidFill>
                  <a:srgbClr val="FFFF00"/>
                </a:solidFill>
                <a:latin typeface="Arial" panose="020B0604020202020204" pitchFamily="34" charset="0"/>
              </a:rPr>
              <a:t> 4.</a:t>
            </a:r>
            <a:r>
              <a:rPr kumimoji="0" lang="en-US" altLang="en-US" sz="2000" b="0" i="0" u="none" strike="noStrike" cap="none" normalizeH="0" baseline="0" dirty="0">
                <a:ln>
                  <a:noFill/>
                </a:ln>
                <a:solidFill>
                  <a:srgbClr val="FFFF00"/>
                </a:solidFill>
                <a:effectLst/>
                <a:latin typeface="Arial" panose="020B0604020202020204" pitchFamily="34" charset="0"/>
              </a:rPr>
              <a:t> </a:t>
            </a:r>
            <a:r>
              <a:rPr kumimoji="0" lang="en-US" altLang="en-US" sz="2000" b="1" i="0" u="none" strike="noStrike" cap="none" normalizeH="0" baseline="0" dirty="0">
                <a:ln>
                  <a:noFill/>
                </a:ln>
                <a:solidFill>
                  <a:srgbClr val="FFFF00"/>
                </a:solidFill>
                <a:effectLst/>
                <a:latin typeface="Arial" panose="020B0604020202020204" pitchFamily="34" charset="0"/>
              </a:rPr>
              <a:t>Brand and Market Position:</a:t>
            </a:r>
            <a:endParaRPr kumimoji="0" lang="en-US" altLang="en-US" sz="2000" b="0" i="0" u="none" strike="noStrike" cap="none" normalizeH="0" baseline="0" dirty="0">
              <a:ln>
                <a:noFill/>
              </a:ln>
              <a:solidFill>
                <a:srgbClr val="FFFF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Dell, Lenovo, and HP</a:t>
            </a:r>
            <a:r>
              <a:rPr kumimoji="0" lang="en-US" altLang="en-US" sz="2000" b="0" i="0" u="none" strike="noStrike" cap="none" normalizeH="0" baseline="0" dirty="0">
                <a:ln>
                  <a:noFill/>
                </a:ln>
                <a:solidFill>
                  <a:schemeClr val="tx1"/>
                </a:solidFill>
                <a:effectLst/>
                <a:latin typeface="Arial" panose="020B0604020202020204" pitchFamily="34" charset="0"/>
              </a:rPr>
              <a:t> dominate in both sales and revenue, driven by product range and customer trust.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Apple</a:t>
            </a:r>
            <a:r>
              <a:rPr kumimoji="0" lang="en-US" altLang="en-US" sz="2000" b="0" i="0" u="none" strike="noStrike" cap="none" normalizeH="0" baseline="0" dirty="0">
                <a:ln>
                  <a:noFill/>
                </a:ln>
                <a:solidFill>
                  <a:schemeClr val="tx1"/>
                </a:solidFill>
                <a:effectLst/>
                <a:latin typeface="Arial" panose="020B0604020202020204" pitchFamily="34" charset="0"/>
              </a:rPr>
              <a:t> commands a premium due to its exclusive macOS and design ecosystem.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FFFF00"/>
                </a:solidFill>
                <a:effectLst/>
                <a:latin typeface="Arial" panose="020B0604020202020204" pitchFamily="34" charset="0"/>
              </a:rPr>
              <a:t>5. </a:t>
            </a:r>
            <a:r>
              <a:rPr kumimoji="0" lang="en-US" altLang="en-US" sz="2000" b="1" i="0" u="none" strike="noStrike" cap="none" normalizeH="0" baseline="0" dirty="0">
                <a:ln>
                  <a:noFill/>
                </a:ln>
                <a:solidFill>
                  <a:srgbClr val="FFFF00"/>
                </a:solidFill>
                <a:effectLst/>
                <a:latin typeface="Arial" panose="020B0604020202020204" pitchFamily="34" charset="0"/>
              </a:rPr>
              <a:t>User Segmentation:</a:t>
            </a:r>
            <a:endParaRPr kumimoji="0" lang="en-US" altLang="en-US" sz="2000" b="0" i="0" u="none" strike="noStrike" cap="none" normalizeH="0" baseline="0" dirty="0">
              <a:ln>
                <a:noFill/>
              </a:ln>
              <a:solidFill>
                <a:srgbClr val="FFFF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Students make up </a:t>
            </a:r>
            <a:r>
              <a:rPr kumimoji="0" lang="en-US" altLang="en-US" sz="2000" b="1" i="0" u="none" strike="noStrike" cap="none" normalizeH="0" baseline="0" dirty="0">
                <a:ln>
                  <a:noFill/>
                </a:ln>
                <a:solidFill>
                  <a:schemeClr val="tx1"/>
                </a:solidFill>
                <a:effectLst/>
                <a:latin typeface="Arial" panose="020B0604020202020204" pitchFamily="34" charset="0"/>
              </a:rPr>
              <a:t>98.5% of users</a:t>
            </a:r>
            <a:r>
              <a:rPr kumimoji="0" lang="en-US" altLang="en-US" sz="2000" b="0" i="0" u="none" strike="noStrike" cap="none" normalizeH="0" baseline="0" dirty="0">
                <a:ln>
                  <a:noFill/>
                </a:ln>
                <a:solidFill>
                  <a:schemeClr val="tx1"/>
                </a:solidFill>
                <a:effectLst/>
                <a:latin typeface="Arial" panose="020B0604020202020204" pitchFamily="34" charset="0"/>
              </a:rPr>
              <a:t>, showing demand for affordable, all-rounder devices.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Professionals (1.4%) and gamers (0.1%) represent niche, high-value segments with potential for targeted marketing.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FFFF00"/>
                </a:solidFill>
                <a:effectLst/>
                <a:latin typeface="Arial" panose="020B0604020202020204" pitchFamily="34" charset="0"/>
              </a:rPr>
              <a:t>6.Price Distribution Patterns:</a:t>
            </a:r>
            <a:endParaRPr kumimoji="0" lang="en-US" altLang="en-US" sz="2000" b="0" i="0" u="none" strike="noStrike" cap="none" normalizeH="0" baseline="0" dirty="0">
              <a:ln>
                <a:noFill/>
              </a:ln>
              <a:solidFill>
                <a:srgbClr val="FFFF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Mid-range laptops (8–16 GB RAM, SSD, Intel i5/i7 CPUs) form the </a:t>
            </a:r>
            <a:r>
              <a:rPr kumimoji="0" lang="en-US" altLang="en-US" sz="2000" b="1" i="0" u="none" strike="noStrike" cap="none" normalizeH="0" baseline="0" dirty="0">
                <a:ln>
                  <a:noFill/>
                </a:ln>
                <a:solidFill>
                  <a:schemeClr val="tx1"/>
                </a:solidFill>
                <a:effectLst/>
                <a:latin typeface="Arial" panose="020B0604020202020204" pitchFamily="34" charset="0"/>
              </a:rPr>
              <a:t>core of the market</a:t>
            </a:r>
            <a:r>
              <a:rPr kumimoji="0" lang="en-US" altLang="en-US" sz="2000" b="0" i="0" u="none" strike="noStrike" cap="none" normalizeH="0" baseline="0" dirty="0">
                <a:ln>
                  <a:noFill/>
                </a:ln>
                <a:solidFill>
                  <a:schemeClr val="tx1"/>
                </a:solidFill>
                <a:effectLst/>
                <a:latin typeface="Arial" panose="020B0604020202020204" pitchFamily="34" charset="0"/>
              </a:rPr>
              <a:t>, balancing performance and affordability.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Ultra-premium laptops (32–64 GB RAM, NVIDIA GPUs, 4K screens) cater to professionals and creators.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96039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B023A-027E-A457-1B2C-ED62026EB4BD}"/>
              </a:ext>
            </a:extLst>
          </p:cNvPr>
          <p:cNvSpPr>
            <a:spLocks noGrp="1"/>
          </p:cNvSpPr>
          <p:nvPr>
            <p:ph type="title"/>
          </p:nvPr>
        </p:nvSpPr>
        <p:spPr>
          <a:xfrm>
            <a:off x="108857" y="108857"/>
            <a:ext cx="11974286" cy="1426029"/>
          </a:xfrm>
        </p:spPr>
        <p:txBody>
          <a:bodyPr>
            <a:normAutofit/>
          </a:bodyPr>
          <a:lstStyle/>
          <a:p>
            <a:r>
              <a:rPr lang="en-US" sz="3200" b="1" dirty="0">
                <a:solidFill>
                  <a:srgbClr val="FFFF00"/>
                </a:solidFill>
              </a:rPr>
              <a:t>Recommendations:</a:t>
            </a:r>
            <a:br>
              <a:rPr lang="en-US" sz="2400" dirty="0"/>
            </a:br>
            <a:r>
              <a:rPr lang="en-US" sz="2400" dirty="0">
                <a:solidFill>
                  <a:srgbClr val="00B0F0"/>
                </a:solidFill>
              </a:rPr>
              <a:t>Following recommendations can help manufacturers, retailers, and marketers </a:t>
            </a:r>
            <a:r>
              <a:rPr lang="en-US" sz="2400" b="1" dirty="0">
                <a:solidFill>
                  <a:srgbClr val="00B0F0"/>
                </a:solidFill>
              </a:rPr>
              <a:t>optimize pricing, improve sales, and align products with consumer demand</a:t>
            </a:r>
            <a:r>
              <a:rPr lang="en-US" sz="2400" dirty="0">
                <a:solidFill>
                  <a:srgbClr val="00B0F0"/>
                </a:solidFill>
              </a:rPr>
              <a:t>:</a:t>
            </a:r>
            <a:endParaRPr lang="en-IN" sz="2400" dirty="0">
              <a:solidFill>
                <a:srgbClr val="00B0F0"/>
              </a:solidFill>
            </a:endParaRPr>
          </a:p>
        </p:txBody>
      </p:sp>
      <p:sp>
        <p:nvSpPr>
          <p:cNvPr id="3" name="Content Placeholder 2">
            <a:extLst>
              <a:ext uri="{FF2B5EF4-FFF2-40B4-BE49-F238E27FC236}">
                <a16:creationId xmlns:a16="http://schemas.microsoft.com/office/drawing/2014/main" id="{77B6C5B3-2BC2-87FA-7804-240EE8A791FC}"/>
              </a:ext>
            </a:extLst>
          </p:cNvPr>
          <p:cNvSpPr>
            <a:spLocks noGrp="1"/>
          </p:cNvSpPr>
          <p:nvPr>
            <p:ph idx="1"/>
          </p:nvPr>
        </p:nvSpPr>
        <p:spPr>
          <a:xfrm>
            <a:off x="108857" y="1534886"/>
            <a:ext cx="11974286" cy="5214257"/>
          </a:xfrm>
        </p:spPr>
        <p:txBody>
          <a:bodyPr>
            <a:normAutofit fontScale="62500" lnSpcReduction="20000"/>
          </a:bodyPr>
          <a:lstStyle/>
          <a:p>
            <a:r>
              <a:rPr lang="en-US" b="1" dirty="0">
                <a:solidFill>
                  <a:srgbClr val="FFFF00"/>
                </a:solidFill>
              </a:rPr>
              <a:t>1. Expand Mid-Range Offerings (8–16 GB RAM, SSD, i5/i7 CPUs)</a:t>
            </a:r>
          </a:p>
          <a:p>
            <a:r>
              <a:rPr lang="en-US" dirty="0"/>
              <a:t>Most customers fall within this range — offer multiple configurations and emphasize </a:t>
            </a:r>
            <a:r>
              <a:rPr lang="en-US" b="1" dirty="0"/>
              <a:t>performance-for-value</a:t>
            </a:r>
            <a:r>
              <a:rPr lang="en-US" dirty="0"/>
              <a:t>.</a:t>
            </a:r>
          </a:p>
          <a:p>
            <a:r>
              <a:rPr lang="en-US" dirty="0"/>
              <a:t>Target students and professionals with affordable yet capable models.</a:t>
            </a:r>
          </a:p>
          <a:p>
            <a:endParaRPr lang="en-US" dirty="0"/>
          </a:p>
          <a:p>
            <a:r>
              <a:rPr lang="en-US" b="1" dirty="0">
                <a:solidFill>
                  <a:srgbClr val="FFFF00"/>
                </a:solidFill>
              </a:rPr>
              <a:t>2. Promote SSD-Only Configurations</a:t>
            </a:r>
          </a:p>
          <a:p>
            <a:r>
              <a:rPr lang="en-US" dirty="0"/>
              <a:t>Market SSDs as a major performance upgrade and phase out HDD-only options.</a:t>
            </a:r>
          </a:p>
          <a:p>
            <a:r>
              <a:rPr lang="en-US" dirty="0"/>
              <a:t>Use hybrid (SSD + HDD) models for creative or enterprise users needing large storage.</a:t>
            </a:r>
          </a:p>
          <a:p>
            <a:endParaRPr lang="en-US" dirty="0"/>
          </a:p>
          <a:p>
            <a:r>
              <a:rPr lang="en-US" b="1" dirty="0">
                <a:solidFill>
                  <a:srgbClr val="FFFF00"/>
                </a:solidFill>
              </a:rPr>
              <a:t>3. Differentiate Product Lines by Audience</a:t>
            </a:r>
          </a:p>
          <a:p>
            <a:r>
              <a:rPr lang="en-US" b="1" dirty="0"/>
              <a:t>Students:</a:t>
            </a:r>
            <a:r>
              <a:rPr lang="en-US" dirty="0"/>
              <a:t> Affordable notebooks with 8 GB RAM and SSDs.</a:t>
            </a:r>
          </a:p>
          <a:p>
            <a:r>
              <a:rPr lang="en-US" b="1" dirty="0"/>
              <a:t>Professionals:</a:t>
            </a:r>
            <a:r>
              <a:rPr lang="en-US" dirty="0"/>
              <a:t> Lightweight </a:t>
            </a:r>
            <a:r>
              <a:rPr lang="en-US" dirty="0" err="1"/>
              <a:t>ultrabooks</a:t>
            </a:r>
            <a:r>
              <a:rPr lang="en-US" dirty="0"/>
              <a:t> with long battery life and Full HD displays.</a:t>
            </a:r>
          </a:p>
          <a:p>
            <a:r>
              <a:rPr lang="en-US" b="1" dirty="0"/>
              <a:t>Gamers/Creators:</a:t>
            </a:r>
            <a:r>
              <a:rPr lang="en-US" dirty="0"/>
              <a:t> Laptops with NVIDIA GPUs, 16–32 GB RAM, and 4K screens.</a:t>
            </a:r>
          </a:p>
          <a:p>
            <a:endParaRPr lang="en-US" dirty="0"/>
          </a:p>
          <a:p>
            <a:r>
              <a:rPr lang="en-US" b="1" dirty="0">
                <a:solidFill>
                  <a:srgbClr val="FFFF00"/>
                </a:solidFill>
              </a:rPr>
              <a:t>4. Invest in Display and Design Innovation</a:t>
            </a:r>
          </a:p>
          <a:p>
            <a:r>
              <a:rPr lang="en-US" dirty="0"/>
              <a:t>Enhance visual quality across models — even mid-range laptops can benefit from IPS or high-refresh displays.</a:t>
            </a:r>
          </a:p>
          <a:p>
            <a:r>
              <a:rPr lang="en-US" dirty="0"/>
              <a:t>Use premium build materials and sleek form factors to boost perceived value.</a:t>
            </a:r>
          </a:p>
          <a:p>
            <a:endParaRPr lang="en-IN" dirty="0"/>
          </a:p>
        </p:txBody>
      </p:sp>
    </p:spTree>
    <p:extLst>
      <p:ext uri="{BB962C8B-B14F-4D97-AF65-F5344CB8AC3E}">
        <p14:creationId xmlns:p14="http://schemas.microsoft.com/office/powerpoint/2010/main" val="1533302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E1CE5-E4A3-FD1A-876C-D7A28E3C0961}"/>
              </a:ext>
            </a:extLst>
          </p:cNvPr>
          <p:cNvSpPr>
            <a:spLocks noGrp="1"/>
          </p:cNvSpPr>
          <p:nvPr>
            <p:ph type="title"/>
          </p:nvPr>
        </p:nvSpPr>
        <p:spPr>
          <a:xfrm>
            <a:off x="0" y="1"/>
            <a:ext cx="12192000" cy="827314"/>
          </a:xfrm>
        </p:spPr>
        <p:txBody>
          <a:bodyPr/>
          <a:lstStyle/>
          <a:p>
            <a:r>
              <a:rPr lang="en-US" b="1" dirty="0"/>
              <a:t>Recommendations:</a:t>
            </a:r>
            <a:endParaRPr lang="en-IN" b="1" dirty="0"/>
          </a:p>
        </p:txBody>
      </p:sp>
      <p:sp>
        <p:nvSpPr>
          <p:cNvPr id="3" name="Content Placeholder 2">
            <a:extLst>
              <a:ext uri="{FF2B5EF4-FFF2-40B4-BE49-F238E27FC236}">
                <a16:creationId xmlns:a16="http://schemas.microsoft.com/office/drawing/2014/main" id="{CB4F6045-3B57-7914-2765-1B4F8E086852}"/>
              </a:ext>
            </a:extLst>
          </p:cNvPr>
          <p:cNvSpPr>
            <a:spLocks noGrp="1"/>
          </p:cNvSpPr>
          <p:nvPr>
            <p:ph idx="1"/>
          </p:nvPr>
        </p:nvSpPr>
        <p:spPr>
          <a:xfrm>
            <a:off x="-1" y="1088570"/>
            <a:ext cx="12017829" cy="5584373"/>
          </a:xfrm>
        </p:spPr>
        <p:txBody>
          <a:bodyPr>
            <a:normAutofit fontScale="77500" lnSpcReduction="20000"/>
          </a:bodyPr>
          <a:lstStyle/>
          <a:p>
            <a:r>
              <a:rPr lang="en-US" b="1" dirty="0">
                <a:solidFill>
                  <a:srgbClr val="FFFF00"/>
                </a:solidFill>
              </a:rPr>
              <a:t>5. Use Data-Driven Pricing and Bundling</a:t>
            </a:r>
          </a:p>
          <a:p>
            <a:r>
              <a:rPr lang="en-US" dirty="0"/>
              <a:t>Offer promotional bundles (Office suite, antivirus, warranty) to add value.</a:t>
            </a:r>
          </a:p>
          <a:p>
            <a:r>
              <a:rPr lang="en-US" dirty="0"/>
              <a:t>Analyze demand trends to dynamically adjust pricing and avoid overstock of low-demand models.</a:t>
            </a:r>
          </a:p>
          <a:p>
            <a:endParaRPr lang="en-US" dirty="0"/>
          </a:p>
          <a:p>
            <a:r>
              <a:rPr lang="en-US" b="1" dirty="0">
                <a:solidFill>
                  <a:srgbClr val="FFFF00"/>
                </a:solidFill>
              </a:rPr>
              <a:t>6. Increase Focus on GPU-Driven Segments</a:t>
            </a:r>
          </a:p>
          <a:p>
            <a:r>
              <a:rPr lang="en-US" dirty="0"/>
              <a:t>With the rise of gaming, design, and AI-related workloads, prioritize </a:t>
            </a:r>
            <a:r>
              <a:rPr lang="en-US" b="1" dirty="0"/>
              <a:t>NVIDIA and AMD GPU laptops</a:t>
            </a:r>
            <a:r>
              <a:rPr lang="en-US" dirty="0"/>
              <a:t>.</a:t>
            </a:r>
          </a:p>
          <a:p>
            <a:r>
              <a:rPr lang="en-US" dirty="0"/>
              <a:t>Develop co-marketing campaigns with GPU and CPU brands.</a:t>
            </a:r>
          </a:p>
          <a:p>
            <a:endParaRPr lang="en-US" dirty="0"/>
          </a:p>
          <a:p>
            <a:r>
              <a:rPr lang="en-US" b="1" dirty="0">
                <a:solidFill>
                  <a:srgbClr val="FFFF00"/>
                </a:solidFill>
              </a:rPr>
              <a:t>7. Leverage Brand Strength and Reputation</a:t>
            </a:r>
          </a:p>
          <a:p>
            <a:r>
              <a:rPr lang="en-US" dirty="0"/>
              <a:t>Highlight brand reliability (e.g., Dell’s durability, Lenovo’s business performance, HP’s versatility).</a:t>
            </a:r>
          </a:p>
          <a:p>
            <a:r>
              <a:rPr lang="en-US" dirty="0"/>
              <a:t>Encourage positive user reviews and testimonials to drive brand trust.</a:t>
            </a:r>
          </a:p>
          <a:p>
            <a:endParaRPr lang="en-US" dirty="0"/>
          </a:p>
          <a:p>
            <a:r>
              <a:rPr lang="en-US" b="1" dirty="0">
                <a:solidFill>
                  <a:srgbClr val="FFFF00"/>
                </a:solidFill>
              </a:rPr>
              <a:t>8. Explore Growth in Premium and Professional Segments</a:t>
            </a:r>
          </a:p>
          <a:p>
            <a:r>
              <a:rPr lang="en-US" dirty="0"/>
              <a:t>Introduce performance-focused laptops with high RAM (32–64 GB) and 4K screens for business users.</a:t>
            </a:r>
          </a:p>
          <a:p>
            <a:r>
              <a:rPr lang="en-US" dirty="0"/>
              <a:t>Promote these as long-term investments with durability and top-tier specs.</a:t>
            </a:r>
          </a:p>
          <a:p>
            <a:endParaRPr lang="en-IN" dirty="0"/>
          </a:p>
        </p:txBody>
      </p:sp>
    </p:spTree>
    <p:extLst>
      <p:ext uri="{BB962C8B-B14F-4D97-AF65-F5344CB8AC3E}">
        <p14:creationId xmlns:p14="http://schemas.microsoft.com/office/powerpoint/2010/main" val="212938351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2013 - 2022 Theme</Template>
  <TotalTime>877</TotalTime>
  <Words>4463</Words>
  <Application>Microsoft Office PowerPoint</Application>
  <PresentationFormat>Widescreen</PresentationFormat>
  <Paragraphs>510</Paragraphs>
  <Slides>50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Calibri Light</vt:lpstr>
      <vt:lpstr>Comic Sans MS</vt:lpstr>
      <vt:lpstr>Office Theme</vt:lpstr>
      <vt:lpstr>Laptop Price Analysis Using Python</vt:lpstr>
      <vt:lpstr>Introduction :</vt:lpstr>
      <vt:lpstr>OBJECTIVE:</vt:lpstr>
      <vt:lpstr>PREPROCESSING STEPS:</vt:lpstr>
      <vt:lpstr>Columns Overview:</vt:lpstr>
      <vt:lpstr>Columns Overview:</vt:lpstr>
      <vt:lpstr>   Analysis Questions:</vt:lpstr>
      <vt:lpstr>Analysis Question:</vt:lpstr>
      <vt:lpstr>Exploratory Data Analysis</vt:lpstr>
      <vt:lpstr>1.Top 10 Most Selling Laptop Brand</vt:lpstr>
      <vt:lpstr>2.Most Selling Product of Each Company</vt:lpstr>
      <vt:lpstr>3.Most Selling TypeName Per Company</vt:lpstr>
      <vt:lpstr>4.Top 10 Most Expensive Product(overall):</vt:lpstr>
      <vt:lpstr>5.Top 10 Least Expensive Product (Overall)</vt:lpstr>
      <vt:lpstr>6.Most Expensive Product from each Company</vt:lpstr>
      <vt:lpstr>7.Least Expensive Product per Company</vt:lpstr>
      <vt:lpstr>8.Top 5 Companies by Total Revenue</vt:lpstr>
      <vt:lpstr>9. Companies with highest share of products sold in each Price Category:</vt:lpstr>
      <vt:lpstr>10.Average Laptop Price by CPU Frequency Range</vt:lpstr>
      <vt:lpstr>11.Median Price of Laptops by Weight Category:</vt:lpstr>
      <vt:lpstr>11.2 Laptop Weight vs Prices:</vt:lpstr>
      <vt:lpstr>12. Correlation</vt:lpstr>
      <vt:lpstr>13.RAM</vt:lpstr>
      <vt:lpstr>13.1 Average Price BY Ram Size:</vt:lpstr>
      <vt:lpstr>Other key Insights of Ram:</vt:lpstr>
      <vt:lpstr>14.OS Count by Company</vt:lpstr>
      <vt:lpstr>14.1 Average Laptop Price By OS:</vt:lpstr>
      <vt:lpstr>15 GPU Company Distribution</vt:lpstr>
      <vt:lpstr>15.1 Average Price of Laptop by GPU Company</vt:lpstr>
      <vt:lpstr>16. Company with the highest number of laptops for each screen type:</vt:lpstr>
      <vt:lpstr>16.1.Average Price of Laptops BY Screen Type:</vt:lpstr>
      <vt:lpstr>17 Screen Width</vt:lpstr>
      <vt:lpstr>17.ScreenH</vt:lpstr>
      <vt:lpstr>18. Type Screen , IPS PANEL , Retina Display:</vt:lpstr>
      <vt:lpstr>21. CPU Company</vt:lpstr>
      <vt:lpstr>21.1 Average Price By CPU company:</vt:lpstr>
      <vt:lpstr>22.Cpu Model: Top 5 Most Frequent CPU Model</vt:lpstr>
      <vt:lpstr>23 .Primary Storage:</vt:lpstr>
      <vt:lpstr>24 .Secondary Storage:</vt:lpstr>
      <vt:lpstr>25. Primary Storage Type:</vt:lpstr>
      <vt:lpstr>25.1 Average Price of Laptops BY Primary Storage Type </vt:lpstr>
      <vt:lpstr>26.Secondary Storage Type</vt:lpstr>
      <vt:lpstr>27.Gpu Company:</vt:lpstr>
      <vt:lpstr>27.1 Average Price BY GPU Company:</vt:lpstr>
      <vt:lpstr>28. Most frequent GPU MODEL used by Laptop Company</vt:lpstr>
      <vt:lpstr>29.User Segment Analysis</vt:lpstr>
      <vt:lpstr>Conclusion: Laptop price is mainly driven by RAM , CPU, Storage and Display Quality</vt:lpstr>
      <vt:lpstr>Conclusion:</vt:lpstr>
      <vt:lpstr>Recommendations: Following recommendations can help manufacturers, retailers, and marketers optimize pricing, improve sales, and align products with consumer demand:</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Sahil Kumar</dc:creator>
  <cp:lastModifiedBy>Sahil Kumar</cp:lastModifiedBy>
  <cp:revision>10</cp:revision>
  <dcterms:created xsi:type="dcterms:W3CDTF">2025-07-27T07:35:01Z</dcterms:created>
  <dcterms:modified xsi:type="dcterms:W3CDTF">2025-11-01T17:33:26Z</dcterms:modified>
</cp:coreProperties>
</file>